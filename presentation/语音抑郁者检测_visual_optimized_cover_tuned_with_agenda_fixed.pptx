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505" autoAdjust="0"/>
  </p:normalViewPr>
  <p:slideViewPr>
    <p:cSldViewPr snapToGrid="0" snapToObjects="1">
      <p:cViewPr>
        <p:scale>
          <a:sx n="69" d="100"/>
          <a:sy n="69" d="100"/>
        </p:scale>
        <p:origin x="948" y="1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2620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大家好，我们这次做的是面向 PHQ-9 预测的多模态抑郁检测。核心不是单独做一个语音模型，而是围绕 PHQ-9 回归、二分类和三分类，比较哪些行为信号在当前数据上能稳定泛化。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5134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这个任务的输出有三类：PHQ-9 连续分、是否抑郁的二分类，以及正常、轻度、重度的三分类。最终分数由 F1、CCC 和 Kappa 共同决定，所以后面的每个方法都要同时考虑回归排序和分类边界。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数据规模是这个任务的关键约束：训练集 88 人，测试集 22 人，PHQ 分布离散且偏斜，重度样本尤其少。这决定了我们不能只堆高维深度模型，而要做特征裁剪、浅层模型、多 seed 集成和谨慎的泛化验证。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我们的工作可以按八个阶段理解：先复现 ORIG 主干，再筛选多模态信号，随后发现面部 AU 的互补价值。后期主要靠四路面部动态 ranker、CCC 校准和独立分类头提升，语音部分则作为系统探索，最后没有纳入最终融合。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第一阶段是 ORIG baseline，用 IMU 前三维加速度和 Big Five 人格特征做有序回归。这个主干分数约 0.67，说明步态和人格有稳定信息，但表达的是相对粗粒度的行为和个体差异，上限有限。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第二阶段我们尝试把不同模态直接融合，但很快发现融合不是越多越好。有些信号和 ORIG 冗余，有些在本地验证有效但榜上不稳，真正值得保留的是能提供互补行为信息、并且临床动机清楚的特征。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面部特征是第一个明显突破点。我们从 OpenFace 的每帧 710 维中只选了 43 个关键列，包括 gaze、AU 强度和 AU presence，用来捕捉表情幅度、变化速度和眼动信息。加入面部 AU 后，Score 到约 0.71，CCC 提升到约 0.62。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随后我们把“面部运动迟缓”拆成四个互补视角。auvel 看表情速度，e3only 看后段任务状态，fatigue 看事件之间的疲劳轨迹，auspec 看 AU 时序频谱和节律单调性。这样比单一面部特征更能覆盖抑郁相关的动态行为变化。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建模上我们保持浅层和稳定：每路 ranker 是 d 到 96 到 48 到 1 的小 MLP，用 CCC loss 加轻 MSE，并做 50 个 seed。四路 ranker 加起来约 200 个小模型，再通过 mixup 降低训练随机性，这是适合小数据条件的稳健策略。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第四阶段的关键是看懂 CCC。CCC 不只奖励相关性，还会惩罚均值偏移和方差失配，而小样本模型的预测常常收缩到均值附近。我们做 moment matching 和方差校准，基本保留排序，但把预测分布对齐，使 CCC 从约 0.65 提升到约 0.88。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CCC 提升后，F1 和 Kappa 仍然会卡住，因为分类边界不是回归阈值的简单副产品。所以我们拆出独立分类头，并用面部和步态信号做一致性确认，减少单一路径误判。分类头后整体分数到约 0.83，最终收口到约 0.87。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语音部分我们尝试了多条路线，包括临床声学、openSMILE 与 IMU 融合、wav2vec2 和 MFCC、GRU attention、ASR PHQ 证据，以及 e2speech。它的作用不是装饰性地加一个模态，而是系统验证语音在这个数据集上是否能稳定补充行为动态。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第一个代表尝试是 e2speech。它的思路是把面部动态迟缓迁移到发音迟缓：从 event_2 的 openSMILE 65 维序列中提取 mean、std 和逐帧差分均值，得到约 195 维特征，再用浅层 CCC MLP 和多 seed 集成。这个设计有临床动机，但隐藏测试没有形成稳定增益。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第二个代表尝试是 ASR 加 PHQ-9 语义证据。我们用 qwen3-asr-flash 转写访谈，再按 PHQ 条目构造 direct、weak 和 protective 关键词证据，形成 PHQ prior。这条线可解释，但独立提交 Score 约 0.4578，说明转写误差和关键词规则不足以支撑稳定泛化。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语音没有进入最终模型，主要有四个原因：样本量和高维序列特征不匹配，声学特征受口音、习惯和录音条件影响，ASR 语义证据会放大偶然表达，深度序列模型实证上低于基线。所以语音探索的贡献在于验证边界，而不是强行堆进最终融合。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最后总结一下，分数从 ORIG 约 0.67，到面部 AU 约 0.71，再通过校准到约 0.79、分类头到约 0.83，最终约 0.87。我们的核心贡献是建立了面向抑郁检测的多模态方法路线：用稳定主干、面部动态、指标感知校准和分类头提升效果，同时用语音探索说明哪些信号在当前数据上暂时不可靠。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521018" y="457200"/>
            <a:ext cx="5232082" cy="416719"/>
            <a:chOff x="521018" y="457200"/>
            <a:chExt cx="5232082" cy="416719"/>
          </a:xfrm>
        </p:grpSpPr>
        <p:sp>
          <p:nvSpPr>
            <p:cNvPr id="7" name="Rectangle 7"/>
            <p:cNvSpPr/>
            <p:nvPr/>
          </p:nvSpPr>
          <p:spPr>
            <a:xfrm>
              <a:off x="533400" y="457200"/>
              <a:ext cx="52197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563EB"/>
                </a:gs>
                <a:gs pos="38000">
                  <a:srgbClr val="0E9F6E"/>
                </a:gs>
                <a:gs pos="68000">
                  <a:srgbClr val="F59E0B"/>
                </a:gs>
                <a:gs pos="100000">
                  <a:srgbClr val="7C3AED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1018" y="675799"/>
              <a:ext cx="47141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64748B"/>
                  </a:solidFill>
                  <a:latin typeface="Consolas"/>
                  <a:ea typeface="Microsoft YaHei"/>
                  <a:cs typeface="Consolas"/>
                </a:rPr>
                <a:t>MPDD-AVG YOUNG · PHQ-9 REGRESSION · BINARY / TERNARY CLASSIFICATION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600200" y="2662543"/>
            <a:ext cx="10306050" cy="12311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r>
              <a:rPr lang="en-US" altLang="zh-CN" sz="40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MPDD</a:t>
            </a:r>
            <a:r>
              <a:rPr lang="zh-CN" altLang="en-US" sz="40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：</a:t>
            </a:r>
            <a:r>
              <a:rPr lang="zh-CN" sz="40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面向 PHQ-9 预测的</a:t>
            </a:r>
            <a:r>
              <a:rPr lang="zh-CN" altLang="zh-CN" sz="40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多模态抑郁检测</a:t>
            </a:r>
          </a:p>
          <a:p>
            <a:pPr algn="l"/>
            <a:endParaRPr lang="zh-CN" sz="4000" b="1" dirty="0">
              <a:solidFill>
                <a:srgbClr val="0F172A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038725" y="2057400"/>
            <a:ext cx="65" cy="5770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endParaRPr lang="zh-CN" sz="3750" b="1" dirty="0">
              <a:solidFill>
                <a:srgbClr val="0F172A"/>
              </a:solidFill>
              <a:latin typeface="Arial"/>
              <a:ea typeface="Microsoft YaHei"/>
              <a:cs typeface="Arial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600200" y="3295412"/>
            <a:ext cx="3908298" cy="350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5" b="1" dirty="0">
                <a:solidFill>
                  <a:srgbClr val="334155"/>
                </a:solidFill>
                <a:latin typeface="Arial"/>
                <a:ea typeface="Microsoft YaHei"/>
                <a:cs typeface="Arial"/>
              </a:rPr>
              <a:t>行为动态特征、稳健融合与语音探索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4208" y="5218762"/>
            <a:ext cx="3004027" cy="3924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altLang="en-US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张子路 郭子逸 龚正硕 丁一鸣 蒋一鸣 谈亮</a:t>
            </a:r>
            <a:endParaRPr lang="en-US" altLang="zh-CN" sz="1275" dirty="0">
              <a:solidFill>
                <a:srgbClr val="64748B"/>
              </a:solidFill>
              <a:latin typeface="Arial"/>
              <a:ea typeface="Microsoft YaHei"/>
              <a:cs typeface="Arial"/>
            </a:endParaRPr>
          </a:p>
          <a:p>
            <a:pPr algn="l"/>
            <a:r>
              <a:rPr lang="zh-CN" altLang="en-US" sz="1275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汇报人：丁一鸣</a:t>
            </a:r>
            <a:endParaRPr lang="zh-CN" sz="1275" dirty="0">
              <a:solidFill>
                <a:srgbClr val="64748B"/>
              </a:solidFill>
              <a:latin typeface="Arial"/>
              <a:ea typeface="Microsoft YaHei"/>
              <a:cs typeface="Arial"/>
            </a:endParaRPr>
          </a:p>
        </p:txBody>
      </p:sp>
      <p:grpSp>
        <p:nvGrpSpPr>
          <p:cNvPr id="36" name="Group 36"/>
          <p:cNvGrpSpPr/>
          <p:nvPr/>
        </p:nvGrpSpPr>
        <p:grpSpPr>
          <a:xfrm>
            <a:off x="571500" y="5772150"/>
            <a:ext cx="5581650" cy="323850"/>
            <a:chOff x="571500" y="5772150"/>
            <a:chExt cx="5581650" cy="323850"/>
          </a:xfrm>
        </p:grpSpPr>
        <p:sp>
          <p:nvSpPr>
            <p:cNvPr id="28" name="Rectangle 28"/>
            <p:cNvSpPr/>
            <p:nvPr/>
          </p:nvSpPr>
          <p:spPr>
            <a:xfrm>
              <a:off x="571500" y="5772150"/>
              <a:ext cx="1257300" cy="323850"/>
            </a:xfrm>
            <a:prstGeom prst="roundRect">
              <a:avLst>
                <a:gd name="adj" fmla="val 50000"/>
              </a:avLst>
            </a:prstGeom>
            <a:solidFill>
              <a:srgbClr val="EFF6FF">
                <a:alpha val="18000"/>
              </a:srgbClr>
            </a:solidFill>
            <a:ln w="10795">
              <a:solidFill>
                <a:srgbClr val="2563EB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6952" y="5876449"/>
              <a:ext cx="6663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563EB"/>
                  </a:solidFill>
                  <a:latin typeface="Consolas"/>
                  <a:ea typeface="Microsoft YaHei"/>
                  <a:cs typeface="Consolas"/>
                </a:rPr>
                <a:t>IMU + Big5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981200" y="5772150"/>
              <a:ext cx="1314450" cy="323850"/>
            </a:xfrm>
            <a:prstGeom prst="roundRect">
              <a:avLst>
                <a:gd name="adj" fmla="val 50000"/>
              </a:avLst>
            </a:prstGeom>
            <a:solidFill>
              <a:srgbClr val="ECFDF5">
                <a:alpha val="18000"/>
              </a:srgbClr>
            </a:solidFill>
            <a:ln w="10795">
              <a:solidFill>
                <a:srgbClr val="047857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216491" y="587644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047857"/>
                  </a:solidFill>
                  <a:latin typeface="Consolas"/>
                  <a:ea typeface="Microsoft YaHei"/>
                  <a:cs typeface="Consolas"/>
                </a:rPr>
                <a:t>OpenFace AU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448050" y="5772150"/>
              <a:ext cx="1066800" cy="323850"/>
            </a:xfrm>
            <a:prstGeom prst="roundRect">
              <a:avLst>
                <a:gd name="adj" fmla="val 50000"/>
              </a:avLst>
            </a:prstGeom>
            <a:solidFill>
              <a:srgbClr val="FFFBEB">
                <a:alpha val="18000"/>
              </a:srgbClr>
            </a:solidFill>
            <a:ln w="10795">
              <a:solidFill>
                <a:srgbClr val="B45309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43814" y="5876449"/>
              <a:ext cx="4752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B45309"/>
                  </a:solidFill>
                  <a:latin typeface="Consolas"/>
                  <a:ea typeface="Microsoft YaHei"/>
                  <a:cs typeface="Consolas"/>
                </a:rPr>
                <a:t>Speech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667250" y="5772150"/>
              <a:ext cx="1485900" cy="323850"/>
            </a:xfrm>
            <a:prstGeom prst="roundRect">
              <a:avLst>
                <a:gd name="adj" fmla="val 50000"/>
              </a:avLst>
            </a:prstGeom>
            <a:solidFill>
              <a:srgbClr val="F5F3FF">
                <a:alpha val="18000"/>
              </a:srgbClr>
            </a:solidFill>
            <a:ln w="10795">
              <a:solidFill>
                <a:srgbClr val="6D28D9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882466" y="5876449"/>
              <a:ext cx="10554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6D28D9"/>
                  </a:solidFill>
                  <a:latin typeface="Consolas"/>
                  <a:ea typeface="Microsoft YaHei"/>
                  <a:cs typeface="Consolas"/>
                </a:rPr>
                <a:t>CCC / Classifier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521970" y="6417945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Consolas"/>
                <a:ea typeface="Microsoft YaHei"/>
                <a:cs typeface="Consolas"/>
              </a:rPr>
              <a:t>01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75488" y="420624"/>
            <a:ext cx="1207008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682496" y="420624"/>
            <a:ext cx="1207008" cy="41148"/>
          </a:xfrm>
          <a:prstGeom prst="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89504" y="420624"/>
            <a:ext cx="1207008" cy="411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096512" y="420624"/>
            <a:ext cx="1207008" cy="411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658368"/>
            <a:ext cx="21031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Microsoft YaHei"/>
              </a:rPr>
              <a:t>CONTENTS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90821" y="1860804"/>
            <a:ext cx="3595370" cy="1124712"/>
          </a:xfrm>
          <a:prstGeom prst="roundRect">
            <a:avLst/>
          </a:prstGeom>
          <a:solidFill>
            <a:schemeClr val="bg1"/>
          </a:solidFill>
          <a:ln w="1397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1673701" y="2061972"/>
            <a:ext cx="109728" cy="92354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48021" y="2226564"/>
            <a:ext cx="8686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2563EB"/>
                </a:solidFill>
                <a:latin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8141" y="2244852"/>
            <a:ext cx="1231106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任务说明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96093" y="1860804"/>
            <a:ext cx="3595370" cy="1124712"/>
          </a:xfrm>
          <a:prstGeom prst="roundRect">
            <a:avLst/>
          </a:prstGeom>
          <a:solidFill>
            <a:schemeClr val="bg1"/>
          </a:solidFill>
          <a:ln w="1397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278973" y="2061972"/>
            <a:ext cx="109728" cy="923544"/>
          </a:xfrm>
          <a:prstGeom prst="roundRect">
            <a:avLst/>
          </a:prstGeom>
          <a:solidFill>
            <a:srgbClr val="0E9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53293" y="2226564"/>
            <a:ext cx="8686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E9F6E"/>
                </a:solidFill>
                <a:latin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3413" y="2244852"/>
            <a:ext cx="1231106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数据分析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90821" y="3771900"/>
            <a:ext cx="3595370" cy="1124712"/>
          </a:xfrm>
          <a:prstGeom prst="roundRect">
            <a:avLst/>
          </a:prstGeom>
          <a:solidFill>
            <a:schemeClr val="bg1"/>
          </a:solidFill>
          <a:ln w="1397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673701" y="3973068"/>
            <a:ext cx="109728" cy="923544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948021" y="4137660"/>
            <a:ext cx="8686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6D28D9"/>
                </a:solidFill>
                <a:latin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08141" y="4155948"/>
            <a:ext cx="1231106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方法演进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96093" y="3771900"/>
            <a:ext cx="3595370" cy="1124712"/>
          </a:xfrm>
          <a:prstGeom prst="roundRect">
            <a:avLst/>
          </a:prstGeom>
          <a:solidFill>
            <a:schemeClr val="bg1"/>
          </a:solidFill>
          <a:ln w="1397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278973" y="3973068"/>
            <a:ext cx="109728" cy="92354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53293" y="4137660"/>
            <a:ext cx="8686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B45309"/>
                </a:solidFill>
                <a:latin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13413" y="4155948"/>
            <a:ext cx="1231106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icrosoft YaHei"/>
              </a:rPr>
              <a:t>语音探索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6428232"/>
            <a:ext cx="8229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8A94A6"/>
                </a:solidFill>
                <a:latin typeface="Microsoft YaHei"/>
              </a:rP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3F6F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" name="Freeform 3"/>
            <p:cNvSpPr/>
            <p:nvPr/>
          </p:nvSpPr>
          <p:spPr>
            <a:xfrm>
              <a:off x="0" y="61150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12573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Freeform 5"/>
            <p:cNvSpPr/>
            <p:nvPr/>
          </p:nvSpPr>
          <p:spPr>
            <a:xfrm>
              <a:off x="742950" y="1257300"/>
              <a:ext cx="10668000" cy="4857750"/>
            </a:xfrm>
            <a:custGeom>
              <a:avLst/>
              <a:gdLst/>
              <a:ahLst/>
              <a:cxnLst/>
              <a:rect l="l" t="t" r="r" b="b"/>
              <a:pathLst>
                <a:path w="10668000" h="4857750">
                  <a:moveTo>
                    <a:pt x="0" y="0"/>
                  </a:moveTo>
                  <a:lnTo>
                    <a:pt x="0" y="4857750"/>
                  </a:lnTo>
                  <a:moveTo>
                    <a:pt x="1524000" y="0"/>
                  </a:moveTo>
                  <a:lnTo>
                    <a:pt x="1524000" y="4857750"/>
                  </a:lnTo>
                  <a:moveTo>
                    <a:pt x="3048000" y="0"/>
                  </a:moveTo>
                  <a:lnTo>
                    <a:pt x="3048000" y="4857750"/>
                  </a:lnTo>
                  <a:moveTo>
                    <a:pt x="4572000" y="0"/>
                  </a:moveTo>
                  <a:lnTo>
                    <a:pt x="4572000" y="4857750"/>
                  </a:lnTo>
                  <a:moveTo>
                    <a:pt x="6096000" y="0"/>
                  </a:moveTo>
                  <a:lnTo>
                    <a:pt x="6096000" y="4857750"/>
                  </a:lnTo>
                  <a:moveTo>
                    <a:pt x="7620000" y="0"/>
                  </a:moveTo>
                  <a:lnTo>
                    <a:pt x="7620000" y="4857750"/>
                  </a:lnTo>
                  <a:moveTo>
                    <a:pt x="9144000" y="0"/>
                  </a:moveTo>
                  <a:lnTo>
                    <a:pt x="9144000" y="4857750"/>
                  </a:lnTo>
                  <a:moveTo>
                    <a:pt x="10668000" y="0"/>
                  </a:moveTo>
                  <a:lnTo>
                    <a:pt x="10668000" y="4857750"/>
                  </a:lnTo>
                </a:path>
              </a:pathLst>
            </a:custGeom>
            <a:solidFill>
              <a:srgbClr val="000000"/>
            </a:solidFill>
            <a:ln w="5715">
              <a:solidFill>
                <a:srgbClr val="D8E0EA">
                  <a:alpha val="45000"/>
                </a:srgbClr>
              </a:solidFill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64820" y="493395"/>
            <a:ext cx="7117842" cy="794861"/>
            <a:chOff x="464820" y="493395"/>
            <a:chExt cx="7117842" cy="794861"/>
          </a:xfrm>
        </p:grpSpPr>
        <p:sp>
          <p:nvSpPr>
            <p:cNvPr id="7" name="TextBox 7"/>
            <p:cNvSpPr txBox="1"/>
            <p:nvPr/>
          </p:nvSpPr>
          <p:spPr>
            <a:xfrm>
              <a:off x="483870" y="493395"/>
              <a:ext cx="9616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EFF"/>
                  </a:solidFill>
                  <a:latin typeface="Consolas"/>
                  <a:ea typeface="Microsoft YaHei"/>
                  <a:cs typeface="Consolas"/>
                </a:rPr>
                <a:t>TASK DEFINITION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64820" y="693420"/>
              <a:ext cx="711784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多模态记录进入模型，最终同时考核回归与分类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1012" y="1059656"/>
              <a:ext cx="41465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这决定了后续不能只优化 PHQ 排序，还要单独处理分类边界。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95300" y="1600200"/>
            <a:ext cx="2838450" cy="4171950"/>
            <a:chOff x="495300" y="1600200"/>
            <a:chExt cx="2838450" cy="4171950"/>
          </a:xfrm>
        </p:grpSpPr>
        <p:sp>
          <p:nvSpPr>
            <p:cNvPr id="11" name="Rectangle 11"/>
            <p:cNvSpPr/>
            <p:nvPr/>
          </p:nvSpPr>
          <p:spPr>
            <a:xfrm>
              <a:off x="495300" y="1600200"/>
              <a:ext cx="2838450" cy="4171950"/>
            </a:xfrm>
            <a:prstGeom prst="roundRect">
              <a:avLst>
                <a:gd name="adj" fmla="val 2685"/>
              </a:avLst>
            </a:prstGeom>
            <a:solidFill>
              <a:srgbClr val="FFFFFF"/>
            </a:solidFill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1998" y="1782604"/>
              <a:ext cx="922115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输入模态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0570" y="2112645"/>
              <a:ext cx="22029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8A94A6"/>
                  </a:solidFill>
                  <a:latin typeface="Consolas"/>
                  <a:ea typeface="Microsoft YaHei"/>
                  <a:cs typeface="Consolas"/>
                </a:rPr>
                <a:t>PER SUBJECT · MULTI-EVENT RECORDS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742950" y="2533650"/>
              <a:ext cx="2324100" cy="457200"/>
              <a:chOff x="742950" y="2533650"/>
              <a:chExt cx="2324100" cy="45720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742950" y="2533650"/>
                <a:ext cx="2324100" cy="457200"/>
              </a:xfrm>
              <a:prstGeom prst="roundRect">
                <a:avLst>
                  <a:gd name="adj" fmla="val 12500"/>
                </a:avLst>
              </a:prstGeom>
              <a:solidFill>
                <a:srgbClr val="EAF1FF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17" name="Group 17"/>
              <p:cNvGrpSpPr/>
              <p:nvPr/>
            </p:nvGrpSpPr>
            <p:grpSpPr>
              <a:xfrm>
                <a:off x="936320" y="2645569"/>
                <a:ext cx="184058" cy="233365"/>
                <a:chOff x="936320" y="2645569"/>
                <a:chExt cx="184058" cy="233365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1028700" y="2653903"/>
                  <a:ext cx="50006" cy="50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006" h="50006">
                      <a:moveTo>
                        <a:pt x="50006" y="25003"/>
                      </a:moveTo>
                      <a:cubicBezTo>
                        <a:pt x="50006" y="38812"/>
                        <a:pt x="38812" y="50006"/>
                        <a:pt x="25003" y="50006"/>
                      </a:cubicBezTo>
                      <a:cubicBezTo>
                        <a:pt x="11194" y="50006"/>
                        <a:pt x="0" y="38812"/>
                        <a:pt x="0" y="25003"/>
                      </a:cubicBezTo>
                      <a:cubicBezTo>
                        <a:pt x="0" y="11194"/>
                        <a:pt x="11194" y="0"/>
                        <a:pt x="25003" y="0"/>
                      </a:cubicBezTo>
                      <a:cubicBezTo>
                        <a:pt x="38812" y="0"/>
                        <a:pt x="50006" y="11194"/>
                        <a:pt x="50006" y="25003"/>
                      </a:cubicBezTo>
                      <a:close/>
                    </a:path>
                  </a:pathLst>
                </a:custGeom>
                <a:solidFill>
                  <a:srgbClr val="2563EB">
                    <a:alpha val="20000"/>
                  </a:srgbClr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16" name="Freeform 16"/>
                <p:cNvSpPr/>
                <p:nvPr/>
              </p:nvSpPr>
              <p:spPr>
                <a:xfrm>
                  <a:off x="936320" y="2645569"/>
                  <a:ext cx="184058" cy="233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058" h="233365">
                      <a:moveTo>
                        <a:pt x="117383" y="66675"/>
                      </a:moveTo>
                      <a:cubicBezTo>
                        <a:pt x="135795" y="66675"/>
                        <a:pt x="150721" y="51749"/>
                        <a:pt x="150721" y="33338"/>
                      </a:cubicBezTo>
                      <a:cubicBezTo>
                        <a:pt x="150721" y="14926"/>
                        <a:pt x="135795" y="0"/>
                        <a:pt x="117383" y="0"/>
                      </a:cubicBezTo>
                      <a:cubicBezTo>
                        <a:pt x="98971" y="0"/>
                        <a:pt x="84046" y="14926"/>
                        <a:pt x="84046" y="33338"/>
                      </a:cubicBezTo>
                      <a:cubicBezTo>
                        <a:pt x="84046" y="51749"/>
                        <a:pt x="98971" y="66675"/>
                        <a:pt x="117383" y="66675"/>
                      </a:cubicBezTo>
                      <a:close/>
                      <a:moveTo>
                        <a:pt x="117383" y="16669"/>
                      </a:moveTo>
                      <a:cubicBezTo>
                        <a:pt x="126589" y="16669"/>
                        <a:pt x="134052" y="24132"/>
                        <a:pt x="134052" y="33338"/>
                      </a:cubicBezTo>
                      <a:cubicBezTo>
                        <a:pt x="134052" y="42543"/>
                        <a:pt x="126589" y="50006"/>
                        <a:pt x="117383" y="50006"/>
                      </a:cubicBezTo>
                      <a:cubicBezTo>
                        <a:pt x="108177" y="50006"/>
                        <a:pt x="100714" y="42543"/>
                        <a:pt x="100714" y="33338"/>
                      </a:cubicBezTo>
                      <a:cubicBezTo>
                        <a:pt x="100714" y="24132"/>
                        <a:pt x="108177" y="16669"/>
                        <a:pt x="117383" y="16669"/>
                      </a:cubicBezTo>
                      <a:close/>
                      <a:moveTo>
                        <a:pt x="184058" y="133350"/>
                      </a:moveTo>
                      <a:cubicBezTo>
                        <a:pt x="184058" y="137953"/>
                        <a:pt x="180327" y="141684"/>
                        <a:pt x="175724" y="141684"/>
                      </a:cubicBezTo>
                      <a:cubicBezTo>
                        <a:pt x="138938" y="141684"/>
                        <a:pt x="120561" y="123130"/>
                        <a:pt x="105798" y="108222"/>
                      </a:cubicBezTo>
                      <a:cubicBezTo>
                        <a:pt x="102944" y="105336"/>
                        <a:pt x="100214" y="102596"/>
                        <a:pt x="97464" y="100054"/>
                      </a:cubicBezTo>
                      <a:lnTo>
                        <a:pt x="83473" y="132225"/>
                      </a:lnTo>
                      <a:lnTo>
                        <a:pt x="122227" y="159905"/>
                      </a:lnTo>
                      <a:cubicBezTo>
                        <a:pt x="124418" y="161470"/>
                        <a:pt x="125718" y="163996"/>
                        <a:pt x="125717" y="166688"/>
                      </a:cubicBezTo>
                      <a:lnTo>
                        <a:pt x="125717" y="225028"/>
                      </a:lnTo>
                      <a:cubicBezTo>
                        <a:pt x="125717" y="229631"/>
                        <a:pt x="121986" y="233362"/>
                        <a:pt x="117383" y="233362"/>
                      </a:cubicBezTo>
                      <a:cubicBezTo>
                        <a:pt x="112780" y="233362"/>
                        <a:pt x="109049" y="229631"/>
                        <a:pt x="109049" y="225028"/>
                      </a:cubicBezTo>
                      <a:lnTo>
                        <a:pt x="109049" y="170980"/>
                      </a:lnTo>
                      <a:lnTo>
                        <a:pt x="76680" y="147852"/>
                      </a:lnTo>
                      <a:lnTo>
                        <a:pt x="41686" y="228351"/>
                      </a:lnTo>
                      <a:cubicBezTo>
                        <a:pt x="40363" y="231396"/>
                        <a:pt x="37359" y="233364"/>
                        <a:pt x="34039" y="233362"/>
                      </a:cubicBezTo>
                      <a:cubicBezTo>
                        <a:pt x="32895" y="233365"/>
                        <a:pt x="31763" y="233127"/>
                        <a:pt x="30716" y="232664"/>
                      </a:cubicBezTo>
                      <a:cubicBezTo>
                        <a:pt x="26497" y="230830"/>
                        <a:pt x="24562" y="225925"/>
                        <a:pt x="26393" y="221705"/>
                      </a:cubicBezTo>
                      <a:lnTo>
                        <a:pt x="82733" y="92137"/>
                      </a:lnTo>
                      <a:cubicBezTo>
                        <a:pt x="73034" y="90418"/>
                        <a:pt x="60939" y="93387"/>
                        <a:pt x="46583" y="101075"/>
                      </a:cubicBezTo>
                      <a:cubicBezTo>
                        <a:pt x="35133" y="107391"/>
                        <a:pt x="24447" y="115000"/>
                        <a:pt x="14735" y="123755"/>
                      </a:cubicBezTo>
                      <a:cubicBezTo>
                        <a:pt x="11363" y="126775"/>
                        <a:pt x="6197" y="126552"/>
                        <a:pt x="3099" y="123252"/>
                      </a:cubicBezTo>
                      <a:cubicBezTo>
                        <a:pt x="0" y="119953"/>
                        <a:pt x="101" y="114783"/>
                        <a:pt x="3327" y="111608"/>
                      </a:cubicBezTo>
                      <a:cubicBezTo>
                        <a:pt x="5932" y="109159"/>
                        <a:pt x="67596" y="51996"/>
                        <a:pt x="106173" y="85479"/>
                      </a:cubicBezTo>
                      <a:cubicBezTo>
                        <a:pt x="110163" y="88938"/>
                        <a:pt x="113966" y="92772"/>
                        <a:pt x="117633" y="96502"/>
                      </a:cubicBezTo>
                      <a:cubicBezTo>
                        <a:pt x="132166" y="111160"/>
                        <a:pt x="145887" y="125016"/>
                        <a:pt x="175724" y="125016"/>
                      </a:cubicBezTo>
                      <a:cubicBezTo>
                        <a:pt x="180327" y="125016"/>
                        <a:pt x="184058" y="128747"/>
                        <a:pt x="184058" y="133350"/>
                      </a:cubicBezTo>
                      <a:close/>
                    </a:path>
                  </a:pathLst>
                </a:custGeom>
                <a:solidFill>
                  <a:srgbClr val="2563EB"/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1261110" y="2689860"/>
                <a:ext cx="68576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563EB"/>
                    </a:solidFill>
                    <a:latin typeface="Arial"/>
                    <a:ea typeface="Microsoft YaHei"/>
                    <a:cs typeface="Arial"/>
                  </a:rPr>
                  <a:t>IMU 步态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2102168" y="2714149"/>
                <a:ext cx="31730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472"/>
                    </a:solidFill>
                    <a:latin typeface="Consolas"/>
                    <a:ea typeface="Microsoft YaHei"/>
                    <a:cs typeface="Consolas"/>
                  </a:rPr>
                  <a:t>12 ch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42950" y="3105150"/>
              <a:ext cx="2324100" cy="457200"/>
              <a:chOff x="742950" y="3105150"/>
              <a:chExt cx="2324100" cy="4572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742950" y="3105150"/>
                <a:ext cx="2324100" cy="457200"/>
              </a:xfrm>
              <a:prstGeom prst="roundRect">
                <a:avLst>
                  <a:gd name="adj" fmla="val 12500"/>
                </a:avLst>
              </a:prstGeom>
              <a:solidFill>
                <a:srgbClr val="EAF1FF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24" name="Group 24"/>
              <p:cNvGrpSpPr/>
              <p:nvPr/>
            </p:nvGrpSpPr>
            <p:grpSpPr>
              <a:xfrm>
                <a:off x="926633" y="3208734"/>
                <a:ext cx="204134" cy="245163"/>
                <a:chOff x="926633" y="3208734"/>
                <a:chExt cx="204134" cy="245163"/>
              </a:xfrm>
            </p:grpSpPr>
            <p:sp>
              <p:nvSpPr>
                <p:cNvPr id="22" name="Freeform 22"/>
                <p:cNvSpPr/>
                <p:nvPr/>
              </p:nvSpPr>
              <p:spPr>
                <a:xfrm>
                  <a:off x="935788" y="3217069"/>
                  <a:ext cx="185845" cy="2265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845" h="226583">
                      <a:moveTo>
                        <a:pt x="67909" y="25003"/>
                      </a:moveTo>
                      <a:cubicBezTo>
                        <a:pt x="67909" y="11194"/>
                        <a:pt x="79103" y="0"/>
                        <a:pt x="92912" y="0"/>
                      </a:cubicBezTo>
                      <a:cubicBezTo>
                        <a:pt x="106721" y="0"/>
                        <a:pt x="117915" y="11194"/>
                        <a:pt x="117915" y="25003"/>
                      </a:cubicBezTo>
                      <a:cubicBezTo>
                        <a:pt x="117915" y="38812"/>
                        <a:pt x="106721" y="50006"/>
                        <a:pt x="92912" y="50006"/>
                      </a:cubicBezTo>
                      <a:cubicBezTo>
                        <a:pt x="79103" y="50006"/>
                        <a:pt x="67909" y="38812"/>
                        <a:pt x="67909" y="25003"/>
                      </a:cubicBezTo>
                      <a:close/>
                      <a:moveTo>
                        <a:pt x="180933" y="128672"/>
                      </a:moveTo>
                      <a:lnTo>
                        <a:pt x="133719" y="75145"/>
                      </a:lnTo>
                      <a:cubicBezTo>
                        <a:pt x="128974" y="69761"/>
                        <a:pt x="122144" y="66676"/>
                        <a:pt x="114967" y="66675"/>
                      </a:cubicBezTo>
                      <a:lnTo>
                        <a:pt x="70857" y="66675"/>
                      </a:lnTo>
                      <a:cubicBezTo>
                        <a:pt x="63681" y="66676"/>
                        <a:pt x="56850" y="69761"/>
                        <a:pt x="52105" y="75145"/>
                      </a:cubicBezTo>
                      <a:lnTo>
                        <a:pt x="4891" y="128672"/>
                      </a:lnTo>
                      <a:cubicBezTo>
                        <a:pt x="0" y="133563"/>
                        <a:pt x="0" y="141492"/>
                        <a:pt x="4891" y="146383"/>
                      </a:cubicBezTo>
                      <a:cubicBezTo>
                        <a:pt x="9781" y="151274"/>
                        <a:pt x="17711" y="151274"/>
                        <a:pt x="22601" y="146383"/>
                      </a:cubicBezTo>
                      <a:lnTo>
                        <a:pt x="59575" y="116681"/>
                      </a:lnTo>
                      <a:lnTo>
                        <a:pt x="35749" y="207245"/>
                      </a:lnTo>
                      <a:cubicBezTo>
                        <a:pt x="32950" y="213480"/>
                        <a:pt x="35677" y="220807"/>
                        <a:pt x="41871" y="223695"/>
                      </a:cubicBezTo>
                      <a:cubicBezTo>
                        <a:pt x="48066" y="226583"/>
                        <a:pt x="55431" y="223961"/>
                        <a:pt x="58408" y="217808"/>
                      </a:cubicBezTo>
                      <a:lnTo>
                        <a:pt x="92912" y="158353"/>
                      </a:lnTo>
                      <a:lnTo>
                        <a:pt x="127416" y="217808"/>
                      </a:lnTo>
                      <a:cubicBezTo>
                        <a:pt x="130393" y="223961"/>
                        <a:pt x="137758" y="226583"/>
                        <a:pt x="143953" y="223695"/>
                      </a:cubicBezTo>
                      <a:cubicBezTo>
                        <a:pt x="150147" y="220807"/>
                        <a:pt x="152874" y="213480"/>
                        <a:pt x="150075" y="207245"/>
                      </a:cubicBezTo>
                      <a:lnTo>
                        <a:pt x="126250" y="116681"/>
                      </a:lnTo>
                      <a:lnTo>
                        <a:pt x="163244" y="146362"/>
                      </a:lnTo>
                      <a:cubicBezTo>
                        <a:pt x="168134" y="151253"/>
                        <a:pt x="176064" y="151253"/>
                        <a:pt x="180954" y="146362"/>
                      </a:cubicBezTo>
                      <a:cubicBezTo>
                        <a:pt x="185845" y="141471"/>
                        <a:pt x="185845" y="133542"/>
                        <a:pt x="180954" y="128651"/>
                      </a:cubicBezTo>
                      <a:close/>
                    </a:path>
                  </a:pathLst>
                </a:custGeom>
                <a:solidFill>
                  <a:srgbClr val="2563EB">
                    <a:alpha val="20000"/>
                  </a:srgbClr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3" name="Freeform 23"/>
                <p:cNvSpPr/>
                <p:nvPr/>
              </p:nvSpPr>
              <p:spPr>
                <a:xfrm>
                  <a:off x="926633" y="3208734"/>
                  <a:ext cx="204134" cy="2451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134" h="245163">
                      <a:moveTo>
                        <a:pt x="135404" y="33338"/>
                      </a:moveTo>
                      <a:cubicBezTo>
                        <a:pt x="135404" y="14926"/>
                        <a:pt x="120479" y="0"/>
                        <a:pt x="102067" y="0"/>
                      </a:cubicBezTo>
                      <a:cubicBezTo>
                        <a:pt x="83655" y="0"/>
                        <a:pt x="68729" y="14926"/>
                        <a:pt x="68729" y="33338"/>
                      </a:cubicBezTo>
                      <a:cubicBezTo>
                        <a:pt x="68729" y="51749"/>
                        <a:pt x="83655" y="66675"/>
                        <a:pt x="102067" y="66675"/>
                      </a:cubicBezTo>
                      <a:cubicBezTo>
                        <a:pt x="120479" y="66675"/>
                        <a:pt x="135404" y="51749"/>
                        <a:pt x="135404" y="33338"/>
                      </a:cubicBezTo>
                      <a:close/>
                      <a:moveTo>
                        <a:pt x="102067" y="50006"/>
                      </a:moveTo>
                      <a:cubicBezTo>
                        <a:pt x="92861" y="50006"/>
                        <a:pt x="85398" y="42543"/>
                        <a:pt x="85398" y="33338"/>
                      </a:cubicBezTo>
                      <a:cubicBezTo>
                        <a:pt x="85398" y="24132"/>
                        <a:pt x="92861" y="16669"/>
                        <a:pt x="102067" y="16669"/>
                      </a:cubicBezTo>
                      <a:cubicBezTo>
                        <a:pt x="111273" y="16669"/>
                        <a:pt x="118736" y="24132"/>
                        <a:pt x="118736" y="33338"/>
                      </a:cubicBezTo>
                      <a:cubicBezTo>
                        <a:pt x="118736" y="42543"/>
                        <a:pt x="111273" y="50006"/>
                        <a:pt x="102067" y="50006"/>
                      </a:cubicBezTo>
                      <a:close/>
                      <a:moveTo>
                        <a:pt x="196183" y="131318"/>
                      </a:moveTo>
                      <a:lnTo>
                        <a:pt x="149125" y="77958"/>
                      </a:lnTo>
                      <a:cubicBezTo>
                        <a:pt x="142796" y="70783"/>
                        <a:pt x="133689" y="66674"/>
                        <a:pt x="124122" y="66675"/>
                      </a:cubicBezTo>
                      <a:lnTo>
                        <a:pt x="80012" y="66675"/>
                      </a:lnTo>
                      <a:cubicBezTo>
                        <a:pt x="70445" y="66674"/>
                        <a:pt x="61338" y="70783"/>
                        <a:pt x="55009" y="77958"/>
                      </a:cubicBezTo>
                      <a:lnTo>
                        <a:pt x="7951" y="131318"/>
                      </a:lnTo>
                      <a:cubicBezTo>
                        <a:pt x="0" y="139450"/>
                        <a:pt x="39" y="152456"/>
                        <a:pt x="8038" y="160540"/>
                      </a:cubicBezTo>
                      <a:cubicBezTo>
                        <a:pt x="16037" y="168624"/>
                        <a:pt x="29041" y="168801"/>
                        <a:pt x="37257" y="160937"/>
                      </a:cubicBezTo>
                      <a:lnTo>
                        <a:pt x="54238" y="147310"/>
                      </a:lnTo>
                      <a:lnTo>
                        <a:pt x="37007" y="212818"/>
                      </a:lnTo>
                      <a:cubicBezTo>
                        <a:pt x="32254" y="223304"/>
                        <a:pt x="36902" y="235658"/>
                        <a:pt x="47388" y="240410"/>
                      </a:cubicBezTo>
                      <a:cubicBezTo>
                        <a:pt x="57874" y="245163"/>
                        <a:pt x="70228" y="240515"/>
                        <a:pt x="74980" y="230029"/>
                      </a:cubicBezTo>
                      <a:lnTo>
                        <a:pt x="102067" y="183283"/>
                      </a:lnTo>
                      <a:lnTo>
                        <a:pt x="129154" y="230029"/>
                      </a:lnTo>
                      <a:cubicBezTo>
                        <a:pt x="134111" y="240147"/>
                        <a:pt x="146213" y="244492"/>
                        <a:pt x="156474" y="239836"/>
                      </a:cubicBezTo>
                      <a:cubicBezTo>
                        <a:pt x="166734" y="235181"/>
                        <a:pt x="171435" y="223212"/>
                        <a:pt x="167085" y="212818"/>
                      </a:cubicBezTo>
                      <a:lnTo>
                        <a:pt x="149896" y="147310"/>
                      </a:lnTo>
                      <a:lnTo>
                        <a:pt x="166877" y="160937"/>
                      </a:lnTo>
                      <a:cubicBezTo>
                        <a:pt x="175093" y="168801"/>
                        <a:pt x="188097" y="168624"/>
                        <a:pt x="196096" y="160540"/>
                      </a:cubicBezTo>
                      <a:cubicBezTo>
                        <a:pt x="204095" y="152456"/>
                        <a:pt x="204134" y="139450"/>
                        <a:pt x="196183" y="131318"/>
                      </a:cubicBezTo>
                      <a:close/>
                      <a:moveTo>
                        <a:pt x="184192" y="148789"/>
                      </a:moveTo>
                      <a:cubicBezTo>
                        <a:pt x="183410" y="149572"/>
                        <a:pt x="182349" y="150012"/>
                        <a:pt x="181243" y="150012"/>
                      </a:cubicBezTo>
                      <a:cubicBezTo>
                        <a:pt x="180137" y="150012"/>
                        <a:pt x="179077" y="149572"/>
                        <a:pt x="178295" y="148789"/>
                      </a:cubicBezTo>
                      <a:cubicBezTo>
                        <a:pt x="178076" y="148581"/>
                        <a:pt x="177858" y="148373"/>
                        <a:pt x="177618" y="148185"/>
                      </a:cubicBezTo>
                      <a:lnTo>
                        <a:pt x="140613" y="118515"/>
                      </a:lnTo>
                      <a:cubicBezTo>
                        <a:pt x="137813" y="116279"/>
                        <a:pt x="133897" y="116084"/>
                        <a:pt x="130888" y="118030"/>
                      </a:cubicBezTo>
                      <a:cubicBezTo>
                        <a:pt x="127879" y="119976"/>
                        <a:pt x="126450" y="123628"/>
                        <a:pt x="127341" y="127099"/>
                      </a:cubicBezTo>
                      <a:lnTo>
                        <a:pt x="151177" y="217736"/>
                      </a:lnTo>
                      <a:cubicBezTo>
                        <a:pt x="151300" y="218219"/>
                        <a:pt x="151467" y="218690"/>
                        <a:pt x="151677" y="219142"/>
                      </a:cubicBezTo>
                      <a:cubicBezTo>
                        <a:pt x="152332" y="220495"/>
                        <a:pt x="152207" y="222096"/>
                        <a:pt x="151351" y="223331"/>
                      </a:cubicBezTo>
                      <a:cubicBezTo>
                        <a:pt x="150494" y="224566"/>
                        <a:pt x="149039" y="225244"/>
                        <a:pt x="147543" y="225106"/>
                      </a:cubicBezTo>
                      <a:cubicBezTo>
                        <a:pt x="146046" y="224968"/>
                        <a:pt x="144740" y="224034"/>
                        <a:pt x="144124" y="222663"/>
                      </a:cubicBezTo>
                      <a:cubicBezTo>
                        <a:pt x="144022" y="222438"/>
                        <a:pt x="143907" y="222219"/>
                        <a:pt x="143780" y="222007"/>
                      </a:cubicBezTo>
                      <a:lnTo>
                        <a:pt x="109276" y="162520"/>
                      </a:lnTo>
                      <a:cubicBezTo>
                        <a:pt x="107785" y="159950"/>
                        <a:pt x="105038" y="158368"/>
                        <a:pt x="102067" y="158368"/>
                      </a:cubicBezTo>
                      <a:cubicBezTo>
                        <a:pt x="99095" y="158368"/>
                        <a:pt x="96349" y="159950"/>
                        <a:pt x="94858" y="162520"/>
                      </a:cubicBezTo>
                      <a:lnTo>
                        <a:pt x="60395" y="221955"/>
                      </a:lnTo>
                      <a:cubicBezTo>
                        <a:pt x="60268" y="222167"/>
                        <a:pt x="60153" y="222386"/>
                        <a:pt x="60051" y="222611"/>
                      </a:cubicBezTo>
                      <a:cubicBezTo>
                        <a:pt x="59584" y="223614"/>
                        <a:pt x="58737" y="224390"/>
                        <a:pt x="57697" y="224768"/>
                      </a:cubicBezTo>
                      <a:cubicBezTo>
                        <a:pt x="56112" y="225349"/>
                        <a:pt x="54333" y="224916"/>
                        <a:pt x="53192" y="223672"/>
                      </a:cubicBezTo>
                      <a:cubicBezTo>
                        <a:pt x="52051" y="222428"/>
                        <a:pt x="51773" y="220619"/>
                        <a:pt x="52488" y="219090"/>
                      </a:cubicBezTo>
                      <a:cubicBezTo>
                        <a:pt x="52698" y="218638"/>
                        <a:pt x="52865" y="218167"/>
                        <a:pt x="52988" y="217683"/>
                      </a:cubicBezTo>
                      <a:lnTo>
                        <a:pt x="76793" y="127099"/>
                      </a:lnTo>
                      <a:cubicBezTo>
                        <a:pt x="77683" y="123628"/>
                        <a:pt x="76255" y="119976"/>
                        <a:pt x="73246" y="118030"/>
                      </a:cubicBezTo>
                      <a:cubicBezTo>
                        <a:pt x="70237" y="116084"/>
                        <a:pt x="66321" y="116279"/>
                        <a:pt x="63520" y="118515"/>
                      </a:cubicBezTo>
                      <a:lnTo>
                        <a:pt x="26516" y="148185"/>
                      </a:lnTo>
                      <a:cubicBezTo>
                        <a:pt x="26276" y="148373"/>
                        <a:pt x="26057" y="148581"/>
                        <a:pt x="25839" y="148789"/>
                      </a:cubicBezTo>
                      <a:cubicBezTo>
                        <a:pt x="24797" y="149888"/>
                        <a:pt x="23241" y="150335"/>
                        <a:pt x="21774" y="149957"/>
                      </a:cubicBezTo>
                      <a:cubicBezTo>
                        <a:pt x="20308" y="149579"/>
                        <a:pt x="19162" y="148435"/>
                        <a:pt x="18782" y="146970"/>
                      </a:cubicBezTo>
                      <a:cubicBezTo>
                        <a:pt x="18401" y="145504"/>
                        <a:pt x="18845" y="143947"/>
                        <a:pt x="19942" y="142903"/>
                      </a:cubicBezTo>
                      <a:cubicBezTo>
                        <a:pt x="20067" y="142778"/>
                        <a:pt x="20182" y="142653"/>
                        <a:pt x="20296" y="142518"/>
                      </a:cubicBezTo>
                      <a:lnTo>
                        <a:pt x="67510" y="88980"/>
                      </a:lnTo>
                      <a:cubicBezTo>
                        <a:pt x="70676" y="85395"/>
                        <a:pt x="75229" y="83342"/>
                        <a:pt x="80012" y="83344"/>
                      </a:cubicBezTo>
                      <a:lnTo>
                        <a:pt x="124122" y="83344"/>
                      </a:lnTo>
                      <a:cubicBezTo>
                        <a:pt x="128904" y="83342"/>
                        <a:pt x="133458" y="85395"/>
                        <a:pt x="136623" y="88980"/>
                      </a:cubicBezTo>
                      <a:lnTo>
                        <a:pt x="183838" y="142518"/>
                      </a:lnTo>
                      <a:cubicBezTo>
                        <a:pt x="183952" y="142653"/>
                        <a:pt x="184067" y="142778"/>
                        <a:pt x="184192" y="142903"/>
                      </a:cubicBezTo>
                      <a:cubicBezTo>
                        <a:pt x="185814" y="144530"/>
                        <a:pt x="185814" y="147163"/>
                        <a:pt x="184192" y="148789"/>
                      </a:cubicBezTo>
                      <a:close/>
                    </a:path>
                  </a:pathLst>
                </a:custGeom>
                <a:solidFill>
                  <a:srgbClr val="2563EB"/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25" name="TextBox 25"/>
              <p:cNvSpPr txBox="1"/>
              <p:nvPr/>
            </p:nvSpPr>
            <p:spPr>
              <a:xfrm>
                <a:off x="1261110" y="32613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563EB"/>
                    </a:solidFill>
                    <a:latin typeface="Arial"/>
                    <a:ea typeface="Microsoft YaHei"/>
                    <a:cs typeface="Arial"/>
                  </a:rPr>
                  <a:t>人格描述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2102168" y="3285649"/>
                <a:ext cx="2782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472"/>
                    </a:solidFill>
                    <a:latin typeface="Consolas"/>
                    <a:ea typeface="Microsoft YaHei"/>
                    <a:cs typeface="Consolas"/>
                  </a:rPr>
                  <a:t>Big5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742950" y="3676650"/>
              <a:ext cx="2324100" cy="457200"/>
              <a:chOff x="742950" y="3676650"/>
              <a:chExt cx="2324100" cy="4572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742950" y="3676650"/>
                <a:ext cx="2324100" cy="457200"/>
              </a:xfrm>
              <a:prstGeom prst="roundRect">
                <a:avLst>
                  <a:gd name="adj" fmla="val 12500"/>
                </a:avLst>
              </a:prstGeom>
              <a:solidFill>
                <a:srgbClr val="E8F7F0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31" name="Group 31"/>
              <p:cNvGrpSpPr/>
              <p:nvPr/>
            </p:nvGrpSpPr>
            <p:grpSpPr>
              <a:xfrm>
                <a:off x="903445" y="3821906"/>
                <a:ext cx="250510" cy="166688"/>
                <a:chOff x="903445" y="3821906"/>
                <a:chExt cx="250510" cy="166688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912019" y="3830241"/>
                  <a:ext cx="233362" cy="150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362" h="150019">
                      <a:moveTo>
                        <a:pt x="116681" y="0"/>
                      </a:moveTo>
                      <a:cubicBezTo>
                        <a:pt x="33338" y="0"/>
                        <a:pt x="0" y="75009"/>
                        <a:pt x="0" y="75009"/>
                      </a:cubicBezTo>
                      <a:cubicBezTo>
                        <a:pt x="0" y="75009"/>
                        <a:pt x="33338" y="150019"/>
                        <a:pt x="116681" y="150019"/>
                      </a:cubicBezTo>
                      <a:cubicBezTo>
                        <a:pt x="200025" y="150019"/>
                        <a:pt x="233362" y="75009"/>
                        <a:pt x="233362" y="75009"/>
                      </a:cubicBezTo>
                      <a:cubicBezTo>
                        <a:pt x="233362" y="75009"/>
                        <a:pt x="200025" y="0"/>
                        <a:pt x="116681" y="0"/>
                      </a:cubicBezTo>
                      <a:close/>
                      <a:moveTo>
                        <a:pt x="116681" y="116681"/>
                      </a:moveTo>
                      <a:cubicBezTo>
                        <a:pt x="93667" y="116681"/>
                        <a:pt x="75009" y="98024"/>
                        <a:pt x="75009" y="75009"/>
                      </a:cubicBezTo>
                      <a:cubicBezTo>
                        <a:pt x="75009" y="51995"/>
                        <a:pt x="93667" y="33338"/>
                        <a:pt x="116681" y="33338"/>
                      </a:cubicBezTo>
                      <a:cubicBezTo>
                        <a:pt x="139696" y="33338"/>
                        <a:pt x="158353" y="51995"/>
                        <a:pt x="158353" y="75009"/>
                      </a:cubicBezTo>
                      <a:cubicBezTo>
                        <a:pt x="158353" y="98024"/>
                        <a:pt x="139696" y="116681"/>
                        <a:pt x="116681" y="116681"/>
                      </a:cubicBezTo>
                      <a:close/>
                    </a:path>
                  </a:pathLst>
                </a:custGeom>
                <a:solidFill>
                  <a:srgbClr val="0E9F6E">
                    <a:alpha val="20000"/>
                  </a:srgbClr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30" name="Freeform 30"/>
                <p:cNvSpPr/>
                <p:nvPr/>
              </p:nvSpPr>
              <p:spPr>
                <a:xfrm>
                  <a:off x="903445" y="3821906"/>
                  <a:ext cx="250510" cy="166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510" h="166688">
                      <a:moveTo>
                        <a:pt x="249552" y="79968"/>
                      </a:moveTo>
                      <a:cubicBezTo>
                        <a:pt x="249187" y="79145"/>
                        <a:pt x="240363" y="59570"/>
                        <a:pt x="220746" y="39953"/>
                      </a:cubicBezTo>
                      <a:cubicBezTo>
                        <a:pt x="194608" y="13814"/>
                        <a:pt x="161593" y="0"/>
                        <a:pt x="125255" y="0"/>
                      </a:cubicBezTo>
                      <a:cubicBezTo>
                        <a:pt x="88917" y="0"/>
                        <a:pt x="55903" y="13814"/>
                        <a:pt x="29764" y="39953"/>
                      </a:cubicBezTo>
                      <a:cubicBezTo>
                        <a:pt x="10147" y="59570"/>
                        <a:pt x="1281" y="79177"/>
                        <a:pt x="958" y="79968"/>
                      </a:cubicBezTo>
                      <a:cubicBezTo>
                        <a:pt x="0" y="82124"/>
                        <a:pt x="0" y="84584"/>
                        <a:pt x="958" y="86740"/>
                      </a:cubicBezTo>
                      <a:cubicBezTo>
                        <a:pt x="1323" y="87563"/>
                        <a:pt x="10147" y="107128"/>
                        <a:pt x="29764" y="126745"/>
                      </a:cubicBezTo>
                      <a:cubicBezTo>
                        <a:pt x="55903" y="152873"/>
                        <a:pt x="88917" y="166688"/>
                        <a:pt x="125255" y="166688"/>
                      </a:cubicBezTo>
                      <a:cubicBezTo>
                        <a:pt x="161593" y="166688"/>
                        <a:pt x="194608" y="152873"/>
                        <a:pt x="220746" y="126745"/>
                      </a:cubicBezTo>
                      <a:cubicBezTo>
                        <a:pt x="240363" y="107128"/>
                        <a:pt x="249187" y="87563"/>
                        <a:pt x="249552" y="86740"/>
                      </a:cubicBezTo>
                      <a:cubicBezTo>
                        <a:pt x="250510" y="84584"/>
                        <a:pt x="250510" y="82124"/>
                        <a:pt x="249552" y="79968"/>
                      </a:cubicBezTo>
                      <a:close/>
                      <a:moveTo>
                        <a:pt x="125255" y="150019"/>
                      </a:moveTo>
                      <a:cubicBezTo>
                        <a:pt x="93189" y="150019"/>
                        <a:pt x="65175" y="138361"/>
                        <a:pt x="41984" y="115379"/>
                      </a:cubicBezTo>
                      <a:cubicBezTo>
                        <a:pt x="32469" y="105916"/>
                        <a:pt x="24374" y="95126"/>
                        <a:pt x="17950" y="83344"/>
                      </a:cubicBezTo>
                      <a:cubicBezTo>
                        <a:pt x="24372" y="71560"/>
                        <a:pt x="32467" y="60770"/>
                        <a:pt x="41984" y="51308"/>
                      </a:cubicBezTo>
                      <a:cubicBezTo>
                        <a:pt x="65175" y="28326"/>
                        <a:pt x="93189" y="16669"/>
                        <a:pt x="125255" y="16669"/>
                      </a:cubicBezTo>
                      <a:cubicBezTo>
                        <a:pt x="157322" y="16669"/>
                        <a:pt x="185336" y="28326"/>
                        <a:pt x="208526" y="51308"/>
                      </a:cubicBezTo>
                      <a:cubicBezTo>
                        <a:pt x="218060" y="60768"/>
                        <a:pt x="226173" y="71558"/>
                        <a:pt x="232612" y="83344"/>
                      </a:cubicBezTo>
                      <a:cubicBezTo>
                        <a:pt x="225101" y="97366"/>
                        <a:pt x="192378" y="150019"/>
                        <a:pt x="125255" y="150019"/>
                      </a:cubicBezTo>
                      <a:close/>
                      <a:moveTo>
                        <a:pt x="125255" y="33338"/>
                      </a:moveTo>
                      <a:cubicBezTo>
                        <a:pt x="97637" y="33338"/>
                        <a:pt x="75249" y="55726"/>
                        <a:pt x="75249" y="83344"/>
                      </a:cubicBezTo>
                      <a:cubicBezTo>
                        <a:pt x="75249" y="110961"/>
                        <a:pt x="97637" y="133350"/>
                        <a:pt x="125255" y="133350"/>
                      </a:cubicBezTo>
                      <a:cubicBezTo>
                        <a:pt x="152873" y="133350"/>
                        <a:pt x="175261" y="110961"/>
                        <a:pt x="175261" y="83344"/>
                      </a:cubicBezTo>
                      <a:cubicBezTo>
                        <a:pt x="175233" y="55738"/>
                        <a:pt x="152861" y="33366"/>
                        <a:pt x="125255" y="33338"/>
                      </a:cubicBezTo>
                      <a:close/>
                      <a:moveTo>
                        <a:pt x="125255" y="116681"/>
                      </a:moveTo>
                      <a:cubicBezTo>
                        <a:pt x="106843" y="116681"/>
                        <a:pt x="91918" y="101756"/>
                        <a:pt x="91918" y="83344"/>
                      </a:cubicBezTo>
                      <a:cubicBezTo>
                        <a:pt x="91918" y="64932"/>
                        <a:pt x="106843" y="50006"/>
                        <a:pt x="125255" y="50006"/>
                      </a:cubicBezTo>
                      <a:cubicBezTo>
                        <a:pt x="143667" y="50006"/>
                        <a:pt x="158593" y="64932"/>
                        <a:pt x="158593" y="83344"/>
                      </a:cubicBezTo>
                      <a:cubicBezTo>
                        <a:pt x="158593" y="101756"/>
                        <a:pt x="143667" y="116681"/>
                        <a:pt x="125255" y="116681"/>
                      </a:cubicBezTo>
                      <a:close/>
                    </a:path>
                  </a:pathLst>
                </a:custGeom>
                <a:solidFill>
                  <a:srgbClr val="0E9F6E"/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1261110" y="3832860"/>
                <a:ext cx="80337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E9F6E"/>
                    </a:solidFill>
                    <a:latin typeface="Arial"/>
                    <a:ea typeface="Microsoft YaHei"/>
                    <a:cs typeface="Arial"/>
                  </a:rPr>
                  <a:t>OpenFace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178368" y="3857149"/>
                <a:ext cx="66184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472"/>
                    </a:solidFill>
                    <a:latin typeface="Consolas"/>
                    <a:ea typeface="Microsoft YaHei"/>
                    <a:cs typeface="Consolas"/>
                  </a:rPr>
                  <a:t>710/frame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42950" y="4248150"/>
              <a:ext cx="2324100" cy="457200"/>
              <a:chOff x="742950" y="4248150"/>
              <a:chExt cx="2324100" cy="45720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742950" y="4248150"/>
                <a:ext cx="2324100" cy="457200"/>
              </a:xfrm>
              <a:prstGeom prst="roundRect">
                <a:avLst>
                  <a:gd name="adj" fmla="val 12500"/>
                </a:avLst>
              </a:prstGeom>
              <a:solidFill>
                <a:srgbClr val="FFF3D8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38" name="Group 38"/>
              <p:cNvGrpSpPr/>
              <p:nvPr/>
            </p:nvGrpSpPr>
            <p:grpSpPr>
              <a:xfrm>
                <a:off x="945356" y="4360069"/>
                <a:ext cx="166688" cy="233362"/>
                <a:chOff x="945356" y="4360069"/>
                <a:chExt cx="166688" cy="233362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987028" y="4368403"/>
                  <a:ext cx="83344" cy="150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344" h="150019">
                      <a:moveTo>
                        <a:pt x="83344" y="41672"/>
                      </a:moveTo>
                      <a:lnTo>
                        <a:pt x="83344" y="108347"/>
                      </a:lnTo>
                      <a:cubicBezTo>
                        <a:pt x="83344" y="131362"/>
                        <a:pt x="64687" y="150019"/>
                        <a:pt x="41672" y="150019"/>
                      </a:cubicBezTo>
                      <a:lnTo>
                        <a:pt x="41672" y="150019"/>
                      </a:lnTo>
                      <a:cubicBezTo>
                        <a:pt x="18657" y="150019"/>
                        <a:pt x="0" y="131362"/>
                        <a:pt x="0" y="108347"/>
                      </a:cubicBezTo>
                      <a:lnTo>
                        <a:pt x="0" y="41672"/>
                      </a:lnTo>
                      <a:cubicBezTo>
                        <a:pt x="0" y="18657"/>
                        <a:pt x="18657" y="0"/>
                        <a:pt x="41672" y="0"/>
                      </a:cubicBezTo>
                      <a:lnTo>
                        <a:pt x="41672" y="0"/>
                      </a:lnTo>
                      <a:cubicBezTo>
                        <a:pt x="64687" y="0"/>
                        <a:pt x="83344" y="18657"/>
                        <a:pt x="83344" y="41672"/>
                      </a:cubicBezTo>
                      <a:close/>
                    </a:path>
                  </a:pathLst>
                </a:custGeom>
                <a:solidFill>
                  <a:srgbClr val="F59E0B">
                    <a:alpha val="20000"/>
                  </a:srgbClr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37" name="Freeform 37"/>
                <p:cNvSpPr/>
                <p:nvPr/>
              </p:nvSpPr>
              <p:spPr>
                <a:xfrm>
                  <a:off x="945356" y="4360069"/>
                  <a:ext cx="166688" cy="233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233362">
                      <a:moveTo>
                        <a:pt x="83344" y="166688"/>
                      </a:moveTo>
                      <a:cubicBezTo>
                        <a:pt x="110950" y="166659"/>
                        <a:pt x="133321" y="144287"/>
                        <a:pt x="133350" y="116681"/>
                      </a:cubicBezTo>
                      <a:lnTo>
                        <a:pt x="133350" y="50006"/>
                      </a:lnTo>
                      <a:cubicBezTo>
                        <a:pt x="133350" y="22389"/>
                        <a:pt x="110961" y="0"/>
                        <a:pt x="83344" y="0"/>
                      </a:cubicBezTo>
                      <a:cubicBezTo>
                        <a:pt x="55726" y="0"/>
                        <a:pt x="33338" y="22389"/>
                        <a:pt x="33338" y="50006"/>
                      </a:cubicBezTo>
                      <a:lnTo>
                        <a:pt x="33338" y="116681"/>
                      </a:lnTo>
                      <a:cubicBezTo>
                        <a:pt x="33366" y="144287"/>
                        <a:pt x="55738" y="166659"/>
                        <a:pt x="83344" y="166688"/>
                      </a:cubicBezTo>
                      <a:close/>
                      <a:moveTo>
                        <a:pt x="50006" y="50006"/>
                      </a:moveTo>
                      <a:cubicBezTo>
                        <a:pt x="50006" y="31594"/>
                        <a:pt x="64932" y="16669"/>
                        <a:pt x="83344" y="16669"/>
                      </a:cubicBezTo>
                      <a:cubicBezTo>
                        <a:pt x="101756" y="16669"/>
                        <a:pt x="116681" y="31594"/>
                        <a:pt x="116681" y="50006"/>
                      </a:cubicBezTo>
                      <a:lnTo>
                        <a:pt x="116681" y="116681"/>
                      </a:lnTo>
                      <a:cubicBezTo>
                        <a:pt x="116681" y="135093"/>
                        <a:pt x="101756" y="150019"/>
                        <a:pt x="83344" y="150019"/>
                      </a:cubicBezTo>
                      <a:cubicBezTo>
                        <a:pt x="64932" y="150019"/>
                        <a:pt x="50006" y="135093"/>
                        <a:pt x="50006" y="116681"/>
                      </a:cubicBezTo>
                      <a:close/>
                      <a:moveTo>
                        <a:pt x="91678" y="199608"/>
                      </a:moveTo>
                      <a:lnTo>
                        <a:pt x="91678" y="225028"/>
                      </a:lnTo>
                      <a:cubicBezTo>
                        <a:pt x="91678" y="229631"/>
                        <a:pt x="87947" y="233362"/>
                        <a:pt x="83344" y="233362"/>
                      </a:cubicBezTo>
                      <a:cubicBezTo>
                        <a:pt x="78741" y="233362"/>
                        <a:pt x="75009" y="229631"/>
                        <a:pt x="75009" y="225028"/>
                      </a:cubicBezTo>
                      <a:lnTo>
                        <a:pt x="75009" y="199608"/>
                      </a:lnTo>
                      <a:cubicBezTo>
                        <a:pt x="32447" y="195277"/>
                        <a:pt x="53" y="159463"/>
                        <a:pt x="0" y="116681"/>
                      </a:cubicBezTo>
                      <a:cubicBezTo>
                        <a:pt x="0" y="112078"/>
                        <a:pt x="3731" y="108347"/>
                        <a:pt x="8334" y="108347"/>
                      </a:cubicBezTo>
                      <a:cubicBezTo>
                        <a:pt x="12937" y="108347"/>
                        <a:pt x="16669" y="112078"/>
                        <a:pt x="16669" y="116681"/>
                      </a:cubicBezTo>
                      <a:cubicBezTo>
                        <a:pt x="16669" y="153505"/>
                        <a:pt x="46520" y="183356"/>
                        <a:pt x="83344" y="183356"/>
                      </a:cubicBezTo>
                      <a:cubicBezTo>
                        <a:pt x="120167" y="183356"/>
                        <a:pt x="150019" y="153505"/>
                        <a:pt x="150019" y="116681"/>
                      </a:cubicBezTo>
                      <a:cubicBezTo>
                        <a:pt x="150019" y="112078"/>
                        <a:pt x="153750" y="108347"/>
                        <a:pt x="158353" y="108347"/>
                      </a:cubicBezTo>
                      <a:cubicBezTo>
                        <a:pt x="162956" y="108347"/>
                        <a:pt x="166688" y="112078"/>
                        <a:pt x="166688" y="116681"/>
                      </a:cubicBezTo>
                      <a:cubicBezTo>
                        <a:pt x="166635" y="159463"/>
                        <a:pt x="134240" y="195277"/>
                        <a:pt x="91678" y="199608"/>
                      </a:cubicBezTo>
                      <a:close/>
                    </a:path>
                  </a:pathLst>
                </a:custGeom>
                <a:solidFill>
                  <a:srgbClr val="F59E0B"/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1326534" y="4404360"/>
                <a:ext cx="351058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59E0B"/>
                    </a:solidFill>
                    <a:latin typeface="Arial"/>
                    <a:ea typeface="Microsoft YaHei"/>
                    <a:cs typeface="Arial"/>
                  </a:rPr>
                  <a:t>语音 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2197418" y="4428649"/>
                <a:ext cx="34980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472"/>
                    </a:solidFill>
                    <a:latin typeface="Consolas"/>
                    <a:ea typeface="Microsoft YaHei"/>
                    <a:cs typeface="Consolas"/>
                  </a:rPr>
                  <a:t>audio</a:t>
                </a:r>
              </a:p>
            </p:txBody>
          </p:sp>
        </p:grpSp>
        <p:sp>
          <p:nvSpPr>
            <p:cNvPr id="42" name="Rectangle 42"/>
            <p:cNvSpPr/>
            <p:nvPr/>
          </p:nvSpPr>
          <p:spPr>
            <a:xfrm>
              <a:off x="742950" y="4991100"/>
              <a:ext cx="2324100" cy="476250"/>
            </a:xfrm>
            <a:prstGeom prst="roundRect">
              <a:avLst>
                <a:gd name="adj" fmla="val 12000"/>
              </a:avLst>
            </a:prstGeom>
            <a:solidFill>
              <a:srgbClr val="F3F6FB"/>
            </a:solidFill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0118" y="509539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核心挑战：模态丰富，但训练样本少，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0118" y="5285899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高维时序特征容易过拟合。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3562350" y="1962150"/>
            <a:ext cx="4610100" cy="3124200"/>
            <a:chOff x="3562350" y="1962150"/>
            <a:chExt cx="4610100" cy="3124200"/>
          </a:xfrm>
        </p:grpSpPr>
        <p:sp>
          <p:nvSpPr>
            <p:cNvPr id="46" name="Rectangle 46"/>
            <p:cNvSpPr/>
            <p:nvPr/>
          </p:nvSpPr>
          <p:spPr>
            <a:xfrm>
              <a:off x="3943350" y="1962150"/>
              <a:ext cx="3848100" cy="3124200"/>
            </a:xfrm>
            <a:prstGeom prst="roundRect">
              <a:avLst>
                <a:gd name="adj" fmla="val 2439"/>
              </a:avLst>
            </a:prstGeom>
            <a:solidFill>
              <a:srgbClr val="F8FAFC"/>
            </a:solidFill>
            <a:ln w="10795">
              <a:solidFill>
                <a:srgbClr val="CBD5E1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384387" y="21650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建模管线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3562350" y="3524250"/>
              <a:ext cx="381000" cy="1"/>
            </a:xfrm>
            <a:prstGeom prst="line">
              <a:avLst/>
            </a:prstGeom>
            <a:noFill/>
            <a:ln w="28575">
              <a:solidFill>
                <a:srgbClr val="1F5EFF"/>
              </a:solidFill>
              <a:tailEnd type="triangle" w="lg" len="lg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Line 49"/>
            <p:cNvSpPr/>
            <p:nvPr/>
          </p:nvSpPr>
          <p:spPr>
            <a:xfrm>
              <a:off x="7791450" y="3524250"/>
              <a:ext cx="381000" cy="1"/>
            </a:xfrm>
            <a:prstGeom prst="line">
              <a:avLst/>
            </a:prstGeom>
            <a:noFill/>
            <a:ln w="28575">
              <a:solidFill>
                <a:srgbClr val="1F5EFF"/>
              </a:solidFill>
              <a:tailEnd type="triangle" w="lg" len="lg"/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4362450" y="2724150"/>
              <a:ext cx="1257300" cy="514350"/>
              <a:chOff x="4362450" y="2724150"/>
              <a:chExt cx="1257300" cy="5143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4362450" y="2724150"/>
                <a:ext cx="1257300" cy="514350"/>
              </a:xfrm>
              <a:prstGeom prst="roundRect">
                <a:avLst>
                  <a:gd name="adj" fmla="val 11111"/>
                </a:avLst>
              </a:prstGeom>
              <a:solidFill>
                <a:srgbClr val="EAF1FF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4694755" y="2925128"/>
                <a:ext cx="5926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2563EB"/>
                    </a:solidFill>
                    <a:latin typeface="Consolas"/>
                    <a:ea typeface="Microsoft YaHei"/>
                    <a:cs typeface="Consolas"/>
                  </a:rPr>
                  <a:t>feature</a:t>
                </a: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6115050" y="2724150"/>
              <a:ext cx="1257300" cy="514350"/>
              <a:chOff x="6115050" y="2724150"/>
              <a:chExt cx="1257300" cy="51435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6115050" y="2724150"/>
                <a:ext cx="1257300" cy="514350"/>
              </a:xfrm>
              <a:prstGeom prst="roundRect">
                <a:avLst>
                  <a:gd name="adj" fmla="val 11111"/>
                </a:avLst>
              </a:prstGeom>
              <a:solidFill>
                <a:srgbClr val="E8F7F0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487785" y="2925128"/>
                <a:ext cx="51183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0E9F6E"/>
                    </a:solidFill>
                    <a:latin typeface="Consolas"/>
                    <a:ea typeface="Microsoft YaHei"/>
                    <a:cs typeface="Consolas"/>
                  </a:rPr>
                  <a:t>ranker</a:t>
                </a:r>
              </a:p>
            </p:txBody>
          </p:sp>
        </p:grpSp>
        <p:sp>
          <p:nvSpPr>
            <p:cNvPr id="56" name="Line 56"/>
            <p:cNvSpPr/>
            <p:nvPr/>
          </p:nvSpPr>
          <p:spPr>
            <a:xfrm>
              <a:off x="5619750" y="2981325"/>
              <a:ext cx="495300" cy="1"/>
            </a:xfrm>
            <a:prstGeom prst="line">
              <a:avLst/>
            </a:prstGeom>
            <a:noFill/>
            <a:ln w="19050">
              <a:solidFill>
                <a:srgbClr val="D8E0EA"/>
              </a:solidFill>
              <a:tailEnd type="triangle" w="lg" len="lg"/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4362450" y="3581400"/>
              <a:ext cx="1257300" cy="514350"/>
              <a:chOff x="4362450" y="3581400"/>
              <a:chExt cx="1257300" cy="514350"/>
            </a:xfrm>
          </p:grpSpPr>
          <p:sp>
            <p:nvSpPr>
              <p:cNvPr id="57" name="Rectangle 57"/>
              <p:cNvSpPr/>
              <p:nvPr/>
            </p:nvSpPr>
            <p:spPr>
              <a:xfrm>
                <a:off x="4362450" y="3581400"/>
                <a:ext cx="1257300" cy="514350"/>
              </a:xfrm>
              <a:prstGeom prst="roundRect">
                <a:avLst>
                  <a:gd name="adj" fmla="val 11111"/>
                </a:avLst>
              </a:prstGeom>
              <a:solidFill>
                <a:srgbClr val="F0E8FF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4650649" y="3782378"/>
                <a:ext cx="68090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7C3AED"/>
                    </a:solidFill>
                    <a:latin typeface="Consolas"/>
                    <a:ea typeface="Microsoft YaHei"/>
                    <a:cs typeface="Consolas"/>
                  </a:rPr>
                  <a:t>calibrate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6115050" y="3581400"/>
              <a:ext cx="1257300" cy="514350"/>
              <a:chOff x="6115050" y="3581400"/>
              <a:chExt cx="1257300" cy="514350"/>
            </a:xfrm>
          </p:grpSpPr>
          <p:sp>
            <p:nvSpPr>
              <p:cNvPr id="60" name="Rectangle 60"/>
              <p:cNvSpPr/>
              <p:nvPr/>
            </p:nvSpPr>
            <p:spPr>
              <a:xfrm>
                <a:off x="6115050" y="3581400"/>
                <a:ext cx="1257300" cy="514350"/>
              </a:xfrm>
              <a:prstGeom prst="roundRect">
                <a:avLst>
                  <a:gd name="adj" fmla="val 11111"/>
                </a:avLst>
              </a:prstGeom>
              <a:solidFill>
                <a:srgbClr val="FFF3D8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6443679" y="3782378"/>
                <a:ext cx="6000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59E0B"/>
                    </a:solidFill>
                    <a:latin typeface="Consolas"/>
                    <a:ea typeface="Microsoft YaHei"/>
                    <a:cs typeface="Consolas"/>
                  </a:rPr>
                  <a:t>validate</a:t>
                </a:r>
              </a:p>
            </p:txBody>
          </p:sp>
        </p:grpSp>
        <p:sp>
          <p:nvSpPr>
            <p:cNvPr id="63" name="Line 63"/>
            <p:cNvSpPr/>
            <p:nvPr/>
          </p:nvSpPr>
          <p:spPr>
            <a:xfrm>
              <a:off x="5619750" y="3838575"/>
              <a:ext cx="495300" cy="1"/>
            </a:xfrm>
            <a:prstGeom prst="line">
              <a:avLst/>
            </a:prstGeom>
            <a:noFill/>
            <a:ln w="19050">
              <a:solidFill>
                <a:srgbClr val="D8E0EA"/>
              </a:solidFill>
              <a:tailEnd type="triangle" w="lg" len="lg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4855488" y="4431506"/>
              <a:ext cx="202382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特征工程 + 小模型 + 融合校准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8515350" y="1600200"/>
            <a:ext cx="3181350" cy="4171950"/>
            <a:chOff x="8515350" y="1600200"/>
            <a:chExt cx="3181350" cy="4171950"/>
          </a:xfrm>
        </p:grpSpPr>
        <p:sp>
          <p:nvSpPr>
            <p:cNvPr id="66" name="Rectangle 66"/>
            <p:cNvSpPr/>
            <p:nvPr/>
          </p:nvSpPr>
          <p:spPr>
            <a:xfrm>
              <a:off x="8515350" y="1600200"/>
              <a:ext cx="3181350" cy="4171950"/>
            </a:xfrm>
            <a:prstGeom prst="roundRect">
              <a:avLst>
                <a:gd name="adj" fmla="val 2395"/>
              </a:avLst>
            </a:prstGeom>
            <a:solidFill>
              <a:srgbClr val="FFFFFF"/>
            </a:solidFill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762048" y="1782604"/>
              <a:ext cx="114264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输出与评分</a:t>
              </a:r>
            </a:p>
          </p:txBody>
        </p:sp>
        <p:grpSp>
          <p:nvGrpSpPr>
            <p:cNvPr id="72" name="Group 72"/>
            <p:cNvGrpSpPr/>
            <p:nvPr/>
          </p:nvGrpSpPr>
          <p:grpSpPr>
            <a:xfrm>
              <a:off x="8782050" y="2362200"/>
              <a:ext cx="2362200" cy="704850"/>
              <a:chOff x="8782050" y="2362200"/>
              <a:chExt cx="2362200" cy="704850"/>
            </a:xfrm>
          </p:grpSpPr>
          <p:sp>
            <p:nvSpPr>
              <p:cNvPr id="68" name="Rectangle 68"/>
              <p:cNvSpPr/>
              <p:nvPr/>
            </p:nvSpPr>
            <p:spPr>
              <a:xfrm>
                <a:off x="8782050" y="2362200"/>
                <a:ext cx="2362200" cy="704850"/>
              </a:xfrm>
              <a:prstGeom prst="roundRect">
                <a:avLst>
                  <a:gd name="adj" fmla="val 8108"/>
                </a:avLst>
              </a:prstGeom>
              <a:solidFill>
                <a:srgbClr val="F3F6FB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9005888" y="2464594"/>
                <a:ext cx="822097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1F5EFF"/>
                    </a:solidFill>
                    <a:latin typeface="Consolas"/>
                    <a:ea typeface="Microsoft YaHei"/>
                    <a:cs typeface="Consolas"/>
                  </a:rPr>
                  <a:t>PHQ-9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9948862" y="2526506"/>
                <a:ext cx="77866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连续抑郁分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9950768" y="2771299"/>
                <a:ext cx="77235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472"/>
                    </a:solidFill>
                    <a:latin typeface="Consolas"/>
                    <a:ea typeface="Microsoft YaHei"/>
                    <a:cs typeface="Consolas"/>
                  </a:rPr>
                  <a:t>metric: CCC</a:t>
                </a:r>
              </a:p>
            </p:txBody>
          </p:sp>
        </p:grpSp>
        <p:grpSp>
          <p:nvGrpSpPr>
            <p:cNvPr id="77" name="Group 77"/>
            <p:cNvGrpSpPr/>
            <p:nvPr/>
          </p:nvGrpSpPr>
          <p:grpSpPr>
            <a:xfrm>
              <a:off x="8782050" y="3257550"/>
              <a:ext cx="2362200" cy="704850"/>
              <a:chOff x="8782050" y="3257550"/>
              <a:chExt cx="2362200" cy="704850"/>
            </a:xfrm>
          </p:grpSpPr>
          <p:sp>
            <p:nvSpPr>
              <p:cNvPr id="73" name="Rectangle 73"/>
              <p:cNvSpPr/>
              <p:nvPr/>
            </p:nvSpPr>
            <p:spPr>
              <a:xfrm>
                <a:off x="8782050" y="3257550"/>
                <a:ext cx="2362200" cy="704850"/>
              </a:xfrm>
              <a:prstGeom prst="roundRect">
                <a:avLst>
                  <a:gd name="adj" fmla="val 8108"/>
                </a:avLst>
              </a:prstGeom>
              <a:solidFill>
                <a:srgbClr val="F3F6FB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9005888" y="3359944"/>
                <a:ext cx="84835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16A34A"/>
                    </a:solidFill>
                    <a:latin typeface="Consolas"/>
                    <a:ea typeface="Microsoft YaHei"/>
                    <a:cs typeface="Consolas"/>
                  </a:rPr>
                  <a:t>Binary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9948862" y="3421856"/>
                <a:ext cx="6286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是否抑郁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9950768" y="3666649"/>
                <a:ext cx="66834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472"/>
                    </a:solidFill>
                    <a:latin typeface="Consolas"/>
                    <a:ea typeface="Microsoft YaHei"/>
                    <a:cs typeface="Consolas"/>
                  </a:rPr>
                  <a:t>metric: F1</a:t>
                </a: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8782050" y="4152900"/>
              <a:ext cx="2374820" cy="704850"/>
              <a:chOff x="8782050" y="4152900"/>
              <a:chExt cx="2374820" cy="704850"/>
            </a:xfrm>
          </p:grpSpPr>
          <p:sp>
            <p:nvSpPr>
              <p:cNvPr id="78" name="Rectangle 78"/>
              <p:cNvSpPr/>
              <p:nvPr/>
            </p:nvSpPr>
            <p:spPr>
              <a:xfrm>
                <a:off x="8782050" y="4152900"/>
                <a:ext cx="2362200" cy="704850"/>
              </a:xfrm>
              <a:prstGeom prst="roundRect">
                <a:avLst>
                  <a:gd name="adj" fmla="val 8108"/>
                </a:avLst>
              </a:prstGeom>
              <a:solidFill>
                <a:srgbClr val="F3F6FB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9005888" y="4255294"/>
                <a:ext cx="1058376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75" b="1" dirty="0">
                    <a:solidFill>
                      <a:srgbClr val="7C3AED"/>
                    </a:solidFill>
                    <a:latin typeface="Consolas"/>
                    <a:ea typeface="Microsoft YaHei"/>
                    <a:cs typeface="Consolas"/>
                  </a:rPr>
                  <a:t>Ternary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10063162" y="4317206"/>
                <a:ext cx="109370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正常/轻度/重度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10065068" y="4561999"/>
                <a:ext cx="9153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472"/>
                    </a:solidFill>
                    <a:latin typeface="Consolas"/>
                    <a:ea typeface="Microsoft YaHei"/>
                    <a:cs typeface="Consolas"/>
                  </a:rPr>
                  <a:t>metric: Kappa</a:t>
                </a:r>
              </a:p>
            </p:txBody>
          </p:sp>
        </p:grpSp>
        <p:sp>
          <p:nvSpPr>
            <p:cNvPr id="83" name="Rectangle 83"/>
            <p:cNvSpPr/>
            <p:nvPr/>
          </p:nvSpPr>
          <p:spPr>
            <a:xfrm>
              <a:off x="8702669" y="5143500"/>
              <a:ext cx="2481271" cy="400050"/>
            </a:xfrm>
            <a:prstGeom prst="roundRect">
              <a:avLst>
                <a:gd name="adj" fmla="val 14286"/>
              </a:avLst>
            </a:prstGeom>
            <a:solidFill>
              <a:srgbClr val="EFF6FF"/>
            </a:solidFill>
            <a:ln w="10795">
              <a:solidFill>
                <a:srgbClr val="BFDBFE"/>
              </a:solidFill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742359" y="5271135"/>
              <a:ext cx="244158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172A"/>
                  </a:solidFill>
                  <a:latin typeface="Consolas"/>
                  <a:ea typeface="Microsoft YaHei"/>
                  <a:cs typeface="Consolas"/>
                </a:rPr>
                <a:t>Score = mean(F1, CCC, Kappa)</a:t>
              </a:r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11313224" y="64369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8A94A6"/>
                </a:solidFill>
                <a:latin typeface="Consolas"/>
                <a:ea typeface="Microsoft YaHei"/>
                <a:cs typeface="Consolas"/>
              </a:rPr>
              <a:t>03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65" grpId="0"/>
      <p:bldP spid="8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3F6F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" name="Freeform 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1409700"/>
                  </a:moveTo>
                  <a:lnTo>
                    <a:pt x="12192000" y="1409700"/>
                  </a:lnTo>
                  <a:moveTo>
                    <a:pt x="0" y="3314700"/>
                  </a:moveTo>
                  <a:lnTo>
                    <a:pt x="12192000" y="3314700"/>
                  </a:lnTo>
                  <a:moveTo>
                    <a:pt x="0" y="5219700"/>
                  </a:moveTo>
                  <a:lnTo>
                    <a:pt x="12192000" y="5219700"/>
                  </a:lnTo>
                  <a:moveTo>
                    <a:pt x="1524000" y="0"/>
                  </a:moveTo>
                  <a:lnTo>
                    <a:pt x="1524000" y="6858000"/>
                  </a:lnTo>
                  <a:moveTo>
                    <a:pt x="3429000" y="0"/>
                  </a:moveTo>
                  <a:lnTo>
                    <a:pt x="3429000" y="6858000"/>
                  </a:lnTo>
                  <a:moveTo>
                    <a:pt x="5334000" y="0"/>
                  </a:moveTo>
                  <a:lnTo>
                    <a:pt x="5334000" y="6858000"/>
                  </a:lnTo>
                  <a:moveTo>
                    <a:pt x="7239000" y="0"/>
                  </a:moveTo>
                  <a:lnTo>
                    <a:pt x="72390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11049000" y="0"/>
                  </a:moveTo>
                  <a:lnTo>
                    <a:pt x="11049000" y="6858000"/>
                  </a:lnTo>
                </a:path>
              </a:pathLst>
            </a:custGeom>
            <a:solidFill>
              <a:srgbClr val="000000"/>
            </a:solidFill>
            <a:ln w="5715">
              <a:solidFill>
                <a:srgbClr val="D8E0EA">
                  <a:alpha val="38000"/>
                </a:srgbClr>
              </a:solidFill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02920" y="512445"/>
            <a:ext cx="7453884" cy="859155"/>
            <a:chOff x="502920" y="512445"/>
            <a:chExt cx="7453884" cy="859155"/>
          </a:xfrm>
        </p:grpSpPr>
        <p:sp>
          <p:nvSpPr>
            <p:cNvPr id="5" name="TextBox 5"/>
            <p:cNvSpPr txBox="1"/>
            <p:nvPr/>
          </p:nvSpPr>
          <p:spPr>
            <a:xfrm>
              <a:off x="521970" y="512445"/>
              <a:ext cx="18122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64550"/>
                  </a:solidFill>
                  <a:latin typeface="Consolas"/>
                  <a:ea typeface="Microsoft YaHei"/>
                  <a:cs typeface="Consolas"/>
                </a:rPr>
                <a:t>DATA &amp; MODELING CONSTRAINTS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02920" y="721995"/>
              <a:ext cx="745388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数据与指标约束决定了方法不能只追求模型复杂度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18160" y="1127760"/>
              <a:ext cx="57912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小样本不是主题，但它解释了为什么我们强调低维特征、浅层模型、集成与校准。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3400" y="1695450"/>
            <a:ext cx="3294495" cy="4229100"/>
            <a:chOff x="533400" y="1695450"/>
            <a:chExt cx="3294495" cy="4229100"/>
          </a:xfrm>
        </p:grpSpPr>
        <p:sp>
          <p:nvSpPr>
            <p:cNvPr id="9" name="Rectangle 9"/>
            <p:cNvSpPr/>
            <p:nvPr/>
          </p:nvSpPr>
          <p:spPr>
            <a:xfrm>
              <a:off x="533400" y="1695450"/>
              <a:ext cx="3276600" cy="4229100"/>
            </a:xfrm>
            <a:prstGeom prst="roundRect">
              <a:avLst>
                <a:gd name="adj" fmla="val 2326"/>
              </a:avLst>
            </a:prstGeom>
            <a:solidFill>
              <a:srgbClr val="F8FAFC"/>
            </a:solidFill>
            <a:ln w="10795">
              <a:solidFill>
                <a:srgbClr val="CBD5E1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79145" y="191738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数据事实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771525" y="2357438"/>
              <a:ext cx="2718435" cy="762000"/>
              <a:chOff x="771525" y="2357438"/>
              <a:chExt cx="2718435" cy="762000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771525" y="2357438"/>
                <a:ext cx="672822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750" b="1" dirty="0">
                    <a:solidFill>
                      <a:srgbClr val="0F172A"/>
                    </a:solidFill>
                    <a:latin typeface="Consolas"/>
                    <a:ea typeface="Microsoft YaHei"/>
                    <a:cs typeface="Consolas"/>
                  </a:rPr>
                  <a:t>88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641158" y="256746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训练样本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644968" y="2847499"/>
                <a:ext cx="18449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单个复杂模型很容易记住训练集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771525" y="3271838"/>
              <a:ext cx="3056370" cy="762000"/>
              <a:chOff x="771525" y="3271838"/>
              <a:chExt cx="3056370" cy="762000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771525" y="3271838"/>
                <a:ext cx="672822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750" b="1" dirty="0">
                    <a:solidFill>
                      <a:srgbClr val="0F172A"/>
                    </a:solidFill>
                    <a:latin typeface="Consolas"/>
                    <a:ea typeface="Microsoft YaHei"/>
                    <a:cs typeface="Consolas"/>
                  </a:rPr>
                  <a:t>22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498032" y="3443287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B45309"/>
                    </a:solidFill>
                    <a:latin typeface="Arial"/>
                    <a:ea typeface="Microsoft YaHei"/>
                    <a:cs typeface="Arial"/>
                  </a:rPr>
                  <a:t>测试样本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501842" y="3723322"/>
                <a:ext cx="232605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榜单反馈波动大，本地 CV 只作方向参考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771525" y="4186238"/>
              <a:ext cx="2763941" cy="762000"/>
              <a:chOff x="771525" y="4186238"/>
              <a:chExt cx="2763941" cy="762000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771525" y="4186238"/>
                <a:ext cx="541556" cy="76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750" b="1" dirty="0">
                    <a:solidFill>
                      <a:srgbClr val="0F172A"/>
                    </a:solidFill>
                    <a:latin typeface="Consolas"/>
                    <a:ea typeface="Microsoft YaHei"/>
                    <a:cs typeface="Consolas"/>
                  </a:rPr>
                  <a:t>10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641158" y="4396264"/>
                <a:ext cx="92499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334155"/>
                    </a:solidFill>
                    <a:latin typeface="Arial"/>
                    <a:ea typeface="Microsoft YaHei"/>
                    <a:cs typeface="Arial"/>
                  </a:rPr>
                  <a:t>重度类样本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644968" y="4676299"/>
                <a:ext cx="189049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475569"/>
                    </a:solidFill>
                    <a:latin typeface="Arial"/>
                    <a:ea typeface="Microsoft YaHei"/>
                    <a:cs typeface="Arial"/>
                  </a:rPr>
                  <a:t>三分类 Kappa 对少数类特别敏感</a:t>
                </a:r>
              </a:p>
            </p:txBody>
          </p:sp>
        </p:grpSp>
        <p:sp>
          <p:nvSpPr>
            <p:cNvPr id="23" name="Line 23"/>
            <p:cNvSpPr/>
            <p:nvPr/>
          </p:nvSpPr>
          <p:spPr>
            <a:xfrm>
              <a:off x="800100" y="5143500"/>
              <a:ext cx="2743200" cy="9525"/>
            </a:xfrm>
            <a:custGeom>
              <a:avLst/>
              <a:gdLst/>
              <a:ahLst/>
              <a:cxnLst/>
              <a:rect l="l" t="t" r="r" b="b"/>
              <a:pathLst>
                <a:path w="2743200" h="9525">
                  <a:moveTo>
                    <a:pt x="0" y="0"/>
                  </a:moveTo>
                  <a:lnTo>
                    <a:pt x="2743200" y="0"/>
                  </a:lnTo>
                </a:path>
              </a:pathLst>
            </a:custGeom>
            <a:noFill/>
            <a:ln w="9525">
              <a:solidFill>
                <a:srgbClr val="FFFFFF">
                  <a:alpha val="16000"/>
                </a:srgbClr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6765" y="5354002"/>
              <a:ext cx="23649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PHQ 标签离散且右偏，12-15 分缺失，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86765" y="558260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因此有序回归比连续外推更稳。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171950" y="1695450"/>
            <a:ext cx="7486650" cy="4229100"/>
            <a:chOff x="4171950" y="1695450"/>
            <a:chExt cx="7486650" cy="4229100"/>
          </a:xfrm>
        </p:grpSpPr>
        <p:sp>
          <p:nvSpPr>
            <p:cNvPr id="27" name="Rectangle 27"/>
            <p:cNvSpPr/>
            <p:nvPr/>
          </p:nvSpPr>
          <p:spPr>
            <a:xfrm>
              <a:off x="4171950" y="1695450"/>
              <a:ext cx="7486650" cy="4229100"/>
            </a:xfrm>
            <a:prstGeom prst="roundRect">
              <a:avLst>
                <a:gd name="adj" fmla="val 1802"/>
              </a:avLst>
            </a:prstGeom>
            <a:solidFill>
              <a:srgbClr val="FFFFFF"/>
            </a:solidFill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17695" y="189833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模态维度与建模风险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4438650" y="2381250"/>
              <a:ext cx="6953250" cy="400050"/>
              <a:chOff x="4438650" y="2381250"/>
              <a:chExt cx="6953250" cy="4000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4438650" y="2381250"/>
                <a:ext cx="6953250" cy="400050"/>
              </a:xfrm>
              <a:prstGeom prst="roundRect">
                <a:avLst>
                  <a:gd name="adj" fmla="val 14286"/>
                </a:avLst>
              </a:prstGeom>
              <a:solidFill>
                <a:srgbClr val="F3F6FB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672965" y="2525078"/>
                <a:ext cx="7838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模态 / 表征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844665" y="252507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维度规模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692515" y="2525078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策略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4438650" y="2895600"/>
              <a:ext cx="6953250" cy="552450"/>
              <a:chOff x="4438650" y="2895600"/>
              <a:chExt cx="6953250" cy="5524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4438650" y="2895600"/>
                <a:ext cx="6953250" cy="5524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672012" y="3098006"/>
                <a:ext cx="28060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563EB"/>
                    </a:solidFill>
                    <a:latin typeface="Consolas"/>
                    <a:ea typeface="Microsoft YaHei"/>
                    <a:cs typeface="Consolas"/>
                  </a:rPr>
                  <a:t>IMU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843712" y="3098006"/>
                <a:ext cx="80117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12 通道时序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691562" y="3098006"/>
                <a:ext cx="122872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只用前三维加速度</a:t>
                </a:r>
              </a:p>
            </p:txBody>
          </p:sp>
        </p:grpSp>
        <p:sp>
          <p:nvSpPr>
            <p:cNvPr id="39" name="Line 39"/>
            <p:cNvSpPr/>
            <p:nvPr/>
          </p:nvSpPr>
          <p:spPr>
            <a:xfrm>
              <a:off x="4438650" y="3448050"/>
              <a:ext cx="6953250" cy="9525"/>
            </a:xfrm>
            <a:custGeom>
              <a:avLst/>
              <a:gdLst/>
              <a:ahLst/>
              <a:cxnLst/>
              <a:rect l="l" t="t" r="r" b="b"/>
              <a:pathLst>
                <a:path w="6953250" h="9525">
                  <a:moveTo>
                    <a:pt x="0" y="0"/>
                  </a:moveTo>
                  <a:lnTo>
                    <a:pt x="6953250" y="0"/>
                  </a:lnTo>
                </a:path>
              </a:pathLst>
            </a:custGeom>
            <a:noFill/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4672012" y="3650456"/>
              <a:ext cx="5720834" cy="228600"/>
              <a:chOff x="4672012" y="3650456"/>
              <a:chExt cx="5720834" cy="228600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4672012" y="3650456"/>
                <a:ext cx="753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0E9F6E"/>
                    </a:solidFill>
                    <a:latin typeface="Consolas"/>
                    <a:ea typeface="Microsoft YaHei"/>
                    <a:cs typeface="Consolas"/>
                  </a:rPr>
                  <a:t>OpenFace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843712" y="3650456"/>
                <a:ext cx="756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710 维 / 帧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691562" y="3650456"/>
                <a:ext cx="170128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选 43 个 gaze/AU 关键列</a:t>
                </a:r>
              </a:p>
            </p:txBody>
          </p:sp>
        </p:grpSp>
        <p:sp>
          <p:nvSpPr>
            <p:cNvPr id="44" name="Line 44"/>
            <p:cNvSpPr/>
            <p:nvPr/>
          </p:nvSpPr>
          <p:spPr>
            <a:xfrm>
              <a:off x="4438650" y="4000500"/>
              <a:ext cx="6953250" cy="9525"/>
            </a:xfrm>
            <a:custGeom>
              <a:avLst/>
              <a:gdLst/>
              <a:ahLst/>
              <a:cxnLst/>
              <a:rect l="l" t="t" r="r" b="b"/>
              <a:pathLst>
                <a:path w="6953250" h="9525">
                  <a:moveTo>
                    <a:pt x="0" y="0"/>
                  </a:moveTo>
                  <a:lnTo>
                    <a:pt x="6953250" y="0"/>
                  </a:lnTo>
                </a:path>
              </a:pathLst>
            </a:custGeom>
            <a:noFill/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4672012" y="4202906"/>
              <a:ext cx="5548312" cy="228600"/>
              <a:chOff x="4672012" y="4202906"/>
              <a:chExt cx="5548312" cy="228600"/>
            </a:xfrm>
          </p:grpSpPr>
          <p:sp>
            <p:nvSpPr>
              <p:cNvPr id="45" name="TextBox 45"/>
              <p:cNvSpPr txBox="1"/>
              <p:nvPr/>
            </p:nvSpPr>
            <p:spPr>
              <a:xfrm>
                <a:off x="4672012" y="4202906"/>
                <a:ext cx="75316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59E0B"/>
                    </a:solidFill>
                    <a:latin typeface="Consolas"/>
                    <a:ea typeface="Microsoft YaHei"/>
                    <a:cs typeface="Consolas"/>
                  </a:rPr>
                  <a:t>wav2vec2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843712" y="4202906"/>
                <a:ext cx="83867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1024 维 / 帧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691562" y="4202906"/>
                <a:ext cx="15287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保留为探索，未进最终</a:t>
                </a:r>
              </a:p>
            </p:txBody>
          </p:sp>
        </p:grpSp>
        <p:sp>
          <p:nvSpPr>
            <p:cNvPr id="49" name="Line 49"/>
            <p:cNvSpPr/>
            <p:nvPr/>
          </p:nvSpPr>
          <p:spPr>
            <a:xfrm>
              <a:off x="4438650" y="4552950"/>
              <a:ext cx="6953250" cy="9525"/>
            </a:xfrm>
            <a:custGeom>
              <a:avLst/>
              <a:gdLst/>
              <a:ahLst/>
              <a:cxnLst/>
              <a:rect l="l" t="t" r="r" b="b"/>
              <a:pathLst>
                <a:path w="6953250" h="9525">
                  <a:moveTo>
                    <a:pt x="0" y="0"/>
                  </a:moveTo>
                  <a:lnTo>
                    <a:pt x="6953250" y="0"/>
                  </a:lnTo>
                </a:path>
              </a:pathLst>
            </a:custGeom>
            <a:noFill/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4672012" y="4755356"/>
              <a:ext cx="5720834" cy="228600"/>
              <a:chOff x="4672012" y="4755356"/>
              <a:chExt cx="5720834" cy="228600"/>
            </a:xfrm>
          </p:grpSpPr>
          <p:sp>
            <p:nvSpPr>
              <p:cNvPr id="50" name="TextBox 50"/>
              <p:cNvSpPr txBox="1"/>
              <p:nvPr/>
            </p:nvSpPr>
            <p:spPr>
              <a:xfrm>
                <a:off x="4672012" y="4755356"/>
                <a:ext cx="76104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59E0B"/>
                    </a:solidFill>
                    <a:latin typeface="Consolas"/>
                    <a:ea typeface="Microsoft YaHei"/>
                    <a:cs typeface="Consolas"/>
                  </a:rPr>
                  <a:t>opensmile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6843712" y="4755356"/>
                <a:ext cx="68865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65 维时序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691562" y="4755356"/>
                <a:ext cx="170128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声学动态特征 + 泛化验证</a:t>
                </a:r>
              </a:p>
            </p:txBody>
          </p:sp>
        </p:grpSp>
        <p:sp>
          <p:nvSpPr>
            <p:cNvPr id="54" name="Line 54"/>
            <p:cNvSpPr/>
            <p:nvPr/>
          </p:nvSpPr>
          <p:spPr>
            <a:xfrm>
              <a:off x="4438650" y="5105400"/>
              <a:ext cx="6953250" cy="9525"/>
            </a:xfrm>
            <a:custGeom>
              <a:avLst/>
              <a:gdLst/>
              <a:ahLst/>
              <a:cxnLst/>
              <a:rect l="l" t="t" r="r" b="b"/>
              <a:pathLst>
                <a:path w="6953250" h="9525">
                  <a:moveTo>
                    <a:pt x="0" y="0"/>
                  </a:moveTo>
                  <a:lnTo>
                    <a:pt x="6953250" y="0"/>
                  </a:lnTo>
                </a:path>
              </a:pathLst>
            </a:custGeom>
            <a:noFill/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4672012" y="5307806"/>
              <a:ext cx="5698331" cy="228600"/>
              <a:chOff x="4672012" y="5307806"/>
              <a:chExt cx="5698331" cy="228600"/>
            </a:xfrm>
          </p:grpSpPr>
          <p:sp>
            <p:nvSpPr>
              <p:cNvPr id="55" name="TextBox 55"/>
              <p:cNvSpPr txBox="1"/>
              <p:nvPr/>
            </p:nvSpPr>
            <p:spPr>
              <a:xfrm>
                <a:off x="4672012" y="5307806"/>
                <a:ext cx="88705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7C3AED"/>
                    </a:solidFill>
                    <a:latin typeface="Consolas"/>
                    <a:ea typeface="Microsoft YaHei"/>
                    <a:cs typeface="Consolas"/>
                  </a:rPr>
                  <a:t>PHQ output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843712" y="5307806"/>
                <a:ext cx="80117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回归 + 分类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8691562" y="530780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回归头与分类头拆开优化</a:t>
                </a:r>
              </a:p>
            </p:txBody>
          </p:sp>
        </p:grpSp>
      </p:grpSp>
      <p:grpSp>
        <p:nvGrpSpPr>
          <p:cNvPr id="62" name="Group 62"/>
          <p:cNvGrpSpPr/>
          <p:nvPr/>
        </p:nvGrpSpPr>
        <p:grpSpPr>
          <a:xfrm>
            <a:off x="4171950" y="6153150"/>
            <a:ext cx="7486650" cy="400050"/>
            <a:chOff x="4171950" y="6153150"/>
            <a:chExt cx="7486650" cy="400050"/>
          </a:xfrm>
        </p:grpSpPr>
        <p:sp>
          <p:nvSpPr>
            <p:cNvPr id="60" name="Rectangle 60"/>
            <p:cNvSpPr/>
            <p:nvPr/>
          </p:nvSpPr>
          <p:spPr>
            <a:xfrm>
              <a:off x="4171950" y="6153150"/>
              <a:ext cx="7486650" cy="400050"/>
            </a:xfrm>
            <a:prstGeom prst="roundRect">
              <a:avLst>
                <a:gd name="adj" fmla="val 14286"/>
              </a:avLst>
            </a:prstGeom>
            <a:solidFill>
              <a:srgbClr val="EAF1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913297" y="6272689"/>
              <a:ext cx="600395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F5EFF"/>
                  </a:solidFill>
                  <a:latin typeface="Arial"/>
                  <a:ea typeface="Microsoft YaHei"/>
                  <a:cs typeface="Arial"/>
                </a:rPr>
                <a:t>因此最终路线强调：低维手工动态特征 + 浅层模型 + 多路融合 + 指标校准。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521970" y="64369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4A6"/>
                </a:solidFill>
                <a:latin typeface="Consolas"/>
                <a:ea typeface="Microsoft YaHei"/>
                <a:cs typeface="Consolas"/>
              </a:rPr>
              <a:t>04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59" grpId="0"/>
      <p:bldP spid="6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3F6F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77000" y="1200150"/>
              <a:ext cx="5334000" cy="1943100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>
            <a:off x="464820" y="493395"/>
            <a:ext cx="6358509" cy="840105"/>
            <a:chOff x="464820" y="493395"/>
            <a:chExt cx="6358509" cy="840105"/>
          </a:xfrm>
        </p:grpSpPr>
        <p:sp>
          <p:nvSpPr>
            <p:cNvPr id="5" name="TextBox 5"/>
            <p:cNvSpPr txBox="1"/>
            <p:nvPr/>
          </p:nvSpPr>
          <p:spPr>
            <a:xfrm>
              <a:off x="483870" y="493395"/>
              <a:ext cx="11696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EFF"/>
                  </a:solidFill>
                  <a:latin typeface="Consolas"/>
                  <a:ea typeface="Microsoft YaHei"/>
                  <a:cs typeface="Consolas"/>
                </a:rPr>
                <a:t>METHOD EVOLUTION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64820" y="693420"/>
              <a:ext cx="461664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方法演进主线：从主干到最终融合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80060" y="1089660"/>
              <a:ext cx="63432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语音探索是独立技术线，但最终有效主线主要来自 IMU/人格、面部动态、校准和分类头。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95300" y="1638300"/>
            <a:ext cx="5524500" cy="4095750"/>
            <a:chOff x="495300" y="1638300"/>
            <a:chExt cx="5524500" cy="4095750"/>
          </a:xfrm>
        </p:grpSpPr>
        <p:sp>
          <p:nvSpPr>
            <p:cNvPr id="9" name="Rectangle 9"/>
            <p:cNvSpPr/>
            <p:nvPr/>
          </p:nvSpPr>
          <p:spPr>
            <a:xfrm>
              <a:off x="495300" y="1638300"/>
              <a:ext cx="5524500" cy="4095750"/>
            </a:xfrm>
            <a:prstGeom prst="roundRect">
              <a:avLst>
                <a:gd name="adj" fmla="val 1860"/>
              </a:avLst>
            </a:prstGeom>
            <a:solidFill>
              <a:srgbClr val="FFFFFF"/>
            </a:solidFill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2950" y="18383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八个阶段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723900" y="2305050"/>
              <a:ext cx="3405901" cy="314325"/>
              <a:chOff x="723900" y="2305050"/>
              <a:chExt cx="3405901" cy="314325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723900" y="2305050"/>
                <a:ext cx="304800" cy="3048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830216" y="2407920"/>
                <a:ext cx="921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0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65860" y="2375535"/>
                <a:ext cx="109741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ORIG baseline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186112" y="2383631"/>
                <a:ext cx="94368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2563EB"/>
                    </a:solidFill>
                    <a:latin typeface="Consolas"/>
                    <a:ea typeface="Microsoft YaHei"/>
                    <a:cs typeface="Consolas"/>
                  </a:rPr>
                  <a:t>Score ≈ 0.67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723900" y="2743200"/>
              <a:ext cx="3609975" cy="314325"/>
              <a:chOff x="723900" y="2743200"/>
              <a:chExt cx="3609975" cy="314325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723900" y="2743200"/>
                <a:ext cx="304800" cy="3048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45968" y="2846070"/>
                <a:ext cx="606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1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65860" y="2813685"/>
                <a:ext cx="103860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初期融合筛选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187065" y="2829878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验证互补性与冗余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23900" y="3181350"/>
              <a:ext cx="3368397" cy="314325"/>
              <a:chOff x="723900" y="3181350"/>
              <a:chExt cx="3368397" cy="314325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723900" y="3181350"/>
                <a:ext cx="304800" cy="304800"/>
              </a:xfrm>
              <a:prstGeom prst="ellipse">
                <a:avLst/>
              </a:prstGeom>
              <a:solidFill>
                <a:srgbClr val="0E9F6E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30216" y="3284220"/>
                <a:ext cx="921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2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165860" y="3251835"/>
                <a:ext cx="9882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面部 AU 突破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186112" y="3259931"/>
                <a:ext cx="9061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0E9F6E"/>
                    </a:solidFill>
                    <a:latin typeface="Consolas"/>
                    <a:ea typeface="Microsoft YaHei"/>
                    <a:cs typeface="Consolas"/>
                  </a:rPr>
                  <a:t>Score ≈ 0.71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723900" y="3619500"/>
              <a:ext cx="3651980" cy="314325"/>
              <a:chOff x="723900" y="3619500"/>
              <a:chExt cx="3651980" cy="314325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723900" y="3619500"/>
                <a:ext cx="304800" cy="304800"/>
              </a:xfrm>
              <a:prstGeom prst="ellipse">
                <a:avLst/>
              </a:prstGeom>
              <a:solidFill>
                <a:srgbClr val="0E9F6E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30216" y="3722370"/>
                <a:ext cx="921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3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165860" y="3689985"/>
                <a:ext cx="13074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四路面部 ranker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187065" y="3706178"/>
                <a:ext cx="11888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速度 / 疲劳 / 频谱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723900" y="4057650"/>
              <a:ext cx="3240881" cy="314325"/>
              <a:chOff x="723900" y="4057650"/>
              <a:chExt cx="3240881" cy="314325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723900" y="4057650"/>
                <a:ext cx="304800" cy="304800"/>
              </a:xfrm>
              <a:prstGeom prst="ellipse">
                <a:avLst/>
              </a:prstGeom>
              <a:solidFill>
                <a:srgbClr val="7C3AED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30216" y="4160520"/>
                <a:ext cx="921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1165860" y="4128135"/>
                <a:ext cx="103020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CCC 方差校准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186112" y="4136231"/>
                <a:ext cx="77866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7C3AED"/>
                    </a:solidFill>
                    <a:latin typeface="Consolas"/>
                    <a:ea typeface="Microsoft YaHei"/>
                    <a:cs typeface="Consolas"/>
                  </a:rPr>
                  <a:t>CCC ≈ 0.88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723900" y="4495800"/>
              <a:ext cx="3405901" cy="314325"/>
              <a:chOff x="723900" y="4495800"/>
              <a:chExt cx="3405901" cy="314325"/>
            </a:xfrm>
          </p:grpSpPr>
          <p:sp>
            <p:nvSpPr>
              <p:cNvPr id="36" name="Ellipse 36"/>
              <p:cNvSpPr/>
              <p:nvPr/>
            </p:nvSpPr>
            <p:spPr>
              <a:xfrm>
                <a:off x="723900" y="4495800"/>
                <a:ext cx="304800" cy="304800"/>
              </a:xfrm>
              <a:prstGeom prst="ellipse">
                <a:avLst/>
              </a:prstGeom>
              <a:solidFill>
                <a:srgbClr val="7C3AED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30216" y="4598670"/>
                <a:ext cx="921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5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165860" y="4566285"/>
                <a:ext cx="8705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独立分类头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186112" y="4574381"/>
                <a:ext cx="94368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7C3AED"/>
                    </a:solidFill>
                    <a:latin typeface="Consolas"/>
                    <a:ea typeface="Microsoft YaHei"/>
                    <a:cs typeface="Consolas"/>
                  </a:rPr>
                  <a:t>Score ≈ 0.83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723900" y="4933950"/>
              <a:ext cx="3602974" cy="314325"/>
              <a:chOff x="723900" y="4933950"/>
              <a:chExt cx="3602974" cy="314325"/>
            </a:xfrm>
          </p:grpSpPr>
          <p:sp>
            <p:nvSpPr>
              <p:cNvPr id="41" name="Ellipse 41"/>
              <p:cNvSpPr/>
              <p:nvPr/>
            </p:nvSpPr>
            <p:spPr>
              <a:xfrm>
                <a:off x="723900" y="4933950"/>
                <a:ext cx="304800" cy="304800"/>
              </a:xfrm>
              <a:prstGeom prst="ellipse">
                <a:avLst/>
              </a:prstGeom>
              <a:solidFill>
                <a:srgbClr val="F59E0B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30216" y="5036820"/>
                <a:ext cx="921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6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165860" y="5004435"/>
                <a:ext cx="103860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语音系统探索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3187065" y="5020628"/>
                <a:ext cx="11398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声学 / 嵌入 / ASR</a:t>
                </a: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723900" y="5372100"/>
              <a:ext cx="3405901" cy="314325"/>
              <a:chOff x="723900" y="5372100"/>
              <a:chExt cx="3405901" cy="314325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723900" y="5372100"/>
                <a:ext cx="304800" cy="304800"/>
              </a:xfrm>
              <a:prstGeom prst="ellipse">
                <a:avLst/>
              </a:prstGeom>
              <a:solidFill>
                <a:srgbClr val="16A34A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30216" y="5474970"/>
                <a:ext cx="9216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Consolas"/>
                    <a:ea typeface="Microsoft YaHei"/>
                    <a:cs typeface="Consolas"/>
                  </a:rPr>
                  <a:t>7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165860" y="5442585"/>
                <a:ext cx="120662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最终可复现管线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3186112" y="5450681"/>
                <a:ext cx="94368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16A34A"/>
                    </a:solidFill>
                    <a:latin typeface="Consolas"/>
                    <a:ea typeface="Microsoft YaHei"/>
                    <a:cs typeface="Consolas"/>
                  </a:rPr>
                  <a:t>Score ≈ 0.87</a:t>
                </a:r>
              </a:p>
            </p:txBody>
          </p:sp>
        </p:grpSp>
      </p:grpSp>
      <p:grpSp>
        <p:nvGrpSpPr>
          <p:cNvPr id="59" name="Group 59"/>
          <p:cNvGrpSpPr/>
          <p:nvPr/>
        </p:nvGrpSpPr>
        <p:grpSpPr>
          <a:xfrm>
            <a:off x="6477000" y="3429000"/>
            <a:ext cx="5219700" cy="2324100"/>
            <a:chOff x="6477000" y="3429000"/>
            <a:chExt cx="5219700" cy="2324100"/>
          </a:xfrm>
        </p:grpSpPr>
        <p:sp>
          <p:nvSpPr>
            <p:cNvPr id="52" name="Rectangle 52"/>
            <p:cNvSpPr/>
            <p:nvPr/>
          </p:nvSpPr>
          <p:spPr>
            <a:xfrm>
              <a:off x="6477000" y="3429000"/>
              <a:ext cx="5219700" cy="2305050"/>
            </a:xfrm>
            <a:prstGeom prst="roundRect">
              <a:avLst>
                <a:gd name="adj" fmla="val 3306"/>
              </a:avLst>
            </a:prstGeom>
            <a:solidFill>
              <a:srgbClr val="F8FAFC"/>
            </a:solidFill>
            <a:ln w="10795">
              <a:solidFill>
                <a:srgbClr val="CBD5E1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741795" y="3631882"/>
              <a:ext cx="126957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6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核心探索问题</a:t>
              </a:r>
              <a:endParaRPr lang="zh-CN" sz="16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747510" y="4080510"/>
              <a:ext cx="298318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84 次提交，每次阶段跃迁背后的技术原因：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976110" y="4480560"/>
              <a:ext cx="22547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1. 为什么 ORIG 稳定但上限有限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976110" y="4823460"/>
              <a:ext cx="21747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47857"/>
                  </a:solidFill>
                  <a:latin typeface="Arial"/>
                  <a:ea typeface="Microsoft YaHei"/>
                  <a:cs typeface="Arial"/>
                </a:rPr>
                <a:t>2. 为什么面部动态是关键突破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76110" y="5166360"/>
              <a:ext cx="26548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3. 为什么校准和分类头带来后期提升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976110" y="5509260"/>
              <a:ext cx="281482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B45309"/>
                  </a:solidFill>
                  <a:latin typeface="Arial"/>
                  <a:ea typeface="Microsoft YaHei"/>
                  <a:cs typeface="Arial"/>
                </a:rPr>
                <a:t>4. 为什么语音探索有价值但未稳定泛化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483870" y="64369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4A6"/>
                </a:solidFill>
                <a:latin typeface="Consolas"/>
                <a:ea typeface="Microsoft YaHei"/>
                <a:cs typeface="Consolas"/>
              </a:rPr>
              <a:t>05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3F6F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" name="Freeform 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1428750"/>
                  </a:moveTo>
                  <a:lnTo>
                    <a:pt x="12192000" y="1428750"/>
                  </a:lnTo>
                  <a:moveTo>
                    <a:pt x="0" y="3143250"/>
                  </a:moveTo>
                  <a:lnTo>
                    <a:pt x="12192000" y="3143250"/>
                  </a:lnTo>
                  <a:moveTo>
                    <a:pt x="0" y="4857750"/>
                  </a:moveTo>
                  <a:lnTo>
                    <a:pt x="12192000" y="4857750"/>
                  </a:lnTo>
                  <a:moveTo>
                    <a:pt x="2000250" y="0"/>
                  </a:moveTo>
                  <a:lnTo>
                    <a:pt x="2000250" y="6858000"/>
                  </a:lnTo>
                  <a:moveTo>
                    <a:pt x="4095750" y="0"/>
                  </a:moveTo>
                  <a:lnTo>
                    <a:pt x="4095750" y="6858000"/>
                  </a:lnTo>
                  <a:moveTo>
                    <a:pt x="6191250" y="0"/>
                  </a:moveTo>
                  <a:lnTo>
                    <a:pt x="6191250" y="6858000"/>
                  </a:lnTo>
                  <a:moveTo>
                    <a:pt x="8286750" y="0"/>
                  </a:moveTo>
                  <a:lnTo>
                    <a:pt x="8286750" y="6858000"/>
                  </a:lnTo>
                  <a:moveTo>
                    <a:pt x="10382250" y="0"/>
                  </a:moveTo>
                  <a:lnTo>
                    <a:pt x="10382250" y="6858000"/>
                  </a:lnTo>
                </a:path>
              </a:pathLst>
            </a:custGeom>
            <a:solidFill>
              <a:srgbClr val="000000"/>
            </a:solidFill>
            <a:ln w="5715">
              <a:solidFill>
                <a:srgbClr val="D8E0EA">
                  <a:alpha val="32000"/>
                </a:srgbClr>
              </a:solidFill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64820" y="493395"/>
            <a:ext cx="5486400" cy="840105"/>
            <a:chOff x="464820" y="493395"/>
            <a:chExt cx="5486400" cy="840105"/>
          </a:xfrm>
        </p:grpSpPr>
        <p:sp>
          <p:nvSpPr>
            <p:cNvPr id="5" name="TextBox 5"/>
            <p:cNvSpPr txBox="1"/>
            <p:nvPr/>
          </p:nvSpPr>
          <p:spPr>
            <a:xfrm>
              <a:off x="483870" y="493395"/>
              <a:ext cx="14531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2563EB"/>
                  </a:solidFill>
                  <a:latin typeface="Consolas"/>
                  <a:ea typeface="Microsoft YaHei"/>
                  <a:cs typeface="Consolas"/>
                </a:rPr>
                <a:t>STAGE 0 / ORIG BASELINE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64820" y="693420"/>
              <a:ext cx="501758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IMU + 人格有序回归提供稳定主干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80060" y="1089660"/>
              <a:ext cx="54711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先构建低维、可复现、不过拟合的主干，再讨论其它模态是否带来互补信息。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14350" y="1714499"/>
            <a:ext cx="11163300" cy="3228975"/>
            <a:chOff x="514350" y="1714499"/>
            <a:chExt cx="11163300" cy="3228975"/>
          </a:xfrm>
        </p:grpSpPr>
        <p:sp>
          <p:nvSpPr>
            <p:cNvPr id="9" name="Rectangle 9"/>
            <p:cNvSpPr/>
            <p:nvPr/>
          </p:nvSpPr>
          <p:spPr>
            <a:xfrm>
              <a:off x="514350" y="1714499"/>
              <a:ext cx="11163300" cy="3228975"/>
            </a:xfrm>
            <a:prstGeom prst="roundRect">
              <a:avLst>
                <a:gd name="adj" fmla="val 5435"/>
              </a:avLst>
            </a:prstGeom>
            <a:solidFill>
              <a:srgbClr val="FFFFFF"/>
            </a:solidFill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800100" y="2076450"/>
              <a:ext cx="2476500" cy="1009650"/>
              <a:chOff x="800100" y="2076450"/>
              <a:chExt cx="2476500" cy="10096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800100" y="2076450"/>
                <a:ext cx="2476500" cy="1009650"/>
              </a:xfrm>
              <a:prstGeom prst="roundRect">
                <a:avLst>
                  <a:gd name="adj" fmla="val 7547"/>
                </a:avLst>
              </a:prstGeom>
              <a:solidFill>
                <a:srgbClr val="EAF1FF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13" name="Group 13"/>
              <p:cNvGrpSpPr/>
              <p:nvPr/>
            </p:nvGrpSpPr>
            <p:grpSpPr>
              <a:xfrm>
                <a:off x="1090155" y="2349103"/>
                <a:ext cx="276087" cy="350048"/>
                <a:chOff x="1090155" y="2349103"/>
                <a:chExt cx="276087" cy="350048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1228725" y="2361605"/>
                  <a:ext cx="75009" cy="750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009" h="75009">
                      <a:moveTo>
                        <a:pt x="75009" y="37505"/>
                      </a:moveTo>
                      <a:cubicBezTo>
                        <a:pt x="75009" y="58218"/>
                        <a:pt x="58218" y="75009"/>
                        <a:pt x="37505" y="75009"/>
                      </a:cubicBezTo>
                      <a:cubicBezTo>
                        <a:pt x="16791" y="75009"/>
                        <a:pt x="0" y="58218"/>
                        <a:pt x="0" y="37505"/>
                      </a:cubicBezTo>
                      <a:cubicBezTo>
                        <a:pt x="0" y="16791"/>
                        <a:pt x="16791" y="0"/>
                        <a:pt x="37505" y="0"/>
                      </a:cubicBezTo>
                      <a:cubicBezTo>
                        <a:pt x="58218" y="0"/>
                        <a:pt x="75009" y="16791"/>
                        <a:pt x="75009" y="37505"/>
                      </a:cubicBezTo>
                      <a:close/>
                    </a:path>
                  </a:pathLst>
                </a:custGeom>
                <a:solidFill>
                  <a:srgbClr val="2563EB">
                    <a:alpha val="20000"/>
                  </a:srgbClr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12" name="Freeform 12"/>
                <p:cNvSpPr/>
                <p:nvPr/>
              </p:nvSpPr>
              <p:spPr>
                <a:xfrm>
                  <a:off x="1090155" y="2349103"/>
                  <a:ext cx="276087" cy="350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087" h="350048">
                      <a:moveTo>
                        <a:pt x="176075" y="100012"/>
                      </a:moveTo>
                      <a:cubicBezTo>
                        <a:pt x="203692" y="100012"/>
                        <a:pt x="226081" y="77624"/>
                        <a:pt x="226081" y="50006"/>
                      </a:cubicBezTo>
                      <a:cubicBezTo>
                        <a:pt x="226081" y="22389"/>
                        <a:pt x="203692" y="0"/>
                        <a:pt x="176075" y="0"/>
                      </a:cubicBezTo>
                      <a:cubicBezTo>
                        <a:pt x="148457" y="0"/>
                        <a:pt x="126068" y="22389"/>
                        <a:pt x="126068" y="50006"/>
                      </a:cubicBezTo>
                      <a:cubicBezTo>
                        <a:pt x="126068" y="77624"/>
                        <a:pt x="148457" y="100012"/>
                        <a:pt x="176075" y="100012"/>
                      </a:cubicBezTo>
                      <a:close/>
                      <a:moveTo>
                        <a:pt x="176075" y="25003"/>
                      </a:moveTo>
                      <a:cubicBezTo>
                        <a:pt x="189883" y="25003"/>
                        <a:pt x="201078" y="36197"/>
                        <a:pt x="201078" y="50006"/>
                      </a:cubicBezTo>
                      <a:cubicBezTo>
                        <a:pt x="201078" y="63815"/>
                        <a:pt x="189883" y="75009"/>
                        <a:pt x="176075" y="75009"/>
                      </a:cubicBezTo>
                      <a:cubicBezTo>
                        <a:pt x="162266" y="75009"/>
                        <a:pt x="151072" y="63815"/>
                        <a:pt x="151072" y="50006"/>
                      </a:cubicBezTo>
                      <a:cubicBezTo>
                        <a:pt x="151072" y="36197"/>
                        <a:pt x="162266" y="25003"/>
                        <a:pt x="176075" y="25003"/>
                      </a:cubicBezTo>
                      <a:close/>
                      <a:moveTo>
                        <a:pt x="276087" y="200025"/>
                      </a:moveTo>
                      <a:cubicBezTo>
                        <a:pt x="276087" y="206929"/>
                        <a:pt x="270490" y="212527"/>
                        <a:pt x="263586" y="212527"/>
                      </a:cubicBezTo>
                      <a:cubicBezTo>
                        <a:pt x="208407" y="212527"/>
                        <a:pt x="180841" y="184695"/>
                        <a:pt x="158697" y="162333"/>
                      </a:cubicBezTo>
                      <a:cubicBezTo>
                        <a:pt x="154416" y="158004"/>
                        <a:pt x="150321" y="153894"/>
                        <a:pt x="146196" y="150081"/>
                      </a:cubicBezTo>
                      <a:lnTo>
                        <a:pt x="125209" y="198337"/>
                      </a:lnTo>
                      <a:lnTo>
                        <a:pt x="183341" y="239858"/>
                      </a:lnTo>
                      <a:cubicBezTo>
                        <a:pt x="186627" y="242205"/>
                        <a:pt x="188576" y="245994"/>
                        <a:pt x="188576" y="250031"/>
                      </a:cubicBezTo>
                      <a:lnTo>
                        <a:pt x="188576" y="337542"/>
                      </a:lnTo>
                      <a:cubicBezTo>
                        <a:pt x="188576" y="344447"/>
                        <a:pt x="182979" y="350044"/>
                        <a:pt x="176075" y="350044"/>
                      </a:cubicBezTo>
                      <a:cubicBezTo>
                        <a:pt x="169170" y="350044"/>
                        <a:pt x="163573" y="344447"/>
                        <a:pt x="163573" y="337542"/>
                      </a:cubicBezTo>
                      <a:lnTo>
                        <a:pt x="163573" y="256470"/>
                      </a:lnTo>
                      <a:lnTo>
                        <a:pt x="115020" y="221778"/>
                      </a:lnTo>
                      <a:lnTo>
                        <a:pt x="62529" y="342527"/>
                      </a:lnTo>
                      <a:cubicBezTo>
                        <a:pt x="60544" y="347093"/>
                        <a:pt x="56038" y="350046"/>
                        <a:pt x="51059" y="350044"/>
                      </a:cubicBezTo>
                      <a:cubicBezTo>
                        <a:pt x="49342" y="350048"/>
                        <a:pt x="47644" y="349691"/>
                        <a:pt x="46074" y="348997"/>
                      </a:cubicBezTo>
                      <a:cubicBezTo>
                        <a:pt x="39746" y="346246"/>
                        <a:pt x="36843" y="338888"/>
                        <a:pt x="39589" y="332557"/>
                      </a:cubicBezTo>
                      <a:lnTo>
                        <a:pt x="124099" y="138205"/>
                      </a:lnTo>
                      <a:cubicBezTo>
                        <a:pt x="109551" y="135626"/>
                        <a:pt x="91408" y="140080"/>
                        <a:pt x="69874" y="151613"/>
                      </a:cubicBezTo>
                      <a:cubicBezTo>
                        <a:pt x="52700" y="161086"/>
                        <a:pt x="36671" y="172501"/>
                        <a:pt x="22102" y="185633"/>
                      </a:cubicBezTo>
                      <a:cubicBezTo>
                        <a:pt x="17045" y="190163"/>
                        <a:pt x="9296" y="189828"/>
                        <a:pt x="4648" y="184879"/>
                      </a:cubicBezTo>
                      <a:cubicBezTo>
                        <a:pt x="0" y="179929"/>
                        <a:pt x="152" y="172175"/>
                        <a:pt x="4991" y="167412"/>
                      </a:cubicBezTo>
                      <a:cubicBezTo>
                        <a:pt x="8897" y="163739"/>
                        <a:pt x="101393" y="77994"/>
                        <a:pt x="159260" y="128219"/>
                      </a:cubicBezTo>
                      <a:cubicBezTo>
                        <a:pt x="165245" y="133407"/>
                        <a:pt x="170949" y="139158"/>
                        <a:pt x="176450" y="144752"/>
                      </a:cubicBezTo>
                      <a:cubicBezTo>
                        <a:pt x="198249" y="166740"/>
                        <a:pt x="218830" y="187523"/>
                        <a:pt x="263586" y="187523"/>
                      </a:cubicBezTo>
                      <a:cubicBezTo>
                        <a:pt x="270490" y="187523"/>
                        <a:pt x="276087" y="193121"/>
                        <a:pt x="276087" y="200025"/>
                      </a:cubicBezTo>
                      <a:close/>
                    </a:path>
                  </a:pathLst>
                </a:custGeom>
                <a:solidFill>
                  <a:srgbClr val="2563EB"/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543050" y="2257425"/>
                <a:ext cx="85720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IMU 步态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548765" y="257270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只取前三维加速度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549718" y="2809399"/>
                <a:ext cx="75285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563EB"/>
                    </a:solidFill>
                    <a:latin typeface="Consolas"/>
                    <a:ea typeface="Microsoft YaHei"/>
                    <a:cs typeface="Consolas"/>
                  </a:rPr>
                  <a:t>ax / ay / az</a:t>
                </a:r>
              </a:p>
            </p:txBody>
          </p:sp>
        </p:grpSp>
        <p:sp>
          <p:nvSpPr>
            <p:cNvPr id="18" name="Line 18"/>
            <p:cNvSpPr/>
            <p:nvPr/>
          </p:nvSpPr>
          <p:spPr>
            <a:xfrm>
              <a:off x="3276600" y="2590800"/>
              <a:ext cx="628650" cy="1"/>
            </a:xfrm>
            <a:prstGeom prst="line">
              <a:avLst/>
            </a:prstGeom>
            <a:noFill/>
            <a:ln w="28575">
              <a:solidFill>
                <a:srgbClr val="2563EB"/>
              </a:solidFill>
              <a:tailEnd type="triangle" w="lg" len="lg"/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3981450" y="1962150"/>
              <a:ext cx="2686050" cy="1257300"/>
              <a:chOff x="3981450" y="1962150"/>
              <a:chExt cx="2686050" cy="12573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3981450" y="1962150"/>
                <a:ext cx="2686050" cy="1257300"/>
              </a:xfrm>
              <a:prstGeom prst="roundRect">
                <a:avLst>
                  <a:gd name="adj" fmla="val 6061"/>
                </a:avLst>
              </a:prstGeom>
              <a:solidFill>
                <a:srgbClr val="F3F6FB"/>
              </a:solidFill>
              <a:ln w="9525">
                <a:solidFill>
                  <a:srgbClr val="D8E0EA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230052" y="2094071"/>
                <a:ext cx="1572537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约 33 维步态特征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234815" y="2420302"/>
                <a:ext cx="186790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频带能量比例 · 自相关周期性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234815" y="2648902"/>
                <a:ext cx="158786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步伐峰间隔 · 三轴相关性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234815" y="287750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合加速度幅值统计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800100" y="3790950"/>
              <a:ext cx="2476500" cy="1009650"/>
              <a:chOff x="800100" y="3790950"/>
              <a:chExt cx="2476500" cy="10096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800100" y="3790950"/>
                <a:ext cx="2476500" cy="1009650"/>
              </a:xfrm>
              <a:prstGeom prst="roundRect">
                <a:avLst>
                  <a:gd name="adj" fmla="val 7547"/>
                </a:avLst>
              </a:prstGeom>
              <a:solidFill>
                <a:srgbClr val="EAF1FF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28" name="Group 28"/>
              <p:cNvGrpSpPr/>
              <p:nvPr/>
            </p:nvGrpSpPr>
            <p:grpSpPr>
              <a:xfrm>
                <a:off x="1075625" y="4051102"/>
                <a:ext cx="306201" cy="367744"/>
                <a:chOff x="1075625" y="4051102"/>
                <a:chExt cx="306201" cy="367744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1089357" y="4063603"/>
                  <a:ext cx="278767" cy="339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767" h="339875">
                      <a:moveTo>
                        <a:pt x="101863" y="37505"/>
                      </a:moveTo>
                      <a:cubicBezTo>
                        <a:pt x="101863" y="16791"/>
                        <a:pt x="118655" y="0"/>
                        <a:pt x="139368" y="0"/>
                      </a:cubicBezTo>
                      <a:cubicBezTo>
                        <a:pt x="160081" y="0"/>
                        <a:pt x="176873" y="16791"/>
                        <a:pt x="176873" y="37505"/>
                      </a:cubicBezTo>
                      <a:cubicBezTo>
                        <a:pt x="176873" y="58218"/>
                        <a:pt x="160081" y="75009"/>
                        <a:pt x="139368" y="75009"/>
                      </a:cubicBezTo>
                      <a:cubicBezTo>
                        <a:pt x="118655" y="75009"/>
                        <a:pt x="101863" y="58218"/>
                        <a:pt x="101863" y="37505"/>
                      </a:cubicBezTo>
                      <a:close/>
                      <a:moveTo>
                        <a:pt x="271400" y="193008"/>
                      </a:moveTo>
                      <a:lnTo>
                        <a:pt x="200579" y="112717"/>
                      </a:lnTo>
                      <a:cubicBezTo>
                        <a:pt x="193461" y="104642"/>
                        <a:pt x="183215" y="100014"/>
                        <a:pt x="172450" y="100012"/>
                      </a:cubicBezTo>
                      <a:lnTo>
                        <a:pt x="106286" y="100012"/>
                      </a:lnTo>
                      <a:cubicBezTo>
                        <a:pt x="95521" y="100014"/>
                        <a:pt x="85276" y="104642"/>
                        <a:pt x="78157" y="112717"/>
                      </a:cubicBezTo>
                      <a:lnTo>
                        <a:pt x="7336" y="193008"/>
                      </a:lnTo>
                      <a:cubicBezTo>
                        <a:pt x="0" y="200344"/>
                        <a:pt x="0" y="212238"/>
                        <a:pt x="7336" y="219574"/>
                      </a:cubicBezTo>
                      <a:cubicBezTo>
                        <a:pt x="14672" y="226910"/>
                        <a:pt x="26566" y="226910"/>
                        <a:pt x="33902" y="219574"/>
                      </a:cubicBezTo>
                      <a:lnTo>
                        <a:pt x="89362" y="175022"/>
                      </a:lnTo>
                      <a:lnTo>
                        <a:pt x="53623" y="310867"/>
                      </a:lnTo>
                      <a:cubicBezTo>
                        <a:pt x="49424" y="320220"/>
                        <a:pt x="53515" y="331211"/>
                        <a:pt x="62807" y="335543"/>
                      </a:cubicBezTo>
                      <a:cubicBezTo>
                        <a:pt x="72099" y="339875"/>
                        <a:pt x="83147" y="335942"/>
                        <a:pt x="87612" y="326713"/>
                      </a:cubicBezTo>
                      <a:lnTo>
                        <a:pt x="139368" y="237530"/>
                      </a:lnTo>
                      <a:lnTo>
                        <a:pt x="191125" y="326713"/>
                      </a:lnTo>
                      <a:cubicBezTo>
                        <a:pt x="195589" y="335942"/>
                        <a:pt x="206637" y="339875"/>
                        <a:pt x="215929" y="335543"/>
                      </a:cubicBezTo>
                      <a:cubicBezTo>
                        <a:pt x="225221" y="331211"/>
                        <a:pt x="229312" y="320220"/>
                        <a:pt x="225113" y="310867"/>
                      </a:cubicBezTo>
                      <a:lnTo>
                        <a:pt x="189374" y="175022"/>
                      </a:lnTo>
                      <a:lnTo>
                        <a:pt x="244866" y="219543"/>
                      </a:lnTo>
                      <a:cubicBezTo>
                        <a:pt x="252202" y="226879"/>
                        <a:pt x="264096" y="226879"/>
                        <a:pt x="271431" y="219543"/>
                      </a:cubicBezTo>
                      <a:cubicBezTo>
                        <a:pt x="278767" y="212207"/>
                        <a:pt x="278767" y="200313"/>
                        <a:pt x="271431" y="192977"/>
                      </a:cubicBezTo>
                      <a:close/>
                    </a:path>
                  </a:pathLst>
                </a:custGeom>
                <a:solidFill>
                  <a:srgbClr val="2563EB">
                    <a:alpha val="20000"/>
                  </a:srgbClr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7" name="Freeform 27"/>
                <p:cNvSpPr/>
                <p:nvPr/>
              </p:nvSpPr>
              <p:spPr>
                <a:xfrm>
                  <a:off x="1075625" y="4051102"/>
                  <a:ext cx="306201" cy="3677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201" h="367744">
                      <a:moveTo>
                        <a:pt x="203107" y="50006"/>
                      </a:moveTo>
                      <a:cubicBezTo>
                        <a:pt x="203107" y="22389"/>
                        <a:pt x="180718" y="0"/>
                        <a:pt x="153100" y="0"/>
                      </a:cubicBezTo>
                      <a:cubicBezTo>
                        <a:pt x="125483" y="0"/>
                        <a:pt x="103094" y="22389"/>
                        <a:pt x="103094" y="50006"/>
                      </a:cubicBezTo>
                      <a:cubicBezTo>
                        <a:pt x="103094" y="77624"/>
                        <a:pt x="125483" y="100012"/>
                        <a:pt x="153100" y="100012"/>
                      </a:cubicBezTo>
                      <a:cubicBezTo>
                        <a:pt x="180718" y="100012"/>
                        <a:pt x="203107" y="77624"/>
                        <a:pt x="203107" y="50006"/>
                      </a:cubicBezTo>
                      <a:close/>
                      <a:moveTo>
                        <a:pt x="153100" y="75009"/>
                      </a:moveTo>
                      <a:cubicBezTo>
                        <a:pt x="139291" y="75009"/>
                        <a:pt x="128097" y="63815"/>
                        <a:pt x="128097" y="50006"/>
                      </a:cubicBezTo>
                      <a:cubicBezTo>
                        <a:pt x="128097" y="36197"/>
                        <a:pt x="139291" y="25003"/>
                        <a:pt x="153100" y="25003"/>
                      </a:cubicBezTo>
                      <a:cubicBezTo>
                        <a:pt x="166909" y="25003"/>
                        <a:pt x="178103" y="36197"/>
                        <a:pt x="178103" y="50006"/>
                      </a:cubicBezTo>
                      <a:cubicBezTo>
                        <a:pt x="178103" y="63815"/>
                        <a:pt x="166909" y="75009"/>
                        <a:pt x="153100" y="75009"/>
                      </a:cubicBezTo>
                      <a:close/>
                      <a:moveTo>
                        <a:pt x="294274" y="196978"/>
                      </a:moveTo>
                      <a:lnTo>
                        <a:pt x="223687" y="116936"/>
                      </a:lnTo>
                      <a:cubicBezTo>
                        <a:pt x="214193" y="106175"/>
                        <a:pt x="200533" y="100011"/>
                        <a:pt x="186183" y="100012"/>
                      </a:cubicBezTo>
                      <a:lnTo>
                        <a:pt x="120018" y="100012"/>
                      </a:lnTo>
                      <a:cubicBezTo>
                        <a:pt x="105667" y="100011"/>
                        <a:pt x="92007" y="106175"/>
                        <a:pt x="82513" y="116936"/>
                      </a:cubicBezTo>
                      <a:lnTo>
                        <a:pt x="11926" y="196978"/>
                      </a:lnTo>
                      <a:cubicBezTo>
                        <a:pt x="0" y="209175"/>
                        <a:pt x="58" y="228683"/>
                        <a:pt x="12057" y="240810"/>
                      </a:cubicBezTo>
                      <a:cubicBezTo>
                        <a:pt x="24055" y="252937"/>
                        <a:pt x="43561" y="253202"/>
                        <a:pt x="55885" y="241405"/>
                      </a:cubicBezTo>
                      <a:lnTo>
                        <a:pt x="81357" y="220965"/>
                      </a:lnTo>
                      <a:lnTo>
                        <a:pt x="55510" y="319227"/>
                      </a:lnTo>
                      <a:cubicBezTo>
                        <a:pt x="48381" y="334957"/>
                        <a:pt x="55353" y="353487"/>
                        <a:pt x="71082" y="360615"/>
                      </a:cubicBezTo>
                      <a:cubicBezTo>
                        <a:pt x="86811" y="367744"/>
                        <a:pt x="105341" y="360772"/>
                        <a:pt x="112470" y="345043"/>
                      </a:cubicBezTo>
                      <a:lnTo>
                        <a:pt x="153100" y="274925"/>
                      </a:lnTo>
                      <a:lnTo>
                        <a:pt x="193730" y="345043"/>
                      </a:lnTo>
                      <a:cubicBezTo>
                        <a:pt x="201166" y="360220"/>
                        <a:pt x="219320" y="366737"/>
                        <a:pt x="234711" y="359754"/>
                      </a:cubicBezTo>
                      <a:cubicBezTo>
                        <a:pt x="250101" y="352771"/>
                        <a:pt x="257153" y="334818"/>
                        <a:pt x="250628" y="319227"/>
                      </a:cubicBezTo>
                      <a:lnTo>
                        <a:pt x="224844" y="220965"/>
                      </a:lnTo>
                      <a:lnTo>
                        <a:pt x="250316" y="241405"/>
                      </a:lnTo>
                      <a:cubicBezTo>
                        <a:pt x="262639" y="253202"/>
                        <a:pt x="282145" y="252937"/>
                        <a:pt x="294144" y="240810"/>
                      </a:cubicBezTo>
                      <a:cubicBezTo>
                        <a:pt x="306143" y="228683"/>
                        <a:pt x="306201" y="209175"/>
                        <a:pt x="294274" y="196978"/>
                      </a:cubicBezTo>
                      <a:close/>
                      <a:moveTo>
                        <a:pt x="276288" y="223184"/>
                      </a:moveTo>
                      <a:cubicBezTo>
                        <a:pt x="275115" y="224358"/>
                        <a:pt x="273524" y="225017"/>
                        <a:pt x="271865" y="225017"/>
                      </a:cubicBezTo>
                      <a:cubicBezTo>
                        <a:pt x="270206" y="225017"/>
                        <a:pt x="268615" y="224358"/>
                        <a:pt x="267443" y="223184"/>
                      </a:cubicBezTo>
                      <a:cubicBezTo>
                        <a:pt x="267115" y="222872"/>
                        <a:pt x="266786" y="222559"/>
                        <a:pt x="266427" y="222278"/>
                      </a:cubicBezTo>
                      <a:lnTo>
                        <a:pt x="210920" y="177772"/>
                      </a:lnTo>
                      <a:cubicBezTo>
                        <a:pt x="206719" y="174419"/>
                        <a:pt x="200845" y="174126"/>
                        <a:pt x="196331" y="177045"/>
                      </a:cubicBezTo>
                      <a:cubicBezTo>
                        <a:pt x="191818" y="179965"/>
                        <a:pt x="189676" y="185442"/>
                        <a:pt x="191011" y="190649"/>
                      </a:cubicBezTo>
                      <a:lnTo>
                        <a:pt x="226766" y="326603"/>
                      </a:lnTo>
                      <a:cubicBezTo>
                        <a:pt x="226950" y="327328"/>
                        <a:pt x="227201" y="328035"/>
                        <a:pt x="227516" y="328713"/>
                      </a:cubicBezTo>
                      <a:cubicBezTo>
                        <a:pt x="228498" y="330742"/>
                        <a:pt x="228310" y="333143"/>
                        <a:pt x="227026" y="334996"/>
                      </a:cubicBezTo>
                      <a:cubicBezTo>
                        <a:pt x="225741" y="336849"/>
                        <a:pt x="223559" y="337867"/>
                        <a:pt x="221314" y="337659"/>
                      </a:cubicBezTo>
                      <a:cubicBezTo>
                        <a:pt x="219069" y="337452"/>
                        <a:pt x="217110" y="336052"/>
                        <a:pt x="216186" y="333995"/>
                      </a:cubicBezTo>
                      <a:cubicBezTo>
                        <a:pt x="216033" y="333657"/>
                        <a:pt x="215861" y="333328"/>
                        <a:pt x="215671" y="333010"/>
                      </a:cubicBezTo>
                      <a:lnTo>
                        <a:pt x="163914" y="243780"/>
                      </a:lnTo>
                      <a:cubicBezTo>
                        <a:pt x="161678" y="239925"/>
                        <a:pt x="157558" y="237552"/>
                        <a:pt x="153100" y="237552"/>
                      </a:cubicBezTo>
                      <a:cubicBezTo>
                        <a:pt x="148643" y="237552"/>
                        <a:pt x="144523" y="239925"/>
                        <a:pt x="142286" y="243780"/>
                      </a:cubicBezTo>
                      <a:lnTo>
                        <a:pt x="90592" y="332932"/>
                      </a:lnTo>
                      <a:cubicBezTo>
                        <a:pt x="90402" y="333250"/>
                        <a:pt x="90230" y="333579"/>
                        <a:pt x="90077" y="333917"/>
                      </a:cubicBezTo>
                      <a:cubicBezTo>
                        <a:pt x="89376" y="335421"/>
                        <a:pt x="88105" y="336585"/>
                        <a:pt x="86545" y="337152"/>
                      </a:cubicBezTo>
                      <a:cubicBezTo>
                        <a:pt x="84168" y="338023"/>
                        <a:pt x="81500" y="337374"/>
                        <a:pt x="79788" y="335508"/>
                      </a:cubicBezTo>
                      <a:cubicBezTo>
                        <a:pt x="78076" y="333643"/>
                        <a:pt x="77659" y="330928"/>
                        <a:pt x="78732" y="328635"/>
                      </a:cubicBezTo>
                      <a:cubicBezTo>
                        <a:pt x="79047" y="327956"/>
                        <a:pt x="79298" y="327250"/>
                        <a:pt x="79482" y="326525"/>
                      </a:cubicBezTo>
                      <a:lnTo>
                        <a:pt x="115189" y="190649"/>
                      </a:lnTo>
                      <a:cubicBezTo>
                        <a:pt x="116525" y="185442"/>
                        <a:pt x="114383" y="179965"/>
                        <a:pt x="109869" y="177045"/>
                      </a:cubicBezTo>
                      <a:cubicBezTo>
                        <a:pt x="105356" y="174126"/>
                        <a:pt x="99482" y="174419"/>
                        <a:pt x="95281" y="177772"/>
                      </a:cubicBezTo>
                      <a:lnTo>
                        <a:pt x="39774" y="222278"/>
                      </a:lnTo>
                      <a:cubicBezTo>
                        <a:pt x="39414" y="222559"/>
                        <a:pt x="39086" y="222872"/>
                        <a:pt x="38758" y="223184"/>
                      </a:cubicBezTo>
                      <a:cubicBezTo>
                        <a:pt x="37195" y="224832"/>
                        <a:pt x="34861" y="225503"/>
                        <a:pt x="32662" y="224935"/>
                      </a:cubicBezTo>
                      <a:cubicBezTo>
                        <a:pt x="30462" y="224368"/>
                        <a:pt x="28744" y="222653"/>
                        <a:pt x="28172" y="220454"/>
                      </a:cubicBezTo>
                      <a:cubicBezTo>
                        <a:pt x="27601" y="218256"/>
                        <a:pt x="28268" y="215921"/>
                        <a:pt x="29913" y="214355"/>
                      </a:cubicBezTo>
                      <a:cubicBezTo>
                        <a:pt x="30101" y="214167"/>
                        <a:pt x="30272" y="213980"/>
                        <a:pt x="30444" y="213777"/>
                      </a:cubicBezTo>
                      <a:lnTo>
                        <a:pt x="101266" y="133470"/>
                      </a:lnTo>
                      <a:cubicBezTo>
                        <a:pt x="106014" y="128092"/>
                        <a:pt x="112844" y="125013"/>
                        <a:pt x="120018" y="125016"/>
                      </a:cubicBezTo>
                      <a:lnTo>
                        <a:pt x="186183" y="125016"/>
                      </a:lnTo>
                      <a:cubicBezTo>
                        <a:pt x="193357" y="125013"/>
                        <a:pt x="200186" y="128092"/>
                        <a:pt x="204935" y="133470"/>
                      </a:cubicBezTo>
                      <a:lnTo>
                        <a:pt x="275756" y="213777"/>
                      </a:lnTo>
                      <a:cubicBezTo>
                        <a:pt x="275928" y="213980"/>
                        <a:pt x="276100" y="214167"/>
                        <a:pt x="276288" y="214355"/>
                      </a:cubicBezTo>
                      <a:cubicBezTo>
                        <a:pt x="278722" y="216795"/>
                        <a:pt x="278722" y="220744"/>
                        <a:pt x="276288" y="223184"/>
                      </a:cubicBezTo>
                      <a:close/>
                    </a:path>
                  </a:pathLst>
                </a:custGeom>
                <a:solidFill>
                  <a:srgbClr val="2563EB"/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29" name="TextBox 29"/>
              <p:cNvSpPr txBox="1"/>
              <p:nvPr/>
            </p:nvSpPr>
            <p:spPr>
              <a:xfrm>
                <a:off x="1543050" y="3971925"/>
                <a:ext cx="878205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人格描述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548765" y="428720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英文文本正则解析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549718" y="4523899"/>
                <a:ext cx="92837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563EB"/>
                    </a:solidFill>
                    <a:latin typeface="Consolas"/>
                    <a:ea typeface="Microsoft YaHei"/>
                    <a:cs typeface="Consolas"/>
                  </a:rPr>
                  <a:t>Big Five 5 dims</a:t>
                </a:r>
              </a:p>
            </p:txBody>
          </p:sp>
        </p:grpSp>
        <p:sp>
          <p:nvSpPr>
            <p:cNvPr id="33" name="Line 33"/>
            <p:cNvSpPr/>
            <p:nvPr/>
          </p:nvSpPr>
          <p:spPr>
            <a:xfrm>
              <a:off x="3276600" y="4305300"/>
              <a:ext cx="628650" cy="1"/>
            </a:xfrm>
            <a:prstGeom prst="line">
              <a:avLst/>
            </a:prstGeom>
            <a:noFill/>
            <a:ln w="28575">
              <a:solidFill>
                <a:srgbClr val="2563EB"/>
              </a:solidFill>
              <a:tailEnd type="triangle" w="lg" len="lg"/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3981450" y="3790950"/>
              <a:ext cx="2686050" cy="1009650"/>
              <a:chOff x="3981450" y="3790950"/>
              <a:chExt cx="2686050" cy="10096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3981450" y="3790950"/>
                <a:ext cx="2686050" cy="1009650"/>
              </a:xfrm>
              <a:prstGeom prst="roundRect">
                <a:avLst>
                  <a:gd name="adj" fmla="val 7547"/>
                </a:avLst>
              </a:prstGeom>
              <a:solidFill>
                <a:srgbClr val="F3F6FB"/>
              </a:solidFill>
              <a:ln w="9525">
                <a:solidFill>
                  <a:srgbClr val="D8E0EA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230052" y="4018121"/>
                <a:ext cx="1373012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拼接成约 38 维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233862" y="4336256"/>
                <a:ext cx="166377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2563EB"/>
                    </a:solidFill>
                    <a:latin typeface="Consolas"/>
                    <a:ea typeface="Microsoft YaHei"/>
                    <a:cs typeface="Consolas"/>
                  </a:rPr>
                  <a:t>33 gait + 5 personality</a:t>
                </a:r>
              </a:p>
            </p:txBody>
          </p:sp>
        </p:grpSp>
        <p:sp>
          <p:nvSpPr>
            <p:cNvPr id="38" name="Line 38"/>
            <p:cNvSpPr/>
            <p:nvPr/>
          </p:nvSpPr>
          <p:spPr>
            <a:xfrm>
              <a:off x="6667500" y="3448050"/>
              <a:ext cx="666750" cy="1"/>
            </a:xfrm>
            <a:prstGeom prst="line">
              <a:avLst/>
            </a:prstGeom>
            <a:noFill/>
            <a:ln w="28575">
              <a:solidFill>
                <a:srgbClr val="2563EB"/>
              </a:solidFill>
              <a:tailEnd type="triangle" w="lg" len="lg"/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7524750" y="2266950"/>
              <a:ext cx="2438400" cy="2362200"/>
              <a:chOff x="7524750" y="2266950"/>
              <a:chExt cx="2438400" cy="23622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7524750" y="2266950"/>
                <a:ext cx="2438400" cy="2362200"/>
              </a:xfrm>
              <a:prstGeom prst="roundRect">
                <a:avLst>
                  <a:gd name="adj" fmla="val 4032"/>
                </a:avLst>
              </a:prstGeom>
              <a:solidFill>
                <a:srgbClr val="F8FAFC"/>
              </a:solidFill>
              <a:ln w="10795">
                <a:solidFill>
                  <a:srgbClr val="CBD5E1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942552" y="2562225"/>
                <a:ext cx="160279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F172A"/>
                    </a:solidFill>
                    <a:latin typeface="Consolas"/>
                    <a:ea typeface="Microsoft YaHei"/>
                    <a:cs typeface="Consolas"/>
                  </a:rPr>
                  <a:t>StandardScaler</a:t>
                </a:r>
              </a:p>
            </p:txBody>
          </p:sp>
          <p:sp>
            <p:nvSpPr>
              <p:cNvPr id="41" name="Line 41"/>
              <p:cNvSpPr/>
              <p:nvPr/>
            </p:nvSpPr>
            <p:spPr>
              <a:xfrm>
                <a:off x="8020050" y="3028950"/>
                <a:ext cx="144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47800" h="9525">
                    <a:moveTo>
                      <a:pt x="0" y="0"/>
                    </a:moveTo>
                    <a:lnTo>
                      <a:pt x="1447800" y="0"/>
                    </a:lnTo>
                  </a:path>
                </a:pathLst>
              </a:custGeom>
              <a:noFill/>
              <a:ln w="9525">
                <a:solidFill>
                  <a:srgbClr val="D8E0EA">
                    <a:alpha val="30000"/>
                  </a:srgbClr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024133" y="3346132"/>
                <a:ext cx="143963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0F172A"/>
                    </a:solidFill>
                    <a:latin typeface="Consolas"/>
                    <a:ea typeface="Microsoft YaHei"/>
                    <a:cs typeface="Consolas"/>
                  </a:rPr>
                  <a:t>OrdinalRidge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160044" y="3772852"/>
                <a:ext cx="116781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334155"/>
                    </a:solidFill>
                    <a:latin typeface="Arial"/>
                    <a:ea typeface="Microsoft YaHei"/>
                    <a:cs typeface="Arial"/>
                  </a:rPr>
                  <a:t>PHQ 看作有序标签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960519" y="402050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334155"/>
                    </a:solidFill>
                    <a:latin typeface="Arial"/>
                    <a:ea typeface="Microsoft YaHei"/>
                    <a:cs typeface="Arial"/>
                  </a:rPr>
                  <a:t>避免缺失分段的连续外推</a:t>
                </a:r>
              </a:p>
            </p:txBody>
          </p:sp>
        </p:grpSp>
        <p:sp>
          <p:nvSpPr>
            <p:cNvPr id="46" name="Line 46"/>
            <p:cNvSpPr/>
            <p:nvPr/>
          </p:nvSpPr>
          <p:spPr>
            <a:xfrm>
              <a:off x="9963150" y="3448050"/>
              <a:ext cx="514350" cy="1"/>
            </a:xfrm>
            <a:prstGeom prst="line">
              <a:avLst/>
            </a:prstGeom>
            <a:noFill/>
            <a:ln w="28575">
              <a:solidFill>
                <a:srgbClr val="2563EB"/>
              </a:solidFill>
              <a:tailEnd type="triangle" w="lg" len="lg"/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10528616" y="2609850"/>
              <a:ext cx="850268" cy="1676400"/>
              <a:chOff x="10528616" y="2609850"/>
              <a:chExt cx="850268" cy="167640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10553700" y="2609850"/>
                <a:ext cx="800100" cy="1676400"/>
              </a:xfrm>
              <a:prstGeom prst="roundRect">
                <a:avLst>
                  <a:gd name="adj" fmla="val 9524"/>
                </a:avLst>
              </a:prstGeom>
              <a:solidFill>
                <a:srgbClr val="EAF1FF"/>
              </a:solidFill>
              <a:ln w="9525">
                <a:solidFill>
                  <a:srgbClr val="2563EB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0528616" y="2944178"/>
                <a:ext cx="850268" cy="518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550" b="1" dirty="0">
                    <a:solidFill>
                      <a:srgbClr val="2563EB"/>
                    </a:solidFill>
                    <a:latin typeface="Consolas"/>
                    <a:ea typeface="Microsoft YaHei"/>
                    <a:cs typeface="Consolas"/>
                  </a:rPr>
                  <a:t>0.67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0668333" y="3438049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独立榜分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0708291" y="3712845"/>
                <a:ext cx="49091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B6472"/>
                    </a:solidFill>
                    <a:latin typeface="Consolas"/>
                    <a:ea typeface="Microsoft YaHei"/>
                    <a:cs typeface="Consolas"/>
                  </a:rPr>
                  <a:t>baseline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514350" y="5181600"/>
            <a:ext cx="11163300" cy="876300"/>
            <a:chOff x="514350" y="5181600"/>
            <a:chExt cx="11163300" cy="876300"/>
          </a:xfrm>
        </p:grpSpPr>
        <p:sp>
          <p:nvSpPr>
            <p:cNvPr id="53" name="Rectangle 53"/>
            <p:cNvSpPr/>
            <p:nvPr/>
          </p:nvSpPr>
          <p:spPr>
            <a:xfrm>
              <a:off x="514350" y="5181600"/>
              <a:ext cx="111633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00100" y="5302098"/>
              <a:ext cx="410369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6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核心</a:t>
              </a:r>
              <a:endParaRPr lang="zh-CN" sz="16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6762" y="5688806"/>
              <a:ext cx="6662080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把 PHQ 离散标签、小样本风险和 IMU 生理信号特点结合起来，形成一个可靠锚点。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363836" y="5359628"/>
              <a:ext cx="5168081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2563EB"/>
                  </a:solidFill>
                  <a:latin typeface="Consolas"/>
                  <a:ea typeface="Microsoft YaHei"/>
                  <a:cs typeface="Consolas"/>
                </a:rPr>
                <a:t>ORIG = gait dynamics + Big Five + ordinal regression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521970" y="64369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4A6"/>
                </a:solidFill>
                <a:latin typeface="Consolas"/>
                <a:ea typeface="Microsoft YaHei"/>
                <a:cs typeface="Consolas"/>
              </a:rPr>
              <a:t>06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  <p:bldP spid="5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2286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3F6F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" name="Freeform 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1257300"/>
                  </a:moveTo>
                  <a:lnTo>
                    <a:pt x="12192000" y="1257300"/>
                  </a:lnTo>
                  <a:moveTo>
                    <a:pt x="0" y="3162300"/>
                  </a:moveTo>
                  <a:lnTo>
                    <a:pt x="12192000" y="3162300"/>
                  </a:lnTo>
                  <a:moveTo>
                    <a:pt x="0" y="5067300"/>
                  </a:moveTo>
                  <a:lnTo>
                    <a:pt x="12192000" y="5067300"/>
                  </a:lnTo>
                  <a:moveTo>
                    <a:pt x="1714500" y="0"/>
                  </a:moveTo>
                  <a:lnTo>
                    <a:pt x="1714500" y="6858000"/>
                  </a:lnTo>
                  <a:moveTo>
                    <a:pt x="4000500" y="0"/>
                  </a:moveTo>
                  <a:lnTo>
                    <a:pt x="4000500" y="6858000"/>
                  </a:lnTo>
                  <a:moveTo>
                    <a:pt x="6286500" y="0"/>
                  </a:moveTo>
                  <a:lnTo>
                    <a:pt x="6286500" y="6858000"/>
                  </a:lnTo>
                  <a:moveTo>
                    <a:pt x="8572500" y="0"/>
                  </a:moveTo>
                  <a:lnTo>
                    <a:pt x="8572500" y="6858000"/>
                  </a:lnTo>
                  <a:moveTo>
                    <a:pt x="10858500" y="0"/>
                  </a:moveTo>
                  <a:lnTo>
                    <a:pt x="10858500" y="6858000"/>
                  </a:lnTo>
                </a:path>
              </a:pathLst>
            </a:custGeom>
            <a:solidFill>
              <a:srgbClr val="000000"/>
            </a:solidFill>
            <a:ln w="5715">
              <a:solidFill>
                <a:srgbClr val="D8E0EA">
                  <a:alpha val="32000"/>
                </a:srgbClr>
              </a:solidFill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64820" y="493395"/>
            <a:ext cx="7117842" cy="840105"/>
            <a:chOff x="464820" y="493395"/>
            <a:chExt cx="7117842" cy="840105"/>
          </a:xfrm>
        </p:grpSpPr>
        <p:sp>
          <p:nvSpPr>
            <p:cNvPr id="5" name="TextBox 5"/>
            <p:cNvSpPr txBox="1"/>
            <p:nvPr/>
          </p:nvSpPr>
          <p:spPr>
            <a:xfrm>
              <a:off x="483870" y="493395"/>
              <a:ext cx="16295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2563EB"/>
                  </a:solidFill>
                  <a:latin typeface="Consolas"/>
                  <a:ea typeface="Microsoft YaHei"/>
                  <a:cs typeface="Consolas"/>
                </a:rPr>
                <a:t>STAGE 1 / FUSION SCREENING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64820" y="693420"/>
              <a:ext cx="711784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融合不是堆模态，而是筛出真正补充主干的信息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80060" y="1089660"/>
              <a:ext cx="53111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早期阶段的核心工作是判断哪些信号有互补性，哪些只是把过拟合带进来。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3400" y="1638300"/>
            <a:ext cx="5143500" cy="3905250"/>
            <a:chOff x="533400" y="1638300"/>
            <a:chExt cx="5143500" cy="3905250"/>
          </a:xfrm>
        </p:grpSpPr>
        <p:sp>
          <p:nvSpPr>
            <p:cNvPr id="9" name="Rectangle 9"/>
            <p:cNvSpPr/>
            <p:nvPr/>
          </p:nvSpPr>
          <p:spPr>
            <a:xfrm>
              <a:off x="533400" y="1638300"/>
              <a:ext cx="5143500" cy="3905250"/>
            </a:xfrm>
            <a:prstGeom prst="roundRect">
              <a:avLst>
                <a:gd name="adj" fmla="val 1951"/>
              </a:avLst>
            </a:prstGeom>
            <a:solidFill>
              <a:srgbClr val="FFFFFF"/>
            </a:solidFill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0098" y="1849279"/>
              <a:ext cx="180422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尝试过的融合方向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800100" y="2381250"/>
              <a:ext cx="2133600" cy="685800"/>
              <a:chOff x="800100" y="2381250"/>
              <a:chExt cx="2133600" cy="6858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800100" y="2381250"/>
                <a:ext cx="213360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EAF1FF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13460" y="2537460"/>
                <a:ext cx="85378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2563EB"/>
                    </a:solidFill>
                    <a:latin typeface="Consolas"/>
                    <a:ea typeface="Microsoft YaHei"/>
                    <a:cs typeface="Consolas"/>
                  </a:rPr>
                  <a:t>ORIG + IMU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16318" y="2790349"/>
                <a:ext cx="12209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单独 IMU 项信息冗余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162300" y="2381250"/>
              <a:ext cx="2133600" cy="685800"/>
              <a:chOff x="3162300" y="2381250"/>
              <a:chExt cx="2133600" cy="6858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3162300" y="2381250"/>
                <a:ext cx="213360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FFF3D8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375660" y="2537460"/>
                <a:ext cx="92099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59E0B"/>
                    </a:solidFill>
                    <a:latin typeface="Consolas"/>
                    <a:ea typeface="Microsoft YaHei"/>
                    <a:cs typeface="Consolas"/>
                  </a:rPr>
                  <a:t>early audio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3378518" y="279034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本地涨分，榜单不稳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00100" y="3295650"/>
              <a:ext cx="2133600" cy="685800"/>
              <a:chOff x="800100" y="3295650"/>
              <a:chExt cx="2133600" cy="68580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800100" y="3295650"/>
                <a:ext cx="213360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F3F6FB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13460" y="3451860"/>
                <a:ext cx="94619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5B6472"/>
                    </a:solidFill>
                    <a:latin typeface="Consolas"/>
                    <a:ea typeface="Microsoft YaHei"/>
                    <a:cs typeface="Consolas"/>
                  </a:rPr>
                  <a:t>embeddings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16318" y="370474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维度高，增益不稳定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162300" y="3295650"/>
              <a:ext cx="2133600" cy="685800"/>
              <a:chOff x="3162300" y="3295650"/>
              <a:chExt cx="2133600" cy="6858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3162300" y="3295650"/>
                <a:ext cx="213360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E8F7F0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375660" y="3451860"/>
                <a:ext cx="63535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E9F6E"/>
                    </a:solidFill>
                    <a:latin typeface="Consolas"/>
                    <a:ea typeface="Microsoft YaHei"/>
                    <a:cs typeface="Consolas"/>
                  </a:rPr>
                  <a:t>face AU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378518" y="3704749"/>
                <a:ext cx="93487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开始显示互补性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00100" y="4210050"/>
              <a:ext cx="4495800" cy="819150"/>
              <a:chOff x="800100" y="4210050"/>
              <a:chExt cx="4495800" cy="8191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800100" y="4210050"/>
                <a:ext cx="4495800" cy="819150"/>
              </a:xfrm>
              <a:prstGeom prst="roundRect">
                <a:avLst>
                  <a:gd name="adj" fmla="val 9302"/>
                </a:avLst>
              </a:prstGeom>
              <a:solidFill>
                <a:srgbClr val="EFF6FF"/>
              </a:solidFill>
              <a:ln w="10795">
                <a:solidFill>
                  <a:srgbClr val="BFDBFE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51560" y="43853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关键发现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51560" y="4629835"/>
                <a:ext cx="2558393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34155"/>
                    </a:solidFill>
                    <a:latin typeface="Arial"/>
                    <a:ea typeface="Microsoft YaHei"/>
                    <a:cs typeface="Arial"/>
                  </a:rPr>
                  <a:t>面部动态信号与 IMU/人格主干最互补；</a:t>
                </a:r>
                <a:endParaRPr lang="en-US" altLang="zh-CN" sz="1050" dirty="0">
                  <a:solidFill>
                    <a:srgbClr val="D8E0EA"/>
                  </a:solidFill>
                  <a:latin typeface="Arial"/>
                  <a:ea typeface="Microsoft YaHei"/>
                  <a:cs typeface="Arial"/>
                </a:endParaRPr>
              </a:p>
              <a:p>
                <a:pPr algn="l"/>
                <a:r>
                  <a:rPr lang="zh-CN" sz="1050" dirty="0">
                    <a:solidFill>
                      <a:srgbClr val="334155"/>
                    </a:solidFill>
                    <a:latin typeface="Arial"/>
                    <a:ea typeface="Microsoft YaHei"/>
                    <a:cs typeface="Arial"/>
                  </a:rPr>
                  <a:t>音频虽然探索充分，但早期无法稳定兑现。</a:t>
                </a:r>
              </a:p>
            </p:txBody>
          </p:sp>
        </p:grpSp>
      </p:grpSp>
      <p:sp>
        <p:nvSpPr>
          <p:cNvPr id="32" name="Rectangle 32"/>
          <p:cNvSpPr/>
          <p:nvPr/>
        </p:nvSpPr>
        <p:spPr>
          <a:xfrm>
            <a:off x="6057900" y="1638300"/>
            <a:ext cx="5600700" cy="3905250"/>
          </a:xfrm>
          <a:prstGeom prst="roundRect">
            <a:avLst>
              <a:gd name="adj" fmla="val 1951"/>
            </a:avLst>
          </a:prstGeom>
          <a:solidFill>
            <a:srgbClr val="F8FAFC"/>
          </a:solidFill>
          <a:ln w="10795">
            <a:solidFill>
              <a:srgbClr val="CBD5E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TextBox 33"/>
          <p:cNvSpPr txBox="1"/>
          <p:nvPr/>
        </p:nvSpPr>
        <p:spPr>
          <a:xfrm>
            <a:off x="6342698" y="1973431"/>
            <a:ext cx="1025922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筛选判据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6419850" y="2615892"/>
            <a:ext cx="5131445" cy="348913"/>
            <a:chOff x="6419850" y="2400300"/>
            <a:chExt cx="5131445" cy="348913"/>
          </a:xfrm>
        </p:grpSpPr>
        <p:sp>
          <p:nvSpPr>
            <p:cNvPr id="34" name="Ellipse 34"/>
            <p:cNvSpPr/>
            <p:nvPr/>
          </p:nvSpPr>
          <p:spPr>
            <a:xfrm>
              <a:off x="6419850" y="2400300"/>
              <a:ext cx="304800" cy="304800"/>
            </a:xfrm>
            <a:prstGeom prst="ellipse">
              <a:avLst/>
            </a:prstGeom>
            <a:solidFill>
              <a:srgbClr val="1F5EFF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33778" y="2504599"/>
              <a:ext cx="76945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79908" y="2472214"/>
              <a:ext cx="18723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是否与 ORIG 互补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58250" y="2496502"/>
              <a:ext cx="269304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相关性不能太高，也不能只是噪声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419850" y="3310741"/>
            <a:ext cx="4843324" cy="348913"/>
            <a:chOff x="6419850" y="2990850"/>
            <a:chExt cx="4843324" cy="348913"/>
          </a:xfrm>
        </p:grpSpPr>
        <p:sp>
          <p:nvSpPr>
            <p:cNvPr id="39" name="Ellipse 39"/>
            <p:cNvSpPr/>
            <p:nvPr/>
          </p:nvSpPr>
          <p:spPr>
            <a:xfrm>
              <a:off x="6419850" y="2990850"/>
              <a:ext cx="304800" cy="304800"/>
            </a:xfrm>
            <a:prstGeom prst="ellipse">
              <a:avLst/>
            </a:prstGeom>
            <a:solidFill>
              <a:srgbClr val="0E9F6E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33777" y="3095149"/>
              <a:ext cx="76945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79908" y="3062764"/>
              <a:ext cx="16158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047857"/>
                  </a:solidFill>
                  <a:latin typeface="Arial"/>
                  <a:ea typeface="Microsoft YaHei"/>
                  <a:cs typeface="Arial"/>
                </a:rPr>
                <a:t>是否有临床动机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749665" y="3087052"/>
              <a:ext cx="2513509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心理运动迟缓、疲劳、动态单调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419850" y="4008923"/>
            <a:ext cx="4843324" cy="348913"/>
            <a:chOff x="6419850" y="3793331"/>
            <a:chExt cx="4843324" cy="348913"/>
          </a:xfrm>
        </p:grpSpPr>
        <p:sp>
          <p:nvSpPr>
            <p:cNvPr id="49" name="Ellipse 49"/>
            <p:cNvSpPr/>
            <p:nvPr/>
          </p:nvSpPr>
          <p:spPr>
            <a:xfrm>
              <a:off x="6419850" y="3793331"/>
              <a:ext cx="304800" cy="304800"/>
            </a:xfrm>
            <a:prstGeom prst="ellipse">
              <a:avLst/>
            </a:prstGeom>
            <a:solidFill>
              <a:srgbClr val="D64550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533777" y="3897630"/>
              <a:ext cx="76945" cy="169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11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3</a:t>
              </a:r>
              <a:endParaRPr lang="zh-CN" sz="1100" b="1" dirty="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79908" y="3865245"/>
              <a:ext cx="16158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是否引入过拟合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749665" y="3889533"/>
              <a:ext cx="2513509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维度、参数量和样本量必须匹配</a:t>
              </a:r>
            </a:p>
          </p:txBody>
        </p:sp>
      </p:grpSp>
      <p:sp>
        <p:nvSpPr>
          <p:cNvPr id="54" name="Rectangle 54"/>
          <p:cNvSpPr/>
          <p:nvPr/>
        </p:nvSpPr>
        <p:spPr>
          <a:xfrm>
            <a:off x="6362700" y="4953000"/>
            <a:ext cx="4876800" cy="342900"/>
          </a:xfrm>
          <a:prstGeom prst="roundRect">
            <a:avLst>
              <a:gd name="adj" fmla="val 16667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TextBox 55"/>
          <p:cNvSpPr txBox="1"/>
          <p:nvPr/>
        </p:nvSpPr>
        <p:spPr>
          <a:xfrm>
            <a:off x="6793339" y="5050631"/>
            <a:ext cx="4015523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00" b="1" dirty="0">
                <a:solidFill>
                  <a:srgbClr val="0F172A"/>
                </a:solidFill>
                <a:latin typeface="Arial"/>
                <a:ea typeface="Microsoft YaHei"/>
                <a:cs typeface="Arial"/>
              </a:rPr>
              <a:t>结论：面部 OpenFace 是下一阶段的主要突破口。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21970" y="64369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4A6"/>
                </a:solidFill>
                <a:latin typeface="Consolas"/>
                <a:ea typeface="Microsoft YaHei"/>
                <a:cs typeface="Consolas"/>
              </a:rPr>
              <a:t>07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3F6F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E9F6E">
                    <a:alpha val="16000"/>
                  </a:srgbClr>
                </a:gs>
                <a:gs pos="100000">
                  <a:srgbClr val="0E9F6E">
                    <a:alpha val="0"/>
                  </a:srgbClr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64820" y="493395"/>
            <a:ext cx="5966460" cy="840105"/>
            <a:chOff x="464820" y="493395"/>
            <a:chExt cx="5966460" cy="840105"/>
          </a:xfrm>
        </p:grpSpPr>
        <p:sp>
          <p:nvSpPr>
            <p:cNvPr id="5" name="TextBox 5"/>
            <p:cNvSpPr txBox="1"/>
            <p:nvPr/>
          </p:nvSpPr>
          <p:spPr>
            <a:xfrm>
              <a:off x="483870" y="493395"/>
              <a:ext cx="20769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E9F6E"/>
                  </a:solidFill>
                  <a:latin typeface="Consolas"/>
                  <a:ea typeface="Microsoft YaHei"/>
                  <a:cs typeface="Consolas"/>
                </a:rPr>
                <a:t>STAGE 2 / FACIAL AU BREAKTHROUGH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64820" y="693420"/>
              <a:ext cx="550484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面部动态补足了 IMU 没有的行为信号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80060" y="1089660"/>
              <a:ext cx="59512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抑郁相关心理运动迟缓不仅体现在步态，也可能体现在表情幅度、速度和单调性上。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719423" y="5864360"/>
            <a:ext cx="408777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A94A6"/>
                </a:solidFill>
                <a:latin typeface="Consolas"/>
                <a:ea typeface="Microsoft YaHei"/>
                <a:cs typeface="Consolas"/>
              </a:rPr>
              <a:t>AI diagram placeholder: face mesh + AU dynamics + fatigue trace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962650" y="1638300"/>
            <a:ext cx="5695950" cy="1562100"/>
            <a:chOff x="5962650" y="1638300"/>
            <a:chExt cx="5695950" cy="1562100"/>
          </a:xfrm>
        </p:grpSpPr>
        <p:sp>
          <p:nvSpPr>
            <p:cNvPr id="13" name="Rectangle 13"/>
            <p:cNvSpPr/>
            <p:nvPr/>
          </p:nvSpPr>
          <p:spPr>
            <a:xfrm>
              <a:off x="5962650" y="1638300"/>
              <a:ext cx="5695950" cy="1562100"/>
            </a:xfrm>
            <a:prstGeom prst="roundRect">
              <a:avLst>
                <a:gd name="adj" fmla="val 4878"/>
              </a:avLst>
            </a:prstGeom>
            <a:solidFill>
              <a:srgbClr val="F8FAFC"/>
            </a:solidFill>
            <a:ln w="10795">
              <a:solidFill>
                <a:srgbClr val="CBD5E1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47448" y="1849279"/>
              <a:ext cx="458287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OpenFace 原始 710 维，但只保留 43 个关键列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6286500" y="2362200"/>
              <a:ext cx="4838700" cy="514350"/>
              <a:chOff x="6286500" y="2362200"/>
              <a:chExt cx="4838700" cy="5143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6286500" y="2362200"/>
                <a:ext cx="1409700" cy="514350"/>
              </a:xfrm>
              <a:prstGeom prst="roundRect">
                <a:avLst>
                  <a:gd name="adj" fmla="val 11111"/>
                </a:avLst>
              </a:prstGeom>
              <a:solidFill>
                <a:srgbClr val="0E9F6E">
                  <a:alpha val="22000"/>
                </a:srgbClr>
              </a:solidFill>
              <a:ln w="9525">
                <a:solidFill>
                  <a:srgbClr val="0E9F6E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914543" y="2428875"/>
                <a:ext cx="15361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47857"/>
                    </a:solidFill>
                    <a:latin typeface="Consolas"/>
                    <a:ea typeface="Microsoft YaHei"/>
                    <a:cs typeface="Consolas"/>
                  </a:rPr>
                  <a:t>8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556415" y="2676049"/>
                <a:ext cx="86987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334155"/>
                    </a:solidFill>
                    <a:latin typeface="Arial"/>
                    <a:ea typeface="Microsoft YaHei"/>
                    <a:cs typeface="Arial"/>
                  </a:rPr>
                  <a:t>gaze 注视方向</a:t>
                </a:r>
              </a:p>
            </p:txBody>
          </p:sp>
          <p:sp>
            <p:nvSpPr>
              <p:cNvPr id="18" name="Rectangle 18"/>
              <p:cNvSpPr/>
              <p:nvPr/>
            </p:nvSpPr>
            <p:spPr>
              <a:xfrm>
                <a:off x="8001000" y="2362200"/>
                <a:ext cx="1409700" cy="514350"/>
              </a:xfrm>
              <a:prstGeom prst="roundRect">
                <a:avLst>
                  <a:gd name="adj" fmla="val 11111"/>
                </a:avLst>
              </a:prstGeom>
              <a:solidFill>
                <a:srgbClr val="0E9F6E">
                  <a:alpha val="22000"/>
                </a:srgbClr>
              </a:solidFill>
              <a:ln w="9525">
                <a:solidFill>
                  <a:srgbClr val="0E9F6E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597539" y="2428875"/>
                <a:ext cx="21662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47857"/>
                    </a:solidFill>
                    <a:latin typeface="Consolas"/>
                    <a:ea typeface="Microsoft YaHei"/>
                    <a:cs typeface="Consolas"/>
                  </a:rPr>
                  <a:t>17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472440" y="2676049"/>
                <a:ext cx="46682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334155"/>
                    </a:solidFill>
                    <a:latin typeface="Arial"/>
                    <a:ea typeface="Microsoft YaHei"/>
                    <a:cs typeface="Arial"/>
                  </a:rPr>
                  <a:t>AU 强度</a:t>
                </a: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9715500" y="2362200"/>
                <a:ext cx="1409700" cy="514350"/>
              </a:xfrm>
              <a:prstGeom prst="roundRect">
                <a:avLst>
                  <a:gd name="adj" fmla="val 11111"/>
                </a:avLst>
              </a:prstGeom>
              <a:solidFill>
                <a:srgbClr val="0E9F6E">
                  <a:alpha val="22000"/>
                </a:srgbClr>
              </a:solidFill>
              <a:ln w="9525">
                <a:solidFill>
                  <a:srgbClr val="0E9F6E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312039" y="2428875"/>
                <a:ext cx="216622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047857"/>
                    </a:solidFill>
                    <a:latin typeface="Consolas"/>
                    <a:ea typeface="Microsoft YaHei"/>
                    <a:cs typeface="Consolas"/>
                  </a:rPr>
                  <a:t>18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0186940" y="2676049"/>
                <a:ext cx="46682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334155"/>
                    </a:solidFill>
                    <a:latin typeface="Arial"/>
                    <a:ea typeface="Microsoft YaHei"/>
                    <a:cs typeface="Arial"/>
                  </a:rPr>
                  <a:t>AU 存在</a:t>
                </a:r>
              </a:p>
            </p:txBody>
          </p:sp>
        </p:grpSp>
      </p:grpSp>
      <p:grpSp>
        <p:nvGrpSpPr>
          <p:cNvPr id="36" name="Group 36"/>
          <p:cNvGrpSpPr/>
          <p:nvPr/>
        </p:nvGrpSpPr>
        <p:grpSpPr>
          <a:xfrm>
            <a:off x="5962650" y="3505200"/>
            <a:ext cx="5695950" cy="1466850"/>
            <a:chOff x="5962650" y="3505200"/>
            <a:chExt cx="5695950" cy="1466850"/>
          </a:xfrm>
        </p:grpSpPr>
        <p:sp>
          <p:nvSpPr>
            <p:cNvPr id="26" name="Rectangle 26"/>
            <p:cNvSpPr/>
            <p:nvPr/>
          </p:nvSpPr>
          <p:spPr>
            <a:xfrm>
              <a:off x="5962650" y="3505200"/>
              <a:ext cx="2724150" cy="1466850"/>
            </a:xfrm>
            <a:prstGeom prst="roundRect">
              <a:avLst>
                <a:gd name="adj" fmla="val 5195"/>
              </a:avLst>
            </a:prstGeom>
            <a:solidFill>
              <a:srgbClr val="FFFFFF"/>
            </a:solidFill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11252" y="3694271"/>
              <a:ext cx="1033820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为什么有效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16015" y="4058602"/>
              <a:ext cx="20709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IMU 描述整体运动，面部 AU 描述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16015" y="4287202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表情运动学，两者捕捉的是不同层面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16015" y="45158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的行为信号。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934450" y="3505200"/>
              <a:ext cx="2724150" cy="1466850"/>
            </a:xfrm>
            <a:prstGeom prst="roundRect">
              <a:avLst>
                <a:gd name="adj" fmla="val 5195"/>
              </a:avLst>
            </a:prstGeom>
            <a:solidFill>
              <a:srgbClr val="FFFFFF"/>
            </a:solidFill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183052" y="3694271"/>
              <a:ext cx="834295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指标变化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168765" y="3953828"/>
              <a:ext cx="224274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0E9F6E"/>
                  </a:solidFill>
                  <a:latin typeface="Consolas"/>
                  <a:ea typeface="Microsoft YaHei"/>
                  <a:cs typeface="Consolas"/>
                </a:rPr>
                <a:t>0.68 → 0.706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87815" y="4420552"/>
              <a:ext cx="13708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Score 进入 0.71 附近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87815" y="4649152"/>
              <a:ext cx="18819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CCC 从约 0.55 提升到约 0.62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962650" y="5219700"/>
            <a:ext cx="5695950" cy="514350"/>
            <a:chOff x="5962650" y="5219700"/>
            <a:chExt cx="5695950" cy="514350"/>
          </a:xfrm>
        </p:grpSpPr>
        <p:sp>
          <p:nvSpPr>
            <p:cNvPr id="37" name="Rectangle 37"/>
            <p:cNvSpPr/>
            <p:nvPr/>
          </p:nvSpPr>
          <p:spPr>
            <a:xfrm>
              <a:off x="5962650" y="5219700"/>
              <a:ext cx="5695950" cy="514350"/>
            </a:xfrm>
            <a:prstGeom prst="roundRect">
              <a:avLst>
                <a:gd name="adj" fmla="val 14815"/>
              </a:avLst>
            </a:prstGeom>
            <a:solidFill>
              <a:srgbClr val="E8F7F0"/>
            </a:solidFill>
            <a:ln w="9525">
              <a:solidFill>
                <a:srgbClr val="0E9F6E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79382" y="5397818"/>
              <a:ext cx="3462486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0E9F6E"/>
                  </a:solidFill>
                  <a:latin typeface="Arial"/>
                  <a:ea typeface="Microsoft YaHei"/>
                  <a:cs typeface="Arial"/>
                </a:rPr>
                <a:t>模态突破：面部动态提供了主干没有的信息。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521970" y="64369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4A6"/>
                </a:solidFill>
                <a:latin typeface="Consolas"/>
                <a:ea typeface="Microsoft YaHei"/>
                <a:cs typeface="Consolas"/>
              </a:rPr>
              <a:t>08 / 17</a:t>
            </a: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D321AD69-DA7B-9623-6D42-57CCDA164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661" y="1577340"/>
            <a:ext cx="5473720" cy="41052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6" grpId="0"/>
      <p:bldP spid="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3F6F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" name="Freeform 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1409700"/>
                  </a:moveTo>
                  <a:lnTo>
                    <a:pt x="12192000" y="1409700"/>
                  </a:lnTo>
                  <a:moveTo>
                    <a:pt x="0" y="3314700"/>
                  </a:moveTo>
                  <a:lnTo>
                    <a:pt x="12192000" y="3314700"/>
                  </a:lnTo>
                  <a:moveTo>
                    <a:pt x="0" y="5219700"/>
                  </a:moveTo>
                  <a:lnTo>
                    <a:pt x="12192000" y="5219700"/>
                  </a:lnTo>
                  <a:moveTo>
                    <a:pt x="1524000" y="0"/>
                  </a:moveTo>
                  <a:lnTo>
                    <a:pt x="1524000" y="6858000"/>
                  </a:lnTo>
                  <a:moveTo>
                    <a:pt x="3429000" y="0"/>
                  </a:moveTo>
                  <a:lnTo>
                    <a:pt x="3429000" y="6858000"/>
                  </a:lnTo>
                  <a:moveTo>
                    <a:pt x="5334000" y="0"/>
                  </a:moveTo>
                  <a:lnTo>
                    <a:pt x="5334000" y="6858000"/>
                  </a:lnTo>
                  <a:moveTo>
                    <a:pt x="7239000" y="0"/>
                  </a:moveTo>
                  <a:lnTo>
                    <a:pt x="72390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11049000" y="0"/>
                  </a:moveTo>
                  <a:lnTo>
                    <a:pt x="11049000" y="6858000"/>
                  </a:lnTo>
                </a:path>
              </a:pathLst>
            </a:custGeom>
            <a:solidFill>
              <a:srgbClr val="000000"/>
            </a:solidFill>
            <a:ln w="5715">
              <a:solidFill>
                <a:srgbClr val="D8E0EA">
                  <a:alpha val="32000"/>
                </a:srgbClr>
              </a:solidFill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64820" y="493395"/>
            <a:ext cx="5806440" cy="840105"/>
            <a:chOff x="464820" y="493395"/>
            <a:chExt cx="5806440" cy="840105"/>
          </a:xfrm>
        </p:grpSpPr>
        <p:sp>
          <p:nvSpPr>
            <p:cNvPr id="5" name="TextBox 5"/>
            <p:cNvSpPr txBox="1"/>
            <p:nvPr/>
          </p:nvSpPr>
          <p:spPr>
            <a:xfrm>
              <a:off x="483870" y="493395"/>
              <a:ext cx="186899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E9F6E"/>
                  </a:solidFill>
                  <a:latin typeface="Consolas"/>
                  <a:ea typeface="Microsoft YaHei"/>
                  <a:cs typeface="Consolas"/>
                </a:rPr>
                <a:t>STAGE 3 / FOUR FACIAL RANKERS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64820" y="693420"/>
              <a:ext cx="547123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把“面部运动迟缓”拆成四个互补视角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80060" y="1089660"/>
              <a:ext cx="57912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不是只求一个面部特征，而是把速度、后段状态、疲劳轨迹和频谱节律分开建模。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33400" y="1695450"/>
            <a:ext cx="11125200" cy="3562350"/>
            <a:chOff x="533400" y="1695450"/>
            <a:chExt cx="11125200" cy="3562350"/>
          </a:xfrm>
        </p:grpSpPr>
        <p:grpSp>
          <p:nvGrpSpPr>
            <p:cNvPr id="18" name="Group 18"/>
            <p:cNvGrpSpPr/>
            <p:nvPr/>
          </p:nvGrpSpPr>
          <p:grpSpPr>
            <a:xfrm>
              <a:off x="533400" y="1695450"/>
              <a:ext cx="2647950" cy="3562350"/>
              <a:chOff x="533400" y="1695450"/>
              <a:chExt cx="2647950" cy="35623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33400" y="1695450"/>
                <a:ext cx="2647950" cy="3562350"/>
              </a:xfrm>
              <a:prstGeom prst="roundRect">
                <a:avLst>
                  <a:gd name="adj" fmla="val 2878"/>
                </a:avLst>
              </a:prstGeom>
              <a:solidFill>
                <a:srgbClr val="FFFFFF"/>
              </a:solidFill>
              <a:ln w="9525">
                <a:solidFill>
                  <a:srgbClr val="D8E0EA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533400" y="1695450"/>
                <a:ext cx="264795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E8F7F0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79145" y="1936432"/>
                <a:ext cx="619482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E9F6E"/>
                    </a:solidFill>
                    <a:latin typeface="Consolas"/>
                    <a:ea typeface="Microsoft YaHei"/>
                    <a:cs typeface="Consolas"/>
                  </a:rPr>
                  <a:t>auvel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84860" y="2594610"/>
                <a:ext cx="230716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三事件 mean / std / velocity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86765" y="299180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逐帧绝对差均值直接刻画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86765" y="322040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表情活跃度与迟缓程度。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800100" y="3771900"/>
                <a:ext cx="2095500" cy="438150"/>
              </a:xfrm>
              <a:prstGeom prst="roundRect">
                <a:avLst>
                  <a:gd name="adj" fmla="val 13043"/>
                </a:avLst>
              </a:prstGeom>
              <a:solidFill>
                <a:srgbClr val="F3F6FB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510647" y="3926681"/>
                <a:ext cx="6744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E9F6E"/>
                    </a:solidFill>
                    <a:latin typeface="Consolas"/>
                    <a:ea typeface="Microsoft YaHei"/>
                    <a:cs typeface="Consolas"/>
                  </a:rPr>
                  <a:t>387 dims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86765" y="4592002"/>
                <a:ext cx="134983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E9F6E"/>
                    </a:solidFill>
                    <a:latin typeface="Arial"/>
                    <a:ea typeface="Microsoft YaHei"/>
                    <a:cs typeface="Arial"/>
                  </a:rPr>
                  <a:t>行为含义：表情速度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3448050" y="1695450"/>
              <a:ext cx="2647950" cy="3562350"/>
              <a:chOff x="3448050" y="1695450"/>
              <a:chExt cx="2647950" cy="35623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3448050" y="1695450"/>
                <a:ext cx="2647950" cy="3562350"/>
              </a:xfrm>
              <a:prstGeom prst="roundRect">
                <a:avLst>
                  <a:gd name="adj" fmla="val 2878"/>
                </a:avLst>
              </a:prstGeom>
              <a:solidFill>
                <a:srgbClr val="FFFFFF"/>
              </a:solidFill>
              <a:ln w="9525">
                <a:solidFill>
                  <a:srgbClr val="D8E0EA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" name="Rectangle 20"/>
              <p:cNvSpPr/>
              <p:nvPr/>
            </p:nvSpPr>
            <p:spPr>
              <a:xfrm>
                <a:off x="3448050" y="1695450"/>
                <a:ext cx="264795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E8F7F0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693795" y="1936432"/>
                <a:ext cx="74654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E9F6E"/>
                    </a:solidFill>
                    <a:latin typeface="Consolas"/>
                    <a:ea typeface="Microsoft YaHei"/>
                    <a:cs typeface="Consolas"/>
                  </a:rPr>
                  <a:t>e3only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699510" y="2594610"/>
                <a:ext cx="19543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只使用 event_3 动态统计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701415" y="2991802"/>
                <a:ext cx="18468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后段任务可能更能暴露疲劳、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701415" y="322040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注意力下降和抑郁状态。</a:t>
                </a: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3714750" y="3771900"/>
                <a:ext cx="2095500" cy="438150"/>
              </a:xfrm>
              <a:prstGeom prst="roundRect">
                <a:avLst>
                  <a:gd name="adj" fmla="val 13043"/>
                </a:avLst>
              </a:prstGeom>
              <a:solidFill>
                <a:srgbClr val="F3F6FB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444987" y="3926681"/>
                <a:ext cx="63502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E9F6E"/>
                    </a:solidFill>
                    <a:latin typeface="Consolas"/>
                    <a:ea typeface="Microsoft YaHei"/>
                    <a:cs typeface="Consolas"/>
                  </a:rPr>
                  <a:t>129 dims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701415" y="4592002"/>
                <a:ext cx="134983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E9F6E"/>
                    </a:solidFill>
                    <a:latin typeface="Arial"/>
                    <a:ea typeface="Microsoft YaHei"/>
                    <a:cs typeface="Arial"/>
                  </a:rPr>
                  <a:t>行为含义：后段状态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6362700" y="1695450"/>
              <a:ext cx="2647950" cy="3562350"/>
              <a:chOff x="6362700" y="1695450"/>
              <a:chExt cx="2647950" cy="35623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6362700" y="1695450"/>
                <a:ext cx="2647950" cy="3562350"/>
              </a:xfrm>
              <a:prstGeom prst="roundRect">
                <a:avLst>
                  <a:gd name="adj" fmla="val 2878"/>
                </a:avLst>
              </a:prstGeom>
              <a:solidFill>
                <a:srgbClr val="FFFFFF"/>
              </a:solidFill>
              <a:ln w="9525">
                <a:solidFill>
                  <a:srgbClr val="D8E0EA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6362700" y="1695450"/>
                <a:ext cx="264795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E8F7F0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608445" y="1936432"/>
                <a:ext cx="873614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E9F6E"/>
                    </a:solidFill>
                    <a:latin typeface="Consolas"/>
                    <a:ea typeface="Microsoft YaHei"/>
                    <a:cs typeface="Consolas"/>
                  </a:rPr>
                  <a:t>fatigue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614160" y="2594610"/>
                <a:ext cx="121502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event 间均值差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616065" y="2991802"/>
                <a:ext cx="21619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比较 event1、event2、event3 的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616065" y="3220402"/>
                <a:ext cx="128682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面部均值漂移轨迹。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6629400" y="3771900"/>
                <a:ext cx="2095500" cy="438150"/>
              </a:xfrm>
              <a:prstGeom prst="roundRect">
                <a:avLst>
                  <a:gd name="adj" fmla="val 13043"/>
                </a:avLst>
              </a:prstGeom>
              <a:solidFill>
                <a:srgbClr val="F3F6FB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7359637" y="3926681"/>
                <a:ext cx="63502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E9F6E"/>
                    </a:solidFill>
                    <a:latin typeface="Consolas"/>
                    <a:ea typeface="Microsoft YaHei"/>
                    <a:cs typeface="Consolas"/>
                  </a:rPr>
                  <a:t>129 dims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616065" y="4592002"/>
                <a:ext cx="134983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E9F6E"/>
                    </a:solidFill>
                    <a:latin typeface="Arial"/>
                    <a:ea typeface="Microsoft YaHei"/>
                    <a:cs typeface="Arial"/>
                  </a:rPr>
                  <a:t>行为含义：疲劳轨迹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9277350" y="1695450"/>
              <a:ext cx="2381250" cy="3562350"/>
              <a:chOff x="9277350" y="1695450"/>
              <a:chExt cx="2381250" cy="356235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9277350" y="1695450"/>
                <a:ext cx="2381250" cy="3562350"/>
              </a:xfrm>
              <a:prstGeom prst="roundRect">
                <a:avLst>
                  <a:gd name="adj" fmla="val 3200"/>
                </a:avLst>
              </a:prstGeom>
              <a:solidFill>
                <a:srgbClr val="FFFFFF"/>
              </a:solidFill>
              <a:ln w="9525">
                <a:solidFill>
                  <a:srgbClr val="D8E0EA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9277350" y="1695450"/>
                <a:ext cx="238125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E8F7F0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523095" y="1936432"/>
                <a:ext cx="80430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0E9F6E"/>
                    </a:solidFill>
                    <a:latin typeface="Consolas"/>
                    <a:ea typeface="Microsoft YaHei"/>
                    <a:cs typeface="Consolas"/>
                  </a:rPr>
                  <a:t>auspec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9528810" y="2594610"/>
                <a:ext cx="9377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AU 时序频谱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530715" y="2991802"/>
                <a:ext cx="158086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低/中/高频能量、谱熵、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9530715" y="322040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主频，描述动态节律。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9544050" y="3771900"/>
                <a:ext cx="1847850" cy="438150"/>
              </a:xfrm>
              <a:prstGeom prst="roundRect">
                <a:avLst>
                  <a:gd name="adj" fmla="val 13043"/>
                </a:avLst>
              </a:prstGeom>
              <a:solidFill>
                <a:srgbClr val="F3F6FB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0130772" y="3926681"/>
                <a:ext cx="67440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E9F6E"/>
                    </a:solidFill>
                    <a:latin typeface="Consolas"/>
                    <a:ea typeface="Microsoft YaHei"/>
                    <a:cs typeface="Consolas"/>
                  </a:rPr>
                  <a:t>645 dims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530715" y="4592002"/>
                <a:ext cx="134983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0E9F6E"/>
                    </a:solidFill>
                    <a:latin typeface="Arial"/>
                    <a:ea typeface="Microsoft YaHei"/>
                    <a:cs typeface="Arial"/>
                  </a:rPr>
                  <a:t>行为含义：节律单调</a:t>
                </a:r>
              </a:p>
            </p:txBody>
          </p:sp>
        </p:grpSp>
      </p:grpSp>
      <p:grpSp>
        <p:nvGrpSpPr>
          <p:cNvPr id="54" name="Group 54"/>
          <p:cNvGrpSpPr/>
          <p:nvPr/>
        </p:nvGrpSpPr>
        <p:grpSpPr>
          <a:xfrm>
            <a:off x="533400" y="5581650"/>
            <a:ext cx="11125200" cy="533400"/>
            <a:chOff x="533400" y="5581650"/>
            <a:chExt cx="11125200" cy="533400"/>
          </a:xfrm>
        </p:grpSpPr>
        <p:sp>
          <p:nvSpPr>
            <p:cNvPr id="50" name="Rectangle 50"/>
            <p:cNvSpPr/>
            <p:nvPr/>
          </p:nvSpPr>
          <p:spPr>
            <a:xfrm>
              <a:off x="533400" y="5581650"/>
              <a:ext cx="11125200" cy="533400"/>
            </a:xfrm>
            <a:prstGeom prst="roundRect">
              <a:avLst>
                <a:gd name="adj" fmla="val 14286"/>
              </a:avLst>
            </a:prstGeom>
            <a:solidFill>
              <a:srgbClr val="EFF6FF"/>
            </a:solidFill>
            <a:ln w="10795">
              <a:solidFill>
                <a:srgbClr val="BFDBFE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82955" y="577881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最终回归融合：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308860" y="5795010"/>
              <a:ext cx="32564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172A"/>
                  </a:solidFill>
                  <a:latin typeface="Consolas"/>
                  <a:ea typeface="Microsoft YaHei"/>
                  <a:cs typeface="Consolas"/>
                </a:rPr>
                <a:t>ORIG + auvel + e3only + fatigue + auspec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224712" y="5803106"/>
              <a:ext cx="30289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五路信号覆盖步态、人格与多视角面部动态。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521970" y="64369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4A6"/>
                </a:solidFill>
                <a:latin typeface="Consolas"/>
                <a:ea typeface="Microsoft YaHei"/>
                <a:cs typeface="Consolas"/>
              </a:rPr>
              <a:t>09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3F6F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" name="Freeform 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1409700"/>
                  </a:moveTo>
                  <a:lnTo>
                    <a:pt x="12192000" y="1409700"/>
                  </a:lnTo>
                  <a:moveTo>
                    <a:pt x="0" y="3314700"/>
                  </a:moveTo>
                  <a:lnTo>
                    <a:pt x="12192000" y="3314700"/>
                  </a:lnTo>
                  <a:moveTo>
                    <a:pt x="0" y="5219700"/>
                  </a:moveTo>
                  <a:lnTo>
                    <a:pt x="12192000" y="5219700"/>
                  </a:lnTo>
                  <a:moveTo>
                    <a:pt x="1524000" y="0"/>
                  </a:moveTo>
                  <a:lnTo>
                    <a:pt x="1524000" y="6858000"/>
                  </a:lnTo>
                  <a:moveTo>
                    <a:pt x="3429000" y="0"/>
                  </a:moveTo>
                  <a:lnTo>
                    <a:pt x="3429000" y="6858000"/>
                  </a:lnTo>
                  <a:moveTo>
                    <a:pt x="5334000" y="0"/>
                  </a:moveTo>
                  <a:lnTo>
                    <a:pt x="5334000" y="6858000"/>
                  </a:lnTo>
                  <a:moveTo>
                    <a:pt x="7239000" y="0"/>
                  </a:moveTo>
                  <a:lnTo>
                    <a:pt x="72390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11049000" y="0"/>
                  </a:moveTo>
                  <a:lnTo>
                    <a:pt x="11049000" y="6858000"/>
                  </a:lnTo>
                </a:path>
              </a:pathLst>
            </a:custGeom>
            <a:solidFill>
              <a:srgbClr val="000000"/>
            </a:solidFill>
            <a:ln w="5715">
              <a:solidFill>
                <a:srgbClr val="D8E0EA">
                  <a:alpha val="32000"/>
                </a:srgbClr>
              </a:solidFill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64820" y="493395"/>
            <a:ext cx="7050634" cy="840105"/>
            <a:chOff x="464820" y="493395"/>
            <a:chExt cx="7050634" cy="840105"/>
          </a:xfrm>
        </p:grpSpPr>
        <p:sp>
          <p:nvSpPr>
            <p:cNvPr id="5" name="TextBox 5"/>
            <p:cNvSpPr txBox="1"/>
            <p:nvPr/>
          </p:nvSpPr>
          <p:spPr>
            <a:xfrm>
              <a:off x="483870" y="493395"/>
              <a:ext cx="213362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0E9F6E"/>
                  </a:solidFill>
                  <a:latin typeface="Consolas"/>
                  <a:ea typeface="Microsoft YaHei"/>
                  <a:cs typeface="Consolas"/>
                </a:rPr>
                <a:t>STAGE 3 CONT. / ENSEMBLE RANKERS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64820" y="693420"/>
              <a:ext cx="705063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小样本下，稳定性来自浅层模型与多 seed 集成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80060" y="1089660"/>
              <a:ext cx="611924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单次 MLP 训练不可靠，因此把每一路面部特征训练成稳定 ranker，再做平均与融合。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33400" y="1657350"/>
            <a:ext cx="2506313" cy="4210050"/>
            <a:chOff x="533400" y="1657350"/>
            <a:chExt cx="2506313" cy="4210050"/>
          </a:xfrm>
        </p:grpSpPr>
        <p:sp>
          <p:nvSpPr>
            <p:cNvPr id="9" name="Rectangle 9"/>
            <p:cNvSpPr/>
            <p:nvPr/>
          </p:nvSpPr>
          <p:spPr>
            <a:xfrm>
              <a:off x="533400" y="1657350"/>
              <a:ext cx="2476500" cy="1352550"/>
            </a:xfrm>
            <a:prstGeom prst="roundRect">
              <a:avLst>
                <a:gd name="adj" fmla="val 5634"/>
              </a:avLst>
            </a:prstGeom>
            <a:solidFill>
              <a:srgbClr val="F8FAFC"/>
            </a:solidFill>
            <a:ln w="10795">
              <a:solidFill>
                <a:srgbClr val="CBD5E1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8190" y="1834515"/>
              <a:ext cx="337952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F172A"/>
                  </a:solidFill>
                  <a:latin typeface="Consolas"/>
                  <a:ea typeface="Microsoft YaHei"/>
                  <a:cs typeface="Consolas"/>
                </a:rPr>
                <a:t>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73505" y="1987868"/>
              <a:ext cx="10928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47857"/>
                  </a:solidFill>
                  <a:latin typeface="Arial"/>
                  <a:ea typeface="Microsoft YaHei"/>
                  <a:cs typeface="Arial"/>
                </a:rPr>
                <a:t>面部 ranker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6765" y="2477452"/>
              <a:ext cx="22529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auvel / e3only / fatigue / auspec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33400" y="3238500"/>
              <a:ext cx="2476500" cy="1352550"/>
            </a:xfrm>
            <a:prstGeom prst="roundRect">
              <a:avLst>
                <a:gd name="adj" fmla="val 5634"/>
              </a:avLst>
            </a:prstGeom>
            <a:solidFill>
              <a:srgbClr val="F8FAFC"/>
            </a:solidFill>
            <a:ln w="10795">
              <a:solidFill>
                <a:srgbClr val="CBD5E1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8190" y="3415665"/>
              <a:ext cx="592084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F172A"/>
                  </a:solidFill>
                  <a:latin typeface="Consolas"/>
                  <a:ea typeface="Microsoft YaHei"/>
                  <a:cs typeface="Consolas"/>
                </a:rPr>
                <a:t>50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06855" y="3569018"/>
              <a:ext cx="12912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47857"/>
                  </a:solidFill>
                  <a:latin typeface="Arial"/>
                  <a:ea typeface="Microsoft YaHei"/>
                  <a:cs typeface="Arial"/>
                </a:rPr>
                <a:t>seed / ranker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6765" y="40586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平均预测降低随机性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4819650"/>
              <a:ext cx="2476500" cy="1047750"/>
            </a:xfrm>
            <a:prstGeom prst="roundRect">
              <a:avLst>
                <a:gd name="adj" fmla="val 7273"/>
              </a:avLst>
            </a:prstGeom>
            <a:solidFill>
              <a:srgbClr val="E8F7F0"/>
            </a:solidFill>
            <a:ln w="9525">
              <a:solidFill>
                <a:srgbClr val="0E9F6E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3905" y="5026342"/>
              <a:ext cx="95030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E9F6E"/>
                  </a:solidFill>
                  <a:latin typeface="Consolas"/>
                  <a:ea typeface="Microsoft YaHei"/>
                  <a:cs typeface="Consolas"/>
                </a:rPr>
                <a:t>≈200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927860" y="514731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小模型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7718" y="5514499"/>
              <a:ext cx="8828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4 路 × 50 seed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390900" y="1657350"/>
            <a:ext cx="8267700" cy="4210050"/>
            <a:chOff x="3390900" y="1657350"/>
            <a:chExt cx="8267700" cy="4210050"/>
          </a:xfrm>
        </p:grpSpPr>
        <p:sp>
          <p:nvSpPr>
            <p:cNvPr id="22" name="Rectangle 22"/>
            <p:cNvSpPr/>
            <p:nvPr/>
          </p:nvSpPr>
          <p:spPr>
            <a:xfrm>
              <a:off x="3390900" y="1657350"/>
              <a:ext cx="8267700" cy="4210050"/>
            </a:xfrm>
            <a:prstGeom prst="roundRect">
              <a:avLst>
                <a:gd name="adj" fmla="val 2262"/>
              </a:avLst>
            </a:prstGeom>
            <a:solidFill>
              <a:srgbClr val="FFFFFF"/>
            </a:solidFill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56648" y="1868329"/>
              <a:ext cx="2664283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每一路 ranker 的训练配方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3790950" y="2552700"/>
              <a:ext cx="6781800" cy="609600"/>
              <a:chOff x="3790950" y="2552700"/>
              <a:chExt cx="6781800" cy="6096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3790950" y="2552700"/>
                <a:ext cx="1238250" cy="609600"/>
              </a:xfrm>
              <a:prstGeom prst="roundRect">
                <a:avLst>
                  <a:gd name="adj" fmla="val 12500"/>
                </a:avLst>
              </a:prstGeom>
              <a:solidFill>
                <a:srgbClr val="E8F7F0"/>
              </a:solidFill>
              <a:ln w="9525">
                <a:solidFill>
                  <a:srgbClr val="0E9F6E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113400" y="2785110"/>
                <a:ext cx="59335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E9F6E"/>
                    </a:solidFill>
                    <a:latin typeface="Consolas"/>
                    <a:ea typeface="Microsoft YaHei"/>
                    <a:cs typeface="Consolas"/>
                  </a:rPr>
                  <a:t>input d</a:t>
                </a: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5029200" y="2857500"/>
                <a:ext cx="514350" cy="1"/>
              </a:xfrm>
              <a:prstGeom prst="line">
                <a:avLst/>
              </a:prstGeom>
              <a:noFill/>
              <a:ln w="28575">
                <a:solidFill>
                  <a:srgbClr val="0E9F6E"/>
                </a:solidFill>
                <a:tailEnd type="triangle" w="lg" len="lg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5638800" y="2552700"/>
                <a:ext cx="1238250" cy="609600"/>
              </a:xfrm>
              <a:prstGeom prst="roundRect">
                <a:avLst>
                  <a:gd name="adj" fmla="val 12500"/>
                </a:avLst>
              </a:prstGeom>
              <a:solidFill>
                <a:srgbClr val="F3F6FB"/>
              </a:solidFill>
              <a:ln w="9525">
                <a:solidFill>
                  <a:srgbClr val="D8E0EA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5940247" y="2785110"/>
                <a:ext cx="63535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11827"/>
                    </a:solidFill>
                    <a:latin typeface="Consolas"/>
                    <a:ea typeface="Microsoft YaHei"/>
                    <a:cs typeface="Consolas"/>
                  </a:rPr>
                  <a:t>96 GELU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6877050" y="2857500"/>
                <a:ext cx="514350" cy="1"/>
              </a:xfrm>
              <a:prstGeom prst="line">
                <a:avLst/>
              </a:prstGeom>
              <a:noFill/>
              <a:ln w="28575">
                <a:solidFill>
                  <a:srgbClr val="0E9F6E"/>
                </a:solidFill>
                <a:tailEnd type="triangle" w="lg" len="lg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7486650" y="2552700"/>
                <a:ext cx="1238250" cy="609600"/>
              </a:xfrm>
              <a:prstGeom prst="roundRect">
                <a:avLst>
                  <a:gd name="adj" fmla="val 12500"/>
                </a:avLst>
              </a:prstGeom>
              <a:solidFill>
                <a:srgbClr val="F3F6FB"/>
              </a:solidFill>
              <a:ln w="9525">
                <a:solidFill>
                  <a:srgbClr val="D8E0EA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788097" y="2785110"/>
                <a:ext cx="63535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11827"/>
                    </a:solidFill>
                    <a:latin typeface="Consolas"/>
                    <a:ea typeface="Microsoft YaHei"/>
                    <a:cs typeface="Consolas"/>
                  </a:rPr>
                  <a:t>48 GELU</a:t>
                </a:r>
              </a:p>
            </p:txBody>
          </p:sp>
          <p:sp>
            <p:nvSpPr>
              <p:cNvPr id="32" name="Line 32"/>
              <p:cNvSpPr/>
              <p:nvPr/>
            </p:nvSpPr>
            <p:spPr>
              <a:xfrm>
                <a:off x="8724900" y="2857500"/>
                <a:ext cx="514350" cy="1"/>
              </a:xfrm>
              <a:prstGeom prst="line">
                <a:avLst/>
              </a:prstGeom>
              <a:noFill/>
              <a:ln w="28575">
                <a:solidFill>
                  <a:srgbClr val="0E9F6E"/>
                </a:solidFill>
                <a:tailEnd type="triangle" w="lg" len="lg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9334500" y="2552700"/>
                <a:ext cx="1238250" cy="609600"/>
              </a:xfrm>
              <a:prstGeom prst="roundRect">
                <a:avLst>
                  <a:gd name="adj" fmla="val 12500"/>
                </a:avLst>
              </a:prstGeom>
              <a:solidFill>
                <a:srgbClr val="F8FAFC"/>
              </a:solidFill>
              <a:ln w="10795">
                <a:solidFill>
                  <a:srgbClr val="CBD5E1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572939" y="2785110"/>
                <a:ext cx="76137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172A"/>
                    </a:solidFill>
                    <a:latin typeface="Consolas"/>
                    <a:ea typeface="Microsoft YaHei"/>
                    <a:cs typeface="Consolas"/>
                  </a:rPr>
                  <a:t>PHQ rank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3790950" y="3676650"/>
              <a:ext cx="6781800" cy="1383506"/>
              <a:chOff x="3790950" y="3676650"/>
              <a:chExt cx="6781800" cy="1383506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3790950" y="3676650"/>
                <a:ext cx="6781800" cy="1333500"/>
              </a:xfrm>
              <a:prstGeom prst="roundRect">
                <a:avLst>
                  <a:gd name="adj" fmla="val 5714"/>
                </a:avLst>
              </a:prstGeom>
              <a:solidFill>
                <a:srgbClr val="F3F6FB"/>
              </a:solidFill>
              <a:ln w="9525">
                <a:solidFill>
                  <a:srgbClr val="D8E0EA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023360" y="38709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训练细节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024312" y="4221956"/>
                <a:ext cx="191131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0E9F6E"/>
                    </a:solidFill>
                    <a:latin typeface="Consolas"/>
                    <a:ea typeface="Microsoft YaHei"/>
                    <a:cs typeface="Consolas"/>
                  </a:rPr>
                  <a:t>loss = CCC loss + light MSE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4024312" y="4526756"/>
                <a:ext cx="348650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0E9F6E"/>
                    </a:solidFill>
                    <a:latin typeface="Consolas"/>
                    <a:ea typeface="Microsoft YaHei"/>
                    <a:cs typeface="Consolas"/>
                  </a:rPr>
                  <a:t>optimizer = AdamW, lr=1e-3, weight_decay=1e-3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4024312" y="4831556"/>
                <a:ext cx="372653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0E9F6E"/>
                    </a:solidFill>
                    <a:latin typeface="Consolas"/>
                    <a:ea typeface="Microsoft YaHei"/>
                    <a:cs typeface="Consolas"/>
                  </a:rPr>
                  <a:t>mixup = 2000 virtual samples / epoch, epochs = 400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3790950" y="5219700"/>
              <a:ext cx="6781800" cy="419100"/>
              <a:chOff x="3790950" y="5219700"/>
              <a:chExt cx="6781800" cy="4191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3790950" y="5219700"/>
                <a:ext cx="6781800" cy="419100"/>
              </a:xfrm>
              <a:prstGeom prst="roundRect">
                <a:avLst>
                  <a:gd name="adj" fmla="val 13636"/>
                </a:avLst>
              </a:prstGeom>
              <a:solidFill>
                <a:srgbClr val="F8FAFC"/>
              </a:solidFill>
              <a:ln w="10795">
                <a:solidFill>
                  <a:srgbClr val="CBD5E1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4898326" y="5356860"/>
                <a:ext cx="456704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0F172A"/>
                    </a:solidFill>
                    <a:latin typeface="Arial"/>
                    <a:ea typeface="Microsoft YaHei"/>
                    <a:cs typeface="Arial"/>
                  </a:rPr>
                  <a:t>用集成处理训练随机性，而不是相信某一次小样本深度训练。</a:t>
                </a:r>
              </a:p>
            </p:txBody>
          </p:sp>
        </p:grpSp>
      </p:grpSp>
      <p:sp>
        <p:nvSpPr>
          <p:cNvPr id="46" name="TextBox 46"/>
          <p:cNvSpPr txBox="1"/>
          <p:nvPr/>
        </p:nvSpPr>
        <p:spPr>
          <a:xfrm>
            <a:off x="521970" y="6436995"/>
            <a:ext cx="3949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4A6"/>
                </a:solidFill>
                <a:latin typeface="Consolas"/>
                <a:ea typeface="Microsoft YaHei"/>
                <a:cs typeface="Consolas"/>
              </a:rPr>
              <a:t>10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3F6F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0E8FF">
                <a:alpha val="35000"/>
              </a:srgbClr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64820" y="493395"/>
            <a:ext cx="5638419" cy="840105"/>
            <a:chOff x="464820" y="493395"/>
            <a:chExt cx="5638419" cy="840105"/>
          </a:xfrm>
        </p:grpSpPr>
        <p:sp>
          <p:nvSpPr>
            <p:cNvPr id="5" name="TextBox 5"/>
            <p:cNvSpPr txBox="1"/>
            <p:nvPr/>
          </p:nvSpPr>
          <p:spPr>
            <a:xfrm>
              <a:off x="483870" y="493395"/>
              <a:ext cx="159175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C3AED"/>
                  </a:solidFill>
                  <a:latin typeface="Consolas"/>
                  <a:ea typeface="Microsoft YaHei"/>
                  <a:cs typeface="Consolas"/>
                </a:rPr>
                <a:t>STAGE 4 / CCC CALIBRATION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64820" y="693420"/>
              <a:ext cx="33855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校准比继续堆模型更有效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80060" y="1089660"/>
              <a:ext cx="56231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CCC 不只看排序，还惩罚预测均值偏移和方差失配；小样本预测常常过度收缩。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14350" y="1676400"/>
            <a:ext cx="5715000" cy="4017169"/>
            <a:chOff x="514350" y="1676400"/>
            <a:chExt cx="5715000" cy="4017169"/>
          </a:xfrm>
        </p:grpSpPr>
        <p:sp>
          <p:nvSpPr>
            <p:cNvPr id="9" name="Rectangle 9"/>
            <p:cNvSpPr/>
            <p:nvPr/>
          </p:nvSpPr>
          <p:spPr>
            <a:xfrm>
              <a:off x="514350" y="1676400"/>
              <a:ext cx="5715000" cy="3676650"/>
            </a:xfrm>
            <a:prstGeom prst="roundRect">
              <a:avLst>
                <a:gd name="adj" fmla="val 2591"/>
              </a:avLst>
            </a:prstGeom>
            <a:solidFill>
              <a:srgbClr val="FFFFFF"/>
            </a:solidFill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2950" y="2079797"/>
              <a:ext cx="5257800" cy="2984157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730568" y="5495449"/>
              <a:ext cx="35222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A94A6"/>
                  </a:solidFill>
                  <a:latin typeface="Consolas"/>
                  <a:ea typeface="Microsoft YaHei"/>
                  <a:cs typeface="Consolas"/>
                </a:rPr>
                <a:t>AI diagram placeholder: before/after moment matching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686550" y="1676400"/>
            <a:ext cx="4972050" cy="1466850"/>
            <a:chOff x="6686550" y="1676400"/>
            <a:chExt cx="4972050" cy="1466850"/>
          </a:xfrm>
        </p:grpSpPr>
        <p:sp>
          <p:nvSpPr>
            <p:cNvPr id="13" name="Rectangle 13"/>
            <p:cNvSpPr/>
            <p:nvPr/>
          </p:nvSpPr>
          <p:spPr>
            <a:xfrm>
              <a:off x="6686550" y="1676400"/>
              <a:ext cx="4972050" cy="1466850"/>
            </a:xfrm>
            <a:prstGeom prst="roundRect">
              <a:avLst>
                <a:gd name="adj" fmla="val 5195"/>
              </a:avLst>
            </a:prstGeom>
            <a:solidFill>
              <a:srgbClr val="EEF2FF"/>
            </a:solidFill>
            <a:ln w="10795">
              <a:solidFill>
                <a:srgbClr val="BFDBFE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972300" y="1895475"/>
              <a:ext cx="14977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CCC 的三个约束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74205" y="2311718"/>
              <a:ext cx="38525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4155"/>
                  </a:solidFill>
                  <a:latin typeface="Consolas"/>
                  <a:ea typeface="Microsoft YaHei"/>
                  <a:cs typeface="Consolas"/>
                </a:rPr>
                <a:t>CCC = 2Cov(y,ŷ) / (Var(y)+Var(ŷ)+bias²)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78015" y="2667952"/>
              <a:ext cx="3107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排序相关性、均值对齐、方差对齐同时影响得分。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686550" y="3409950"/>
            <a:ext cx="4972050" cy="1600200"/>
            <a:chOff x="6686550" y="3409950"/>
            <a:chExt cx="4972050" cy="1600200"/>
          </a:xfrm>
        </p:grpSpPr>
        <p:sp>
          <p:nvSpPr>
            <p:cNvPr id="18" name="Rectangle 18"/>
            <p:cNvSpPr/>
            <p:nvPr/>
          </p:nvSpPr>
          <p:spPr>
            <a:xfrm>
              <a:off x="6686550" y="3409950"/>
              <a:ext cx="2362200" cy="160020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6973491" y="3737266"/>
              <a:ext cx="283474" cy="192391"/>
              <a:chOff x="6973491" y="3737266"/>
              <a:chExt cx="283474" cy="192391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6983611" y="3747368"/>
                <a:ext cx="263128" cy="172170"/>
              </a:xfrm>
              <a:custGeom>
                <a:avLst/>
                <a:gdLst/>
                <a:ahLst/>
                <a:cxnLst/>
                <a:rect l="l" t="t" r="r" b="b"/>
                <a:pathLst>
                  <a:path w="263128" h="172170">
                    <a:moveTo>
                      <a:pt x="263128" y="131688"/>
                    </a:moveTo>
                    <a:lnTo>
                      <a:pt x="263128" y="162049"/>
                    </a:lnTo>
                    <a:cubicBezTo>
                      <a:pt x="263128" y="167639"/>
                      <a:pt x="258597" y="172170"/>
                      <a:pt x="253008" y="172170"/>
                    </a:cubicBezTo>
                    <a:lnTo>
                      <a:pt x="10120" y="172170"/>
                    </a:lnTo>
                    <a:cubicBezTo>
                      <a:pt x="4531" y="172170"/>
                      <a:pt x="0" y="167639"/>
                      <a:pt x="0" y="162049"/>
                    </a:cubicBezTo>
                    <a:lnTo>
                      <a:pt x="0" y="133118"/>
                    </a:lnTo>
                    <a:cubicBezTo>
                      <a:pt x="0" y="60404"/>
                      <a:pt x="58382" y="377"/>
                      <a:pt x="131096" y="124"/>
                    </a:cubicBezTo>
                    <a:cubicBezTo>
                      <a:pt x="166070" y="0"/>
                      <a:pt x="199654" y="13806"/>
                      <a:pt x="224429" y="38493"/>
                    </a:cubicBezTo>
                    <a:cubicBezTo>
                      <a:pt x="249203" y="63179"/>
                      <a:pt x="263128" y="96714"/>
                      <a:pt x="263128" y="131688"/>
                    </a:cubicBezTo>
                    <a:close/>
                  </a:path>
                </a:pathLst>
              </a:custGeom>
              <a:solidFill>
                <a:srgbClr val="7C3AED">
                  <a:alpha val="20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" name="Freeform 20"/>
              <p:cNvSpPr/>
              <p:nvPr/>
            </p:nvSpPr>
            <p:spPr>
              <a:xfrm>
                <a:off x="6973491" y="3737266"/>
                <a:ext cx="283474" cy="192391"/>
              </a:xfrm>
              <a:custGeom>
                <a:avLst/>
                <a:gdLst/>
                <a:ahLst/>
                <a:cxnLst/>
                <a:rect l="l" t="t" r="r" b="b"/>
                <a:pathLst>
                  <a:path w="283474" h="192391">
                    <a:moveTo>
                      <a:pt x="241698" y="41434"/>
                    </a:moveTo>
                    <a:cubicBezTo>
                      <a:pt x="215202" y="14878"/>
                      <a:pt x="179198" y="0"/>
                      <a:pt x="141684" y="105"/>
                    </a:cubicBezTo>
                    <a:lnTo>
                      <a:pt x="141178" y="105"/>
                    </a:lnTo>
                    <a:cubicBezTo>
                      <a:pt x="63341" y="371"/>
                      <a:pt x="0" y="64622"/>
                      <a:pt x="0" y="143219"/>
                    </a:cubicBezTo>
                    <a:lnTo>
                      <a:pt x="0" y="172151"/>
                    </a:lnTo>
                    <a:cubicBezTo>
                      <a:pt x="0" y="183329"/>
                      <a:pt x="9062" y="192391"/>
                      <a:pt x="20241" y="192391"/>
                    </a:cubicBezTo>
                    <a:lnTo>
                      <a:pt x="263128" y="192391"/>
                    </a:lnTo>
                    <a:cubicBezTo>
                      <a:pt x="274307" y="192391"/>
                      <a:pt x="283369" y="183329"/>
                      <a:pt x="283369" y="172151"/>
                    </a:cubicBezTo>
                    <a:lnTo>
                      <a:pt x="283369" y="141790"/>
                    </a:lnTo>
                    <a:cubicBezTo>
                      <a:pt x="283474" y="104108"/>
                      <a:pt x="268463" y="67959"/>
                      <a:pt x="241698" y="41434"/>
                    </a:cubicBezTo>
                    <a:close/>
                    <a:moveTo>
                      <a:pt x="263128" y="172151"/>
                    </a:moveTo>
                    <a:lnTo>
                      <a:pt x="131197" y="172151"/>
                    </a:lnTo>
                    <a:lnTo>
                      <a:pt x="200471" y="76893"/>
                    </a:lnTo>
                    <a:cubicBezTo>
                      <a:pt x="203761" y="72373"/>
                      <a:pt x="202765" y="66041"/>
                      <a:pt x="198244" y="62750"/>
                    </a:cubicBezTo>
                    <a:cubicBezTo>
                      <a:pt x="193724" y="59459"/>
                      <a:pt x="187392" y="60456"/>
                      <a:pt x="184101" y="64977"/>
                    </a:cubicBezTo>
                    <a:lnTo>
                      <a:pt x="106162" y="172151"/>
                    </a:lnTo>
                    <a:lnTo>
                      <a:pt x="20241" y="172151"/>
                    </a:lnTo>
                    <a:lnTo>
                      <a:pt x="20241" y="143219"/>
                    </a:lnTo>
                    <a:cubicBezTo>
                      <a:pt x="20241" y="139323"/>
                      <a:pt x="20430" y="135477"/>
                      <a:pt x="20785" y="131669"/>
                    </a:cubicBezTo>
                    <a:lnTo>
                      <a:pt x="50602" y="131669"/>
                    </a:lnTo>
                    <a:cubicBezTo>
                      <a:pt x="56191" y="131669"/>
                      <a:pt x="60722" y="127138"/>
                      <a:pt x="60722" y="121549"/>
                    </a:cubicBezTo>
                    <a:cubicBezTo>
                      <a:pt x="60722" y="115960"/>
                      <a:pt x="56191" y="111429"/>
                      <a:pt x="50602" y="111429"/>
                    </a:cubicBezTo>
                    <a:lnTo>
                      <a:pt x="24377" y="111429"/>
                    </a:lnTo>
                    <a:cubicBezTo>
                      <a:pt x="37433" y="62269"/>
                      <a:pt x="80039" y="25103"/>
                      <a:pt x="131564" y="20776"/>
                    </a:cubicBezTo>
                    <a:lnTo>
                      <a:pt x="131564" y="50707"/>
                    </a:lnTo>
                    <a:cubicBezTo>
                      <a:pt x="131564" y="56296"/>
                      <a:pt x="136095" y="60827"/>
                      <a:pt x="141684" y="60827"/>
                    </a:cubicBezTo>
                    <a:cubicBezTo>
                      <a:pt x="147274" y="60827"/>
                      <a:pt x="151805" y="56296"/>
                      <a:pt x="151805" y="50707"/>
                    </a:cubicBezTo>
                    <a:lnTo>
                      <a:pt x="151805" y="20763"/>
                    </a:lnTo>
                    <a:cubicBezTo>
                      <a:pt x="203260" y="25094"/>
                      <a:pt x="246372" y="61444"/>
                      <a:pt x="259333" y="111429"/>
                    </a:cubicBezTo>
                    <a:lnTo>
                      <a:pt x="232767" y="111429"/>
                    </a:lnTo>
                    <a:cubicBezTo>
                      <a:pt x="227178" y="111429"/>
                      <a:pt x="222647" y="115960"/>
                      <a:pt x="222647" y="121549"/>
                    </a:cubicBezTo>
                    <a:cubicBezTo>
                      <a:pt x="222647" y="127138"/>
                      <a:pt x="227178" y="131669"/>
                      <a:pt x="232767" y="131669"/>
                    </a:cubicBezTo>
                    <a:lnTo>
                      <a:pt x="262711" y="131669"/>
                    </a:lnTo>
                    <a:cubicBezTo>
                      <a:pt x="262976" y="135022"/>
                      <a:pt x="263128" y="138387"/>
                      <a:pt x="263128" y="141790"/>
                    </a:cubicBezTo>
                    <a:close/>
                  </a:path>
                </a:pathLst>
              </a:custGeom>
              <a:solidFill>
                <a:srgbClr val="7C3AED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7393305" y="374046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问题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39915" y="42110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预测排序还可以，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39915" y="44396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但分布收缩到均值附近，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939915" y="4668202"/>
              <a:ext cx="12798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CCC 被方差项压低。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296400" y="3409950"/>
              <a:ext cx="2362200" cy="160020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9593461" y="3727252"/>
              <a:ext cx="263128" cy="222647"/>
              <a:chOff x="9593461" y="3727252"/>
              <a:chExt cx="263128" cy="222647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9603581" y="3737372"/>
                <a:ext cx="242888" cy="202406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02406">
                    <a:moveTo>
                      <a:pt x="242888" y="10120"/>
                    </a:moveTo>
                    <a:lnTo>
                      <a:pt x="242888" y="202406"/>
                    </a:lnTo>
                    <a:lnTo>
                      <a:pt x="0" y="202406"/>
                    </a:lnTo>
                    <a:lnTo>
                      <a:pt x="0" y="0"/>
                    </a:lnTo>
                    <a:lnTo>
                      <a:pt x="232767" y="0"/>
                    </a:lnTo>
                    <a:cubicBezTo>
                      <a:pt x="238356" y="0"/>
                      <a:pt x="242888" y="4531"/>
                      <a:pt x="242888" y="10120"/>
                    </a:cubicBezTo>
                    <a:close/>
                  </a:path>
                </a:pathLst>
              </a:custGeom>
              <a:solidFill>
                <a:srgbClr val="7C3AED">
                  <a:alpha val="20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9593461" y="3727252"/>
                <a:ext cx="263128" cy="222647"/>
              </a:xfrm>
              <a:custGeom>
                <a:avLst/>
                <a:gdLst/>
                <a:ahLst/>
                <a:cxnLst/>
                <a:rect l="l" t="t" r="r" b="b"/>
                <a:pathLst>
                  <a:path w="263128" h="222647">
                    <a:moveTo>
                      <a:pt x="263128" y="212527"/>
                    </a:moveTo>
                    <a:cubicBezTo>
                      <a:pt x="263128" y="218116"/>
                      <a:pt x="258597" y="222647"/>
                      <a:pt x="253008" y="222647"/>
                    </a:cubicBezTo>
                    <a:lnTo>
                      <a:pt x="10120" y="222647"/>
                    </a:lnTo>
                    <a:cubicBezTo>
                      <a:pt x="4531" y="222647"/>
                      <a:pt x="0" y="218116"/>
                      <a:pt x="0" y="212527"/>
                    </a:cubicBezTo>
                    <a:lnTo>
                      <a:pt x="0" y="10120"/>
                    </a:lnTo>
                    <a:cubicBezTo>
                      <a:pt x="0" y="4531"/>
                      <a:pt x="4531" y="0"/>
                      <a:pt x="10120" y="0"/>
                    </a:cubicBezTo>
                    <a:cubicBezTo>
                      <a:pt x="15710" y="0"/>
                      <a:pt x="20241" y="4531"/>
                      <a:pt x="20241" y="10120"/>
                    </a:cubicBezTo>
                    <a:lnTo>
                      <a:pt x="20241" y="147617"/>
                    </a:lnTo>
                    <a:lnTo>
                      <a:pt x="83923" y="83923"/>
                    </a:lnTo>
                    <a:cubicBezTo>
                      <a:pt x="85821" y="82022"/>
                      <a:pt x="88397" y="80955"/>
                      <a:pt x="91083" y="80955"/>
                    </a:cubicBezTo>
                    <a:cubicBezTo>
                      <a:pt x="93769" y="80955"/>
                      <a:pt x="96345" y="82022"/>
                      <a:pt x="98243" y="83923"/>
                    </a:cubicBezTo>
                    <a:lnTo>
                      <a:pt x="131564" y="117256"/>
                    </a:lnTo>
                    <a:lnTo>
                      <a:pt x="198219" y="50602"/>
                    </a:lnTo>
                    <a:lnTo>
                      <a:pt x="172045" y="50602"/>
                    </a:lnTo>
                    <a:cubicBezTo>
                      <a:pt x="166456" y="50602"/>
                      <a:pt x="161925" y="46071"/>
                      <a:pt x="161925" y="40481"/>
                    </a:cubicBezTo>
                    <a:cubicBezTo>
                      <a:pt x="161925" y="34892"/>
                      <a:pt x="166456" y="30361"/>
                      <a:pt x="172045" y="30361"/>
                    </a:cubicBezTo>
                    <a:lnTo>
                      <a:pt x="222647" y="30361"/>
                    </a:lnTo>
                    <a:cubicBezTo>
                      <a:pt x="228236" y="30361"/>
                      <a:pt x="232767" y="34892"/>
                      <a:pt x="232767" y="40481"/>
                    </a:cubicBezTo>
                    <a:lnTo>
                      <a:pt x="232767" y="91083"/>
                    </a:lnTo>
                    <a:cubicBezTo>
                      <a:pt x="232767" y="96672"/>
                      <a:pt x="228236" y="101203"/>
                      <a:pt x="222647" y="101203"/>
                    </a:cubicBezTo>
                    <a:cubicBezTo>
                      <a:pt x="217058" y="101203"/>
                      <a:pt x="212527" y="96672"/>
                      <a:pt x="212527" y="91083"/>
                    </a:cubicBezTo>
                    <a:lnTo>
                      <a:pt x="212527" y="64909"/>
                    </a:lnTo>
                    <a:lnTo>
                      <a:pt x="138724" y="138724"/>
                    </a:lnTo>
                    <a:cubicBezTo>
                      <a:pt x="136826" y="140625"/>
                      <a:pt x="134250" y="141692"/>
                      <a:pt x="131564" y="141692"/>
                    </a:cubicBezTo>
                    <a:cubicBezTo>
                      <a:pt x="128878" y="141692"/>
                      <a:pt x="126302" y="140625"/>
                      <a:pt x="124404" y="138724"/>
                    </a:cubicBezTo>
                    <a:lnTo>
                      <a:pt x="91083" y="105390"/>
                    </a:lnTo>
                    <a:lnTo>
                      <a:pt x="20241" y="176233"/>
                    </a:lnTo>
                    <a:lnTo>
                      <a:pt x="20241" y="202406"/>
                    </a:lnTo>
                    <a:lnTo>
                      <a:pt x="253008" y="202406"/>
                    </a:lnTo>
                    <a:cubicBezTo>
                      <a:pt x="258597" y="202406"/>
                      <a:pt x="263128" y="206937"/>
                      <a:pt x="263128" y="212527"/>
                    </a:cubicBezTo>
                    <a:close/>
                  </a:path>
                </a:pathLst>
              </a:custGeom>
              <a:solidFill>
                <a:srgbClr val="7C3AED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10003155" y="374046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方法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549765" y="4211002"/>
              <a:ext cx="14898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对 PHQ 预测做 moment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549765" y="4439602"/>
              <a:ext cx="14968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matching / 分布对齐，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549765" y="46682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基本不改变排序。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686550" y="5314950"/>
            <a:ext cx="4972050" cy="552450"/>
            <a:chOff x="6686550" y="5314950"/>
            <a:chExt cx="4972050" cy="552450"/>
          </a:xfrm>
        </p:grpSpPr>
        <p:sp>
          <p:nvSpPr>
            <p:cNvPr id="35" name="Rectangle 35"/>
            <p:cNvSpPr/>
            <p:nvPr/>
          </p:nvSpPr>
          <p:spPr>
            <a:xfrm>
              <a:off x="6686550" y="5314950"/>
              <a:ext cx="4972050" cy="552450"/>
            </a:xfrm>
            <a:prstGeom prst="roundRect">
              <a:avLst>
                <a:gd name="adj" fmla="val 13793"/>
              </a:avLst>
            </a:prstGeom>
            <a:solidFill>
              <a:srgbClr val="7C3AED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68490" y="5463540"/>
              <a:ext cx="21501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CCC ≈ 0.65 → 0.88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643110" y="5528310"/>
              <a:ext cx="16938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Score 约 0.72 → 0.79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521970" y="6436995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4A6"/>
                </a:solidFill>
                <a:latin typeface="Consolas"/>
                <a:ea typeface="Microsoft YaHei"/>
                <a:cs typeface="Consolas"/>
              </a:rPr>
              <a:t>11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34" grpId="0"/>
      <p:bldP spid="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3F6F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" name="Freeform 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1428750"/>
                  </a:moveTo>
                  <a:lnTo>
                    <a:pt x="12192000" y="1428750"/>
                  </a:lnTo>
                  <a:moveTo>
                    <a:pt x="0" y="3333750"/>
                  </a:moveTo>
                  <a:lnTo>
                    <a:pt x="12192000" y="3333750"/>
                  </a:lnTo>
                  <a:moveTo>
                    <a:pt x="0" y="5238750"/>
                  </a:moveTo>
                  <a:lnTo>
                    <a:pt x="12192000" y="5238750"/>
                  </a:lnTo>
                  <a:moveTo>
                    <a:pt x="1524000" y="0"/>
                  </a:moveTo>
                  <a:lnTo>
                    <a:pt x="1524000" y="6858000"/>
                  </a:lnTo>
                  <a:moveTo>
                    <a:pt x="3429000" y="0"/>
                  </a:moveTo>
                  <a:lnTo>
                    <a:pt x="3429000" y="6858000"/>
                  </a:lnTo>
                  <a:moveTo>
                    <a:pt x="5334000" y="0"/>
                  </a:moveTo>
                  <a:lnTo>
                    <a:pt x="5334000" y="6858000"/>
                  </a:lnTo>
                  <a:moveTo>
                    <a:pt x="7239000" y="0"/>
                  </a:moveTo>
                  <a:lnTo>
                    <a:pt x="72390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11049000" y="0"/>
                  </a:moveTo>
                  <a:lnTo>
                    <a:pt x="11049000" y="6858000"/>
                  </a:lnTo>
                </a:path>
              </a:pathLst>
            </a:custGeom>
            <a:solidFill>
              <a:srgbClr val="000000"/>
            </a:solidFill>
            <a:ln w="5715">
              <a:solidFill>
                <a:srgbClr val="D8E0EA">
                  <a:alpha val="32000"/>
                </a:srgbClr>
              </a:solidFill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64820" y="493395"/>
            <a:ext cx="5118354" cy="840105"/>
            <a:chOff x="464820" y="493395"/>
            <a:chExt cx="5118354" cy="840105"/>
          </a:xfrm>
        </p:grpSpPr>
        <p:sp>
          <p:nvSpPr>
            <p:cNvPr id="5" name="TextBox 5"/>
            <p:cNvSpPr txBox="1"/>
            <p:nvPr/>
          </p:nvSpPr>
          <p:spPr>
            <a:xfrm>
              <a:off x="483870" y="493395"/>
              <a:ext cx="18374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7C3AED"/>
                  </a:solidFill>
                  <a:latin typeface="Consolas"/>
                  <a:ea typeface="Microsoft YaHei"/>
                  <a:cs typeface="Consolas"/>
                </a:rPr>
                <a:t>STAGE 5 / CLASSIFICATION HEAD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64820" y="693420"/>
              <a:ext cx="476554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回归排序好，不等于分类边界好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80060" y="1089660"/>
              <a:ext cx="510311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当 CCC 提升后，F1/Kappa 仍停滞，说明分类目标必须拆出来单独优化。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52450" y="1828800"/>
            <a:ext cx="11125200" cy="1200150"/>
            <a:chOff x="552450" y="1828800"/>
            <a:chExt cx="11125200" cy="1200150"/>
          </a:xfrm>
        </p:grpSpPr>
        <p:sp>
          <p:nvSpPr>
            <p:cNvPr id="9" name="Rectangle 9"/>
            <p:cNvSpPr/>
            <p:nvPr/>
          </p:nvSpPr>
          <p:spPr>
            <a:xfrm>
              <a:off x="552450" y="1828800"/>
              <a:ext cx="2381250" cy="1200150"/>
            </a:xfrm>
            <a:prstGeom prst="roundRect">
              <a:avLst>
                <a:gd name="adj" fmla="val 6349"/>
              </a:avLst>
            </a:prstGeom>
            <a:solidFill>
              <a:srgbClr val="FFFFFF"/>
            </a:solidFill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1055" y="20831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早期做法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2960" y="2442210"/>
              <a:ext cx="12626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C3AED"/>
                  </a:solidFill>
                  <a:latin typeface="Consolas"/>
                  <a:ea typeface="Microsoft YaHei"/>
                  <a:cs typeface="Consolas"/>
                </a:rPr>
                <a:t>PHQ → threshold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4865" y="2706052"/>
              <a:ext cx="13638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二/三分类由阈值导出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2933700" y="2428875"/>
              <a:ext cx="704850" cy="1"/>
            </a:xfrm>
            <a:prstGeom prst="line">
              <a:avLst/>
            </a:prstGeom>
            <a:noFill/>
            <a:ln w="28575">
              <a:solidFill>
                <a:srgbClr val="7C3AED"/>
              </a:solidFill>
              <a:tailEnd type="triangle" w="lg" len="lg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733800" y="1828800"/>
              <a:ext cx="2381250" cy="1200150"/>
            </a:xfrm>
            <a:prstGeom prst="roundRect">
              <a:avLst>
                <a:gd name="adj" fmla="val 6349"/>
              </a:avLst>
            </a:prstGeom>
            <a:solidFill>
              <a:srgbClr val="FFF3D8"/>
            </a:solidFill>
            <a:ln w="9525">
              <a:solidFill>
                <a:srgbClr val="F59E0B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002405" y="20831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瓶颈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04310" y="2442210"/>
              <a:ext cx="12786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F1 / Kappa stuck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06215" y="270605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分类边界与回归排序不完全一致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115050" y="2428875"/>
              <a:ext cx="704850" cy="1"/>
            </a:xfrm>
            <a:prstGeom prst="line">
              <a:avLst/>
            </a:prstGeom>
            <a:noFill/>
            <a:ln w="28575">
              <a:solidFill>
                <a:srgbClr val="7C3AED"/>
              </a:solidFill>
              <a:tailEnd type="triangle" w="lg" len="lg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915150" y="1828800"/>
              <a:ext cx="2381250" cy="1200150"/>
            </a:xfrm>
            <a:prstGeom prst="roundRect">
              <a:avLst>
                <a:gd name="adj" fmla="val 6349"/>
              </a:avLst>
            </a:prstGeom>
            <a:solidFill>
              <a:srgbClr val="F0E8FF"/>
            </a:solidFill>
            <a:ln w="9525">
              <a:solidFill>
                <a:srgbClr val="7C3AED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83755" y="20831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拆分类头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85660" y="2442210"/>
              <a:ext cx="13586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C3AED"/>
                  </a:solidFill>
                  <a:latin typeface="Consolas"/>
                  <a:ea typeface="Microsoft YaHei"/>
                  <a:cs typeface="Consolas"/>
                </a:rPr>
                <a:t>independent head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7565" y="2706052"/>
              <a:ext cx="15878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用面部 + 步态双模态确认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9296400" y="2428875"/>
              <a:ext cx="704850" cy="1"/>
            </a:xfrm>
            <a:prstGeom prst="line">
              <a:avLst/>
            </a:prstGeom>
            <a:noFill/>
            <a:ln w="28575">
              <a:solidFill>
                <a:srgbClr val="7C3AED"/>
              </a:solidFill>
              <a:tailEnd type="triangle" w="lg" len="lg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0096500" y="1828800"/>
              <a:ext cx="1581150" cy="1200150"/>
            </a:xfrm>
            <a:prstGeom prst="roundRect">
              <a:avLst>
                <a:gd name="adj" fmla="val 6349"/>
              </a:avLst>
            </a:prstGeom>
            <a:solidFill>
              <a:srgbClr val="F8FAFC"/>
            </a:solidFill>
            <a:ln w="10795">
              <a:solidFill>
                <a:srgbClr val="CBD5E1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536965" y="2059305"/>
              <a:ext cx="70022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0F172A"/>
                  </a:solidFill>
                  <a:latin typeface="Consolas"/>
                  <a:ea typeface="Microsoft YaHei"/>
                  <a:cs typeface="Consolas"/>
                </a:rPr>
                <a:t>0.83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593705" y="25155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分类头后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52450" y="3524250"/>
            <a:ext cx="5295900" cy="2076450"/>
            <a:chOff x="552450" y="3524250"/>
            <a:chExt cx="5295900" cy="2076450"/>
          </a:xfrm>
        </p:grpSpPr>
        <p:sp>
          <p:nvSpPr>
            <p:cNvPr id="28" name="Rectangle 28"/>
            <p:cNvSpPr/>
            <p:nvPr/>
          </p:nvSpPr>
          <p:spPr>
            <a:xfrm>
              <a:off x="552450" y="3524250"/>
              <a:ext cx="5295900" cy="2076450"/>
            </a:xfrm>
            <a:prstGeom prst="roundRect">
              <a:avLst>
                <a:gd name="adj" fmla="val 3670"/>
              </a:avLst>
            </a:prstGeom>
            <a:solidFill>
              <a:srgbClr val="F8FAFC"/>
            </a:solidFill>
            <a:ln w="10795">
              <a:solidFill>
                <a:srgbClr val="CBD5E1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6295" y="3746182"/>
              <a:ext cx="189014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双模态一致性规则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2010" y="4232910"/>
              <a:ext cx="369331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分类判断不再只依赖 PHQ 阈值，</a:t>
              </a:r>
              <a:endParaRPr lang="en-US" altLang="zh-CN" sz="1200" dirty="0">
                <a:solidFill>
                  <a:srgbClr val="D8E0EA"/>
                </a:solidFill>
                <a:latin typeface="Arial"/>
                <a:ea typeface="Microsoft YaHei"/>
                <a:cs typeface="Arial"/>
              </a:endParaRPr>
            </a:p>
            <a:p>
              <a:pPr algn="l"/>
              <a:r>
                <a:rPr lang="zh-CN" sz="120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而是要求面部与步态信号在关键边界上形成一致证据。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1058" y="4662964"/>
              <a:ext cx="477215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334155"/>
                  </a:solidFill>
                  <a:latin typeface="Consolas"/>
                  <a:ea typeface="Microsoft YaHei"/>
                  <a:cs typeface="Consolas"/>
                </a:rPr>
                <a:t>face signal AND gait/personality signal → class decision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2962" y="5079206"/>
              <a:ext cx="48291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目标是减少单一路径误判，尤其是三分类中重度样本稀缺带来的不稳定。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248400" y="3524250"/>
            <a:ext cx="5410200" cy="2076450"/>
            <a:chOff x="6248400" y="3524250"/>
            <a:chExt cx="5410200" cy="2076450"/>
          </a:xfrm>
        </p:grpSpPr>
        <p:sp>
          <p:nvSpPr>
            <p:cNvPr id="34" name="Rectangle 34"/>
            <p:cNvSpPr/>
            <p:nvPr/>
          </p:nvSpPr>
          <p:spPr>
            <a:xfrm>
              <a:off x="6248400" y="3524250"/>
              <a:ext cx="5410200" cy="2076450"/>
            </a:xfrm>
            <a:prstGeom prst="roundRect">
              <a:avLst>
                <a:gd name="adj" fmla="val 3670"/>
              </a:avLst>
            </a:prstGeom>
            <a:solidFill>
              <a:srgbClr val="FFFFFF"/>
            </a:solidFill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13195" y="3746182"/>
              <a:ext cx="281425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分类头解决的是另一个目标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6534150" y="4305300"/>
              <a:ext cx="4819650" cy="781050"/>
              <a:chOff x="6534150" y="4305300"/>
              <a:chExt cx="4819650" cy="7810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534150" y="4305300"/>
                <a:ext cx="2247900" cy="781050"/>
              </a:xfrm>
              <a:prstGeom prst="roundRect">
                <a:avLst>
                  <a:gd name="adj" fmla="val 9756"/>
                </a:avLst>
              </a:prstGeom>
              <a:solidFill>
                <a:srgbClr val="F3F6FB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779895" y="4451032"/>
                <a:ext cx="94292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7C3AED"/>
                    </a:solidFill>
                    <a:latin typeface="Consolas"/>
                    <a:ea typeface="Microsoft YaHei"/>
                    <a:cs typeface="Consolas"/>
                  </a:rPr>
                  <a:t>CCC high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787515" y="4763452"/>
                <a:ext cx="100679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回归排序与分布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9105900" y="4305300"/>
                <a:ext cx="2247900" cy="781050"/>
              </a:xfrm>
              <a:prstGeom prst="roundRect">
                <a:avLst>
                  <a:gd name="adj" fmla="val 9756"/>
                </a:avLst>
              </a:prstGeom>
              <a:solidFill>
                <a:srgbClr val="F0E8FF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351645" y="4451032"/>
                <a:ext cx="100068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7C3AED"/>
                    </a:solidFill>
                    <a:latin typeface="Consolas"/>
                    <a:ea typeface="Microsoft YaHei"/>
                    <a:cs typeface="Consolas"/>
                  </a:rPr>
                  <a:t>F1/Kappa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9359265" y="476345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分类边界与类别一致性</a:t>
                </a:r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6519862" y="5288756"/>
              <a:ext cx="48644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7C3AED"/>
                  </a:solidFill>
                  <a:latin typeface="Arial"/>
                  <a:ea typeface="Microsoft YaHei"/>
                  <a:cs typeface="Arial"/>
                </a:rPr>
                <a:t>因此后期需要“回归头 + 分类头”双目标收口，而不是只调 PHQ 阈值。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521970" y="6436995"/>
            <a:ext cx="3348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4A6"/>
                </a:solidFill>
                <a:latin typeface="Consolas"/>
                <a:ea typeface="Microsoft YaHei"/>
                <a:cs typeface="Consolas"/>
              </a:rPr>
              <a:t>12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4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3F6F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3D8">
                <a:alpha val="22000"/>
              </a:srgbClr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1466850"/>
                  </a:moveTo>
                  <a:lnTo>
                    <a:pt x="12192000" y="1466850"/>
                  </a:lnTo>
                  <a:moveTo>
                    <a:pt x="0" y="3371850"/>
                  </a:moveTo>
                  <a:lnTo>
                    <a:pt x="12192000" y="3371850"/>
                  </a:lnTo>
                  <a:moveTo>
                    <a:pt x="0" y="5276850"/>
                  </a:moveTo>
                  <a:lnTo>
                    <a:pt x="12192000" y="5276850"/>
                  </a:lnTo>
                  <a:moveTo>
                    <a:pt x="1524000" y="0"/>
                  </a:moveTo>
                  <a:lnTo>
                    <a:pt x="1524000" y="6858000"/>
                  </a:lnTo>
                  <a:moveTo>
                    <a:pt x="3429000" y="0"/>
                  </a:moveTo>
                  <a:lnTo>
                    <a:pt x="3429000" y="6858000"/>
                  </a:lnTo>
                  <a:moveTo>
                    <a:pt x="5334000" y="0"/>
                  </a:moveTo>
                  <a:lnTo>
                    <a:pt x="5334000" y="6858000"/>
                  </a:lnTo>
                  <a:moveTo>
                    <a:pt x="7239000" y="0"/>
                  </a:moveTo>
                  <a:lnTo>
                    <a:pt x="72390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11049000" y="0"/>
                  </a:moveTo>
                  <a:lnTo>
                    <a:pt x="11049000" y="6858000"/>
                  </a:lnTo>
                </a:path>
              </a:pathLst>
            </a:custGeom>
            <a:solidFill>
              <a:srgbClr val="000000"/>
            </a:solidFill>
            <a:ln w="5715">
              <a:solidFill>
                <a:srgbClr val="D8E0EA">
                  <a:alpha val="30000"/>
                </a:srgbClr>
              </a:solidFill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64820" y="493395"/>
            <a:ext cx="6854571" cy="840105"/>
            <a:chOff x="464820" y="493395"/>
            <a:chExt cx="6854571" cy="840105"/>
          </a:xfrm>
        </p:grpSpPr>
        <p:sp>
          <p:nvSpPr>
            <p:cNvPr id="6" name="TextBox 6"/>
            <p:cNvSpPr txBox="1"/>
            <p:nvPr/>
          </p:nvSpPr>
          <p:spPr>
            <a:xfrm>
              <a:off x="483870" y="493395"/>
              <a:ext cx="21273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STAGE 6 / SPEECH EXPLORATION MAP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64820" y="693420"/>
              <a:ext cx="642895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语音探索覆盖声学、嵌入、序列模型和 ASR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80060" y="1089660"/>
              <a:ext cx="68393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语音线不是只做一次失败尝试，而是沿“临床声学 → 深度表征 → 语义证据 → 动态迟缓”逐步验证。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4350" y="1657350"/>
            <a:ext cx="2381250" cy="4095750"/>
            <a:chOff x="514350" y="1657350"/>
            <a:chExt cx="2381250" cy="4095750"/>
          </a:xfrm>
        </p:grpSpPr>
        <p:sp>
          <p:nvSpPr>
            <p:cNvPr id="10" name="Rectangle 10"/>
            <p:cNvSpPr/>
            <p:nvPr/>
          </p:nvSpPr>
          <p:spPr>
            <a:xfrm>
              <a:off x="514350" y="1657350"/>
              <a:ext cx="2381250" cy="4095750"/>
            </a:xfrm>
            <a:prstGeom prst="roundRect">
              <a:avLst>
                <a:gd name="adj" fmla="val 3200"/>
              </a:avLst>
            </a:prstGeom>
            <a:solidFill>
              <a:srgbClr val="FFFBEB"/>
            </a:solidFill>
            <a:ln w="10795">
              <a:solidFill>
                <a:srgbClr val="FDE68A"/>
              </a:solidFill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871538" y="1985962"/>
              <a:ext cx="238125" cy="333375"/>
              <a:chOff x="871538" y="1985962"/>
              <a:chExt cx="238125" cy="33337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931069" y="1997869"/>
                <a:ext cx="11906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214312">
                    <a:moveTo>
                      <a:pt x="119062" y="59531"/>
                    </a:moveTo>
                    <a:lnTo>
                      <a:pt x="119062" y="154781"/>
                    </a:lnTo>
                    <a:cubicBezTo>
                      <a:pt x="119062" y="187659"/>
                      <a:pt x="92409" y="214312"/>
                      <a:pt x="59531" y="214312"/>
                    </a:cubicBezTo>
                    <a:lnTo>
                      <a:pt x="59531" y="214312"/>
                    </a:lnTo>
                    <a:cubicBezTo>
                      <a:pt x="26653" y="214312"/>
                      <a:pt x="0" y="187659"/>
                      <a:pt x="0" y="154781"/>
                    </a:cubicBezTo>
                    <a:lnTo>
                      <a:pt x="0" y="59531"/>
                    </a:lnTo>
                    <a:cubicBezTo>
                      <a:pt x="0" y="26653"/>
                      <a:pt x="26653" y="0"/>
                      <a:pt x="59531" y="0"/>
                    </a:cubicBezTo>
                    <a:lnTo>
                      <a:pt x="59531" y="0"/>
                    </a:lnTo>
                    <a:cubicBezTo>
                      <a:pt x="92409" y="0"/>
                      <a:pt x="119062" y="26653"/>
                      <a:pt x="119062" y="59531"/>
                    </a:cubicBezTo>
                    <a:close/>
                  </a:path>
                </a:pathLst>
              </a:custGeom>
              <a:solidFill>
                <a:srgbClr val="F59E0B">
                  <a:alpha val="20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871538" y="1985962"/>
                <a:ext cx="238125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238125" h="333375">
                    <a:moveTo>
                      <a:pt x="119062" y="238125"/>
                    </a:moveTo>
                    <a:cubicBezTo>
                      <a:pt x="158499" y="238084"/>
                      <a:pt x="190459" y="206124"/>
                      <a:pt x="190500" y="166688"/>
                    </a:cubicBezTo>
                    <a:lnTo>
                      <a:pt x="190500" y="71438"/>
                    </a:lnTo>
                    <a:cubicBezTo>
                      <a:pt x="190500" y="31984"/>
                      <a:pt x="158516" y="0"/>
                      <a:pt x="119062" y="0"/>
                    </a:cubicBezTo>
                    <a:cubicBezTo>
                      <a:pt x="79609" y="0"/>
                      <a:pt x="47625" y="31984"/>
                      <a:pt x="47625" y="71438"/>
                    </a:cubicBezTo>
                    <a:lnTo>
                      <a:pt x="47625" y="166688"/>
                    </a:lnTo>
                    <a:cubicBezTo>
                      <a:pt x="47666" y="206124"/>
                      <a:pt x="79626" y="238084"/>
                      <a:pt x="119062" y="238125"/>
                    </a:cubicBezTo>
                    <a:close/>
                    <a:moveTo>
                      <a:pt x="71438" y="71438"/>
                    </a:moveTo>
                    <a:cubicBezTo>
                      <a:pt x="71438" y="45135"/>
                      <a:pt x="92760" y="23812"/>
                      <a:pt x="119062" y="23812"/>
                    </a:cubicBezTo>
                    <a:cubicBezTo>
                      <a:pt x="145365" y="23812"/>
                      <a:pt x="166688" y="45135"/>
                      <a:pt x="166688" y="71438"/>
                    </a:cubicBezTo>
                    <a:lnTo>
                      <a:pt x="166688" y="166688"/>
                    </a:lnTo>
                    <a:cubicBezTo>
                      <a:pt x="166688" y="192990"/>
                      <a:pt x="145365" y="214312"/>
                      <a:pt x="119062" y="214312"/>
                    </a:cubicBezTo>
                    <a:cubicBezTo>
                      <a:pt x="92760" y="214312"/>
                      <a:pt x="71438" y="192990"/>
                      <a:pt x="71438" y="166688"/>
                    </a:cubicBezTo>
                    <a:close/>
                    <a:moveTo>
                      <a:pt x="130969" y="285155"/>
                    </a:moveTo>
                    <a:lnTo>
                      <a:pt x="130969" y="321469"/>
                    </a:lnTo>
                    <a:cubicBezTo>
                      <a:pt x="130969" y="328044"/>
                      <a:pt x="125638" y="333375"/>
                      <a:pt x="119062" y="333375"/>
                    </a:cubicBezTo>
                    <a:cubicBezTo>
                      <a:pt x="112487" y="333375"/>
                      <a:pt x="107156" y="328044"/>
                      <a:pt x="107156" y="321469"/>
                    </a:cubicBezTo>
                    <a:lnTo>
                      <a:pt x="107156" y="285155"/>
                    </a:lnTo>
                    <a:cubicBezTo>
                      <a:pt x="46353" y="278967"/>
                      <a:pt x="75" y="227805"/>
                      <a:pt x="0" y="166688"/>
                    </a:cubicBezTo>
                    <a:cubicBezTo>
                      <a:pt x="0" y="160112"/>
                      <a:pt x="5331" y="154781"/>
                      <a:pt x="11906" y="154781"/>
                    </a:cubicBezTo>
                    <a:cubicBezTo>
                      <a:pt x="18482" y="154781"/>
                      <a:pt x="23812" y="160112"/>
                      <a:pt x="23812" y="166688"/>
                    </a:cubicBezTo>
                    <a:cubicBezTo>
                      <a:pt x="23812" y="219293"/>
                      <a:pt x="66457" y="261938"/>
                      <a:pt x="119062" y="261938"/>
                    </a:cubicBezTo>
                    <a:cubicBezTo>
                      <a:pt x="171668" y="261938"/>
                      <a:pt x="214312" y="219293"/>
                      <a:pt x="214312" y="166688"/>
                    </a:cubicBezTo>
                    <a:cubicBezTo>
                      <a:pt x="214312" y="160112"/>
                      <a:pt x="219643" y="154781"/>
                      <a:pt x="226219" y="154781"/>
                    </a:cubicBezTo>
                    <a:cubicBezTo>
                      <a:pt x="232794" y="154781"/>
                      <a:pt x="238125" y="160112"/>
                      <a:pt x="238125" y="166688"/>
                    </a:cubicBezTo>
                    <a:cubicBezTo>
                      <a:pt x="238050" y="227805"/>
                      <a:pt x="191772" y="278967"/>
                      <a:pt x="130969" y="285155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756285" y="2256472"/>
              <a:ext cx="353313" cy="701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b="1" dirty="0">
                  <a:solidFill>
                    <a:srgbClr val="B45309"/>
                  </a:solidFill>
                  <a:latin typeface="Consolas"/>
                  <a:ea typeface="Microsoft YaHei"/>
                  <a:cs typeface="Consolas"/>
                </a:rPr>
                <a:t>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407795" y="245078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类路线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4860" y="3115389"/>
              <a:ext cx="123110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判断在本数据集上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4860" y="3382089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能否带来稳定泛化增益。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800100" y="4038600"/>
              <a:ext cx="1676400" cy="9525"/>
            </a:xfrm>
            <a:custGeom>
              <a:avLst/>
              <a:gdLst/>
              <a:ahLst/>
              <a:cxnLst/>
              <a:rect l="l" t="t" r="r" b="b"/>
              <a:pathLst>
                <a:path w="1676400" h="9525">
                  <a:moveTo>
                    <a:pt x="0" y="0"/>
                  </a:moveTo>
                  <a:lnTo>
                    <a:pt x="1676400" y="0"/>
                  </a:lnTo>
                </a:path>
              </a:pathLst>
            </a:custGeom>
            <a:noFill/>
            <a:ln w="9525">
              <a:solidFill>
                <a:srgbClr val="FFFFFF">
                  <a:alpha val="20000"/>
                </a:srgbClr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5812" y="4317206"/>
              <a:ext cx="166678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B45309"/>
                  </a:solidFill>
                  <a:latin typeface="Consolas"/>
                  <a:ea typeface="Microsoft YaHei"/>
                  <a:cs typeface="Consolas"/>
                </a:rPr>
                <a:t>ACOUSTIC / EMBEDDING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5812" y="4602956"/>
              <a:ext cx="11942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B45309"/>
                  </a:solidFill>
                  <a:latin typeface="Consolas"/>
                  <a:ea typeface="Microsoft YaHei"/>
                  <a:cs typeface="Consolas"/>
                </a:rPr>
                <a:t>SEQUENCE / ASR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5812" y="4888706"/>
              <a:ext cx="119422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B45309"/>
                  </a:solidFill>
                  <a:latin typeface="Consolas"/>
                  <a:ea typeface="Microsoft YaHei"/>
                  <a:cs typeface="Consolas"/>
                </a:rPr>
                <a:t>DYNAMIC SPEECH</a:t>
              </a:r>
            </a:p>
          </p:txBody>
        </p:sp>
      </p:grpSp>
      <p:grpSp>
        <p:nvGrpSpPr>
          <p:cNvPr id="98" name="Group 98"/>
          <p:cNvGrpSpPr/>
          <p:nvPr/>
        </p:nvGrpSpPr>
        <p:grpSpPr>
          <a:xfrm>
            <a:off x="3162300" y="1657350"/>
            <a:ext cx="8515350" cy="4095750"/>
            <a:chOff x="3162300" y="1657350"/>
            <a:chExt cx="8515350" cy="4095750"/>
          </a:xfrm>
        </p:grpSpPr>
        <p:sp>
          <p:nvSpPr>
            <p:cNvPr id="24" name="Rectangle 24"/>
            <p:cNvSpPr/>
            <p:nvPr/>
          </p:nvSpPr>
          <p:spPr>
            <a:xfrm>
              <a:off x="3162300" y="1657350"/>
              <a:ext cx="8515350" cy="4095750"/>
            </a:xfrm>
            <a:prstGeom prst="roundRect">
              <a:avLst>
                <a:gd name="adj" fmla="val 1860"/>
              </a:avLst>
            </a:prstGeom>
            <a:solidFill>
              <a:srgbClr val="FFFFFF"/>
            </a:solidFill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162300" y="1657350"/>
              <a:ext cx="8515350" cy="476250"/>
            </a:xfrm>
            <a:prstGeom prst="roundRect">
              <a:avLst>
                <a:gd name="adj" fmla="val 16000"/>
              </a:avLst>
            </a:prstGeom>
            <a:solidFill>
              <a:srgbClr val="FFF3D8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414712" y="1831181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路线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10162" y="1831181"/>
              <a:ext cx="8398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特征 / 方法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43812" y="1831181"/>
              <a:ext cx="12887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想捕捉的抑郁线索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01262" y="1831181"/>
              <a:ext cx="34361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结论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4857750" y="165735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Line 31"/>
            <p:cNvSpPr/>
            <p:nvPr/>
          </p:nvSpPr>
          <p:spPr>
            <a:xfrm>
              <a:off x="7391400" y="165735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Line 32"/>
            <p:cNvSpPr/>
            <p:nvPr/>
          </p:nvSpPr>
          <p:spPr>
            <a:xfrm>
              <a:off x="9791700" y="1657350"/>
              <a:ext cx="9525" cy="4095750"/>
            </a:xfrm>
            <a:custGeom>
              <a:avLst/>
              <a:gdLst/>
              <a:ahLst/>
              <a:cxnLst/>
              <a:rect l="l" t="t" r="r" b="b"/>
              <a:pathLst>
                <a:path w="9525" h="4095750">
                  <a:moveTo>
                    <a:pt x="0" y="0"/>
                  </a:moveTo>
                  <a:lnTo>
                    <a:pt x="0" y="4095750"/>
                  </a:lnTo>
                </a:path>
              </a:pathLst>
            </a:custGeom>
            <a:noFill/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3162300" y="2133600"/>
              <a:ext cx="8515350" cy="590550"/>
              <a:chOff x="3162300" y="2133600"/>
              <a:chExt cx="8515350" cy="59055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3162300" y="2133600"/>
                <a:ext cx="851535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36" name="Group 36"/>
              <p:cNvGrpSpPr/>
              <p:nvPr/>
            </p:nvGrpSpPr>
            <p:grpSpPr>
              <a:xfrm>
                <a:off x="3429595" y="2309217"/>
                <a:ext cx="170259" cy="201216"/>
                <a:chOff x="3429595" y="2309217"/>
                <a:chExt cx="170259" cy="201216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3437334" y="2378869"/>
                  <a:ext cx="154781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781" h="61912">
                      <a:moveTo>
                        <a:pt x="154781" y="0"/>
                      </a:moveTo>
                      <a:lnTo>
                        <a:pt x="154781" y="61912"/>
                      </a:lnTo>
                      <a:lnTo>
                        <a:pt x="0" y="619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59E0B">
                    <a:alpha val="20000"/>
                  </a:srgbClr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35" name="Freeform 35"/>
                <p:cNvSpPr/>
                <p:nvPr/>
              </p:nvSpPr>
              <p:spPr>
                <a:xfrm>
                  <a:off x="3429595" y="2309217"/>
                  <a:ext cx="170259" cy="2012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259" h="201216">
                      <a:moveTo>
                        <a:pt x="15478" y="69652"/>
                      </a:moveTo>
                      <a:lnTo>
                        <a:pt x="15478" y="131564"/>
                      </a:lnTo>
                      <a:cubicBezTo>
                        <a:pt x="15478" y="135838"/>
                        <a:pt x="12013" y="139303"/>
                        <a:pt x="7739" y="139303"/>
                      </a:cubicBezTo>
                      <a:cubicBezTo>
                        <a:pt x="3465" y="139303"/>
                        <a:pt x="0" y="135838"/>
                        <a:pt x="0" y="131564"/>
                      </a:cubicBezTo>
                      <a:lnTo>
                        <a:pt x="0" y="69652"/>
                      </a:lnTo>
                      <a:cubicBezTo>
                        <a:pt x="0" y="65377"/>
                        <a:pt x="3465" y="61912"/>
                        <a:pt x="7739" y="61912"/>
                      </a:cubicBezTo>
                      <a:cubicBezTo>
                        <a:pt x="12013" y="61912"/>
                        <a:pt x="15478" y="65377"/>
                        <a:pt x="15478" y="69652"/>
                      </a:cubicBezTo>
                      <a:close/>
                      <a:moveTo>
                        <a:pt x="46434" y="0"/>
                      </a:moveTo>
                      <a:cubicBezTo>
                        <a:pt x="42160" y="0"/>
                        <a:pt x="38695" y="3465"/>
                        <a:pt x="38695" y="7739"/>
                      </a:cubicBezTo>
                      <a:lnTo>
                        <a:pt x="38695" y="193477"/>
                      </a:lnTo>
                      <a:cubicBezTo>
                        <a:pt x="38695" y="197751"/>
                        <a:pt x="42160" y="201216"/>
                        <a:pt x="46434" y="201216"/>
                      </a:cubicBezTo>
                      <a:cubicBezTo>
                        <a:pt x="50709" y="201216"/>
                        <a:pt x="54173" y="197751"/>
                        <a:pt x="54173" y="193477"/>
                      </a:cubicBezTo>
                      <a:lnTo>
                        <a:pt x="54173" y="7739"/>
                      </a:lnTo>
                      <a:cubicBezTo>
                        <a:pt x="54173" y="3465"/>
                        <a:pt x="50709" y="0"/>
                        <a:pt x="46434" y="0"/>
                      </a:cubicBezTo>
                      <a:close/>
                      <a:moveTo>
                        <a:pt x="85130" y="30956"/>
                      </a:moveTo>
                      <a:cubicBezTo>
                        <a:pt x="80856" y="30956"/>
                        <a:pt x="77391" y="34421"/>
                        <a:pt x="77391" y="38695"/>
                      </a:cubicBezTo>
                      <a:lnTo>
                        <a:pt x="77391" y="162520"/>
                      </a:lnTo>
                      <a:cubicBezTo>
                        <a:pt x="77391" y="166794"/>
                        <a:pt x="80856" y="170259"/>
                        <a:pt x="85130" y="170259"/>
                      </a:cubicBezTo>
                      <a:cubicBezTo>
                        <a:pt x="89404" y="170259"/>
                        <a:pt x="92869" y="166794"/>
                        <a:pt x="92869" y="162520"/>
                      </a:cubicBezTo>
                      <a:lnTo>
                        <a:pt x="92869" y="38695"/>
                      </a:lnTo>
                      <a:cubicBezTo>
                        <a:pt x="92869" y="34421"/>
                        <a:pt x="89404" y="30956"/>
                        <a:pt x="85130" y="30956"/>
                      </a:cubicBezTo>
                      <a:close/>
                      <a:moveTo>
                        <a:pt x="123825" y="61912"/>
                      </a:moveTo>
                      <a:cubicBezTo>
                        <a:pt x="119551" y="61912"/>
                        <a:pt x="116086" y="65377"/>
                        <a:pt x="116086" y="69652"/>
                      </a:cubicBezTo>
                      <a:lnTo>
                        <a:pt x="116086" y="131564"/>
                      </a:lnTo>
                      <a:cubicBezTo>
                        <a:pt x="116086" y="135838"/>
                        <a:pt x="119551" y="139303"/>
                        <a:pt x="123825" y="139303"/>
                      </a:cubicBezTo>
                      <a:cubicBezTo>
                        <a:pt x="128099" y="139303"/>
                        <a:pt x="131564" y="135838"/>
                        <a:pt x="131564" y="131564"/>
                      </a:cubicBezTo>
                      <a:lnTo>
                        <a:pt x="131564" y="69652"/>
                      </a:lnTo>
                      <a:cubicBezTo>
                        <a:pt x="131564" y="65377"/>
                        <a:pt x="128099" y="61912"/>
                        <a:pt x="123825" y="61912"/>
                      </a:cubicBezTo>
                      <a:close/>
                      <a:moveTo>
                        <a:pt x="162520" y="46434"/>
                      </a:moveTo>
                      <a:cubicBezTo>
                        <a:pt x="158246" y="46434"/>
                        <a:pt x="154781" y="49899"/>
                        <a:pt x="154781" y="54173"/>
                      </a:cubicBezTo>
                      <a:lnTo>
                        <a:pt x="154781" y="147042"/>
                      </a:lnTo>
                      <a:cubicBezTo>
                        <a:pt x="154781" y="151316"/>
                        <a:pt x="158246" y="154781"/>
                        <a:pt x="162520" y="154781"/>
                      </a:cubicBezTo>
                      <a:cubicBezTo>
                        <a:pt x="166794" y="154781"/>
                        <a:pt x="170259" y="151316"/>
                        <a:pt x="170259" y="147042"/>
                      </a:cubicBezTo>
                      <a:lnTo>
                        <a:pt x="170259" y="54173"/>
                      </a:lnTo>
                      <a:cubicBezTo>
                        <a:pt x="170259" y="49899"/>
                        <a:pt x="166794" y="46434"/>
                        <a:pt x="162520" y="46434"/>
                      </a:cubicBezTo>
                      <a:close/>
                    </a:path>
                  </a:pathLst>
                </a:custGeom>
                <a:solidFill>
                  <a:srgbClr val="F59E0B"/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37" name="TextBox 37"/>
              <p:cNvSpPr txBox="1"/>
              <p:nvPr/>
            </p:nvSpPr>
            <p:spPr>
              <a:xfrm>
                <a:off x="3719512" y="237410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临床声学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112068" y="2275999"/>
                <a:ext cx="135093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472"/>
                    </a:solidFill>
                    <a:latin typeface="Consolas"/>
                    <a:ea typeface="Microsoft YaHei"/>
                    <a:cs typeface="Consolas"/>
                  </a:rPr>
                  <a:t>F0 / jitter / shimmer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112068" y="2485549"/>
                <a:ext cx="92837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472"/>
                    </a:solidFill>
                    <a:latin typeface="Consolas"/>
                    <a:ea typeface="Microsoft YaHei"/>
                    <a:cs typeface="Consolas"/>
                  </a:rPr>
                  <a:t>HNR / loudness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644765" y="2382202"/>
                <a:ext cx="17068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音高、嗓音质量、能量变化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0102215" y="238220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D64550"/>
                    </a:solidFill>
                    <a:latin typeface="Arial"/>
                    <a:ea typeface="Microsoft YaHei"/>
                    <a:cs typeface="Arial"/>
                  </a:rPr>
                  <a:t>补充不足</a:t>
                </a:r>
              </a:p>
            </p:txBody>
          </p:sp>
        </p:grpSp>
        <p:sp>
          <p:nvSpPr>
            <p:cNvPr id="43" name="Line 43"/>
            <p:cNvSpPr/>
            <p:nvPr/>
          </p:nvSpPr>
          <p:spPr>
            <a:xfrm>
              <a:off x="3162300" y="2724150"/>
              <a:ext cx="8515350" cy="9525"/>
            </a:xfrm>
            <a:custGeom>
              <a:avLst/>
              <a:gdLst/>
              <a:ahLst/>
              <a:cxnLst/>
              <a:rect l="l" t="t" r="r" b="b"/>
              <a:pathLst>
                <a:path w="8515350" h="9525">
                  <a:moveTo>
                    <a:pt x="0" y="0"/>
                  </a:moveTo>
                  <a:lnTo>
                    <a:pt x="8515350" y="0"/>
                  </a:lnTo>
                </a:path>
              </a:pathLst>
            </a:custGeom>
            <a:noFill/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3162300" y="2724150"/>
              <a:ext cx="8515350" cy="590550"/>
              <a:chOff x="3162300" y="2724150"/>
              <a:chExt cx="8515350" cy="590550"/>
            </a:xfrm>
          </p:grpSpPr>
          <p:sp>
            <p:nvSpPr>
              <p:cNvPr id="44" name="Rectangle 44"/>
              <p:cNvSpPr/>
              <p:nvPr/>
            </p:nvSpPr>
            <p:spPr>
              <a:xfrm>
                <a:off x="3162300" y="2724150"/>
                <a:ext cx="8515350" cy="590550"/>
              </a:xfrm>
              <a:prstGeom prst="rect">
                <a:avLst/>
              </a:prstGeom>
              <a:solidFill>
                <a:srgbClr val="F3F6FB">
                  <a:alpha val="55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47" name="Group 47"/>
              <p:cNvGrpSpPr/>
              <p:nvPr/>
            </p:nvGrpSpPr>
            <p:grpSpPr>
              <a:xfrm>
                <a:off x="3398435" y="2914485"/>
                <a:ext cx="232382" cy="172703"/>
                <a:chOff x="3398435" y="2914485"/>
                <a:chExt cx="232382" cy="172703"/>
              </a:xfrm>
            </p:grpSpPr>
            <p:sp>
              <p:nvSpPr>
                <p:cNvPr id="45" name="Freeform 45"/>
                <p:cNvSpPr/>
                <p:nvPr/>
              </p:nvSpPr>
              <p:spPr>
                <a:xfrm>
                  <a:off x="3406378" y="3015853"/>
                  <a:ext cx="61912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912" h="61912">
                      <a:moveTo>
                        <a:pt x="61912" y="30956"/>
                      </a:moveTo>
                      <a:cubicBezTo>
                        <a:pt x="61912" y="48053"/>
                        <a:pt x="48053" y="61912"/>
                        <a:pt x="30956" y="61912"/>
                      </a:cubicBezTo>
                      <a:cubicBezTo>
                        <a:pt x="13860" y="61912"/>
                        <a:pt x="0" y="48053"/>
                        <a:pt x="0" y="30956"/>
                      </a:cubicBezTo>
                      <a:cubicBezTo>
                        <a:pt x="0" y="13860"/>
                        <a:pt x="13860" y="0"/>
                        <a:pt x="30956" y="0"/>
                      </a:cubicBezTo>
                      <a:cubicBezTo>
                        <a:pt x="48053" y="0"/>
                        <a:pt x="61912" y="13860"/>
                        <a:pt x="61912" y="30956"/>
                      </a:cubicBezTo>
                      <a:close/>
                    </a:path>
                  </a:pathLst>
                </a:custGeom>
                <a:solidFill>
                  <a:srgbClr val="F59E0B">
                    <a:alpha val="20000"/>
                  </a:srgbClr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46" name="Freeform 46"/>
                <p:cNvSpPr/>
                <p:nvPr/>
              </p:nvSpPr>
              <p:spPr>
                <a:xfrm>
                  <a:off x="3398435" y="2914485"/>
                  <a:ext cx="232382" cy="1727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382" h="172703">
                      <a:moveTo>
                        <a:pt x="230112" y="33980"/>
                      </a:moveTo>
                      <a:lnTo>
                        <a:pt x="199156" y="3024"/>
                      </a:lnTo>
                      <a:cubicBezTo>
                        <a:pt x="196132" y="0"/>
                        <a:pt x="191229" y="0"/>
                        <a:pt x="188205" y="3024"/>
                      </a:cubicBezTo>
                      <a:cubicBezTo>
                        <a:pt x="185181" y="6048"/>
                        <a:pt x="185181" y="10951"/>
                        <a:pt x="188205" y="13975"/>
                      </a:cubicBezTo>
                      <a:lnTo>
                        <a:pt x="205956" y="31717"/>
                      </a:lnTo>
                      <a:lnTo>
                        <a:pt x="178202" y="31717"/>
                      </a:lnTo>
                      <a:cubicBezTo>
                        <a:pt x="168721" y="32060"/>
                        <a:pt x="159401" y="34273"/>
                        <a:pt x="150777" y="38227"/>
                      </a:cubicBezTo>
                      <a:cubicBezTo>
                        <a:pt x="137601" y="44312"/>
                        <a:pt x="120953" y="57294"/>
                        <a:pt x="116396" y="84661"/>
                      </a:cubicBezTo>
                      <a:cubicBezTo>
                        <a:pt x="111250" y="115550"/>
                        <a:pt x="88245" y="122602"/>
                        <a:pt x="76733" y="124189"/>
                      </a:cubicBezTo>
                      <a:cubicBezTo>
                        <a:pt x="72529" y="104780"/>
                        <a:pt x="54314" y="91705"/>
                        <a:pt x="34580" y="93930"/>
                      </a:cubicBezTo>
                      <a:cubicBezTo>
                        <a:pt x="14846" y="96155"/>
                        <a:pt x="0" y="112957"/>
                        <a:pt x="223" y="132815"/>
                      </a:cubicBezTo>
                      <a:cubicBezTo>
                        <a:pt x="445" y="152673"/>
                        <a:pt x="15664" y="169139"/>
                        <a:pt x="35443" y="170921"/>
                      </a:cubicBezTo>
                      <a:cubicBezTo>
                        <a:pt x="55222" y="172703"/>
                        <a:pt x="73139" y="159223"/>
                        <a:pt x="76908" y="139725"/>
                      </a:cubicBezTo>
                      <a:cubicBezTo>
                        <a:pt x="83865" y="138932"/>
                        <a:pt x="90662" y="137089"/>
                        <a:pt x="97068" y="134259"/>
                      </a:cubicBezTo>
                      <a:cubicBezTo>
                        <a:pt x="110244" y="128455"/>
                        <a:pt x="126931" y="115492"/>
                        <a:pt x="131661" y="87157"/>
                      </a:cubicBezTo>
                      <a:cubicBezTo>
                        <a:pt x="138201" y="47940"/>
                        <a:pt x="176596" y="47195"/>
                        <a:pt x="178202" y="47195"/>
                      </a:cubicBezTo>
                      <a:lnTo>
                        <a:pt x="205956" y="47195"/>
                      </a:lnTo>
                      <a:lnTo>
                        <a:pt x="188205" y="64936"/>
                      </a:lnTo>
                      <a:cubicBezTo>
                        <a:pt x="185181" y="67960"/>
                        <a:pt x="185181" y="72863"/>
                        <a:pt x="188205" y="75887"/>
                      </a:cubicBezTo>
                      <a:cubicBezTo>
                        <a:pt x="191229" y="78911"/>
                        <a:pt x="196132" y="78911"/>
                        <a:pt x="199156" y="75887"/>
                      </a:cubicBezTo>
                      <a:lnTo>
                        <a:pt x="230112" y="44931"/>
                      </a:lnTo>
                      <a:cubicBezTo>
                        <a:pt x="231565" y="43479"/>
                        <a:pt x="232382" y="41510"/>
                        <a:pt x="232382" y="39456"/>
                      </a:cubicBezTo>
                      <a:cubicBezTo>
                        <a:pt x="232382" y="37402"/>
                        <a:pt x="231565" y="35432"/>
                        <a:pt x="230112" y="33980"/>
                      </a:cubicBezTo>
                      <a:close/>
                      <a:moveTo>
                        <a:pt x="38899" y="155542"/>
                      </a:moveTo>
                      <a:cubicBezTo>
                        <a:pt x="26077" y="155542"/>
                        <a:pt x="15682" y="145147"/>
                        <a:pt x="15682" y="132324"/>
                      </a:cubicBezTo>
                      <a:cubicBezTo>
                        <a:pt x="15682" y="119502"/>
                        <a:pt x="26077" y="109107"/>
                        <a:pt x="38899" y="109107"/>
                      </a:cubicBezTo>
                      <a:cubicBezTo>
                        <a:pt x="51722" y="109107"/>
                        <a:pt x="62116" y="119502"/>
                        <a:pt x="62116" y="132324"/>
                      </a:cubicBezTo>
                      <a:cubicBezTo>
                        <a:pt x="62116" y="145147"/>
                        <a:pt x="51722" y="155542"/>
                        <a:pt x="38899" y="155542"/>
                      </a:cubicBezTo>
                      <a:close/>
                    </a:path>
                  </a:pathLst>
                </a:custGeom>
                <a:solidFill>
                  <a:srgbClr val="F59E0B"/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48" name="TextBox 48"/>
              <p:cNvSpPr txBox="1"/>
              <p:nvPr/>
            </p:nvSpPr>
            <p:spPr>
              <a:xfrm>
                <a:off x="3719512" y="2964656"/>
                <a:ext cx="123360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openSMILE + IMU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5111115" y="2858452"/>
                <a:ext cx="156686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声学统计与主干早期融合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5111115" y="306800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对比冗余和互补性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644765" y="2972752"/>
                <a:ext cx="158786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语音能否补足步态 / 人格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10102215" y="29727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D64550"/>
                    </a:solidFill>
                    <a:latin typeface="Arial"/>
                    <a:ea typeface="Microsoft YaHei"/>
                    <a:cs typeface="Arial"/>
                  </a:rPr>
                  <a:t>榜上不稳</a:t>
                </a:r>
              </a:p>
            </p:txBody>
          </p:sp>
        </p:grpSp>
        <p:sp>
          <p:nvSpPr>
            <p:cNvPr id="54" name="Line 54"/>
            <p:cNvSpPr/>
            <p:nvPr/>
          </p:nvSpPr>
          <p:spPr>
            <a:xfrm>
              <a:off x="3162300" y="3314700"/>
              <a:ext cx="8515350" cy="9525"/>
            </a:xfrm>
            <a:custGeom>
              <a:avLst/>
              <a:gdLst/>
              <a:ahLst/>
              <a:cxnLst/>
              <a:rect l="l" t="t" r="r" b="b"/>
              <a:pathLst>
                <a:path w="8515350" h="9525">
                  <a:moveTo>
                    <a:pt x="0" y="0"/>
                  </a:moveTo>
                  <a:lnTo>
                    <a:pt x="8515350" y="0"/>
                  </a:lnTo>
                </a:path>
              </a:pathLst>
            </a:custGeom>
            <a:noFill/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64" name="Group 64"/>
            <p:cNvGrpSpPr/>
            <p:nvPr/>
          </p:nvGrpSpPr>
          <p:grpSpPr>
            <a:xfrm>
              <a:off x="3162300" y="3314700"/>
              <a:ext cx="8515350" cy="590550"/>
              <a:chOff x="3162300" y="3314700"/>
              <a:chExt cx="8515350" cy="59055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3162300" y="3314700"/>
                <a:ext cx="851535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58" name="Group 58"/>
              <p:cNvGrpSpPr/>
              <p:nvPr/>
            </p:nvGrpSpPr>
            <p:grpSpPr>
              <a:xfrm>
                <a:off x="3398632" y="3486428"/>
                <a:ext cx="232179" cy="201255"/>
                <a:chOff x="3398632" y="3486428"/>
                <a:chExt cx="232179" cy="201255"/>
              </a:xfrm>
            </p:grpSpPr>
            <p:sp>
              <p:nvSpPr>
                <p:cNvPr id="56" name="Freeform 56"/>
                <p:cNvSpPr/>
                <p:nvPr/>
              </p:nvSpPr>
              <p:spPr>
                <a:xfrm>
                  <a:off x="3406337" y="3498056"/>
                  <a:ext cx="216742" cy="177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742" h="177998">
                      <a:moveTo>
                        <a:pt x="216735" y="88999"/>
                      </a:moveTo>
                      <a:cubicBezTo>
                        <a:pt x="216742" y="108683"/>
                        <a:pt x="204337" y="126231"/>
                        <a:pt x="185779" y="132793"/>
                      </a:cubicBezTo>
                      <a:lnTo>
                        <a:pt x="185779" y="132793"/>
                      </a:lnTo>
                      <a:lnTo>
                        <a:pt x="185779" y="139303"/>
                      </a:lnTo>
                      <a:cubicBezTo>
                        <a:pt x="185779" y="160674"/>
                        <a:pt x="168455" y="177998"/>
                        <a:pt x="147084" y="177998"/>
                      </a:cubicBezTo>
                      <a:cubicBezTo>
                        <a:pt x="125713" y="177998"/>
                        <a:pt x="108388" y="160674"/>
                        <a:pt x="108388" y="139303"/>
                      </a:cubicBezTo>
                      <a:cubicBezTo>
                        <a:pt x="108388" y="160674"/>
                        <a:pt x="91064" y="177998"/>
                        <a:pt x="69693" y="177998"/>
                      </a:cubicBezTo>
                      <a:cubicBezTo>
                        <a:pt x="48322" y="177998"/>
                        <a:pt x="30998" y="160674"/>
                        <a:pt x="30998" y="139303"/>
                      </a:cubicBezTo>
                      <a:lnTo>
                        <a:pt x="30998" y="132793"/>
                      </a:lnTo>
                      <a:lnTo>
                        <a:pt x="30998" y="132793"/>
                      </a:lnTo>
                      <a:cubicBezTo>
                        <a:pt x="12424" y="126246"/>
                        <a:pt x="0" y="108693"/>
                        <a:pt x="0" y="88999"/>
                      </a:cubicBezTo>
                      <a:cubicBezTo>
                        <a:pt x="0" y="69305"/>
                        <a:pt x="12424" y="51753"/>
                        <a:pt x="30998" y="45206"/>
                      </a:cubicBezTo>
                      <a:lnTo>
                        <a:pt x="30998" y="38695"/>
                      </a:lnTo>
                      <a:cubicBezTo>
                        <a:pt x="30998" y="17324"/>
                        <a:pt x="48322" y="0"/>
                        <a:pt x="69693" y="0"/>
                      </a:cubicBezTo>
                      <a:cubicBezTo>
                        <a:pt x="91064" y="0"/>
                        <a:pt x="108388" y="17324"/>
                        <a:pt x="108388" y="38695"/>
                      </a:cubicBezTo>
                      <a:cubicBezTo>
                        <a:pt x="108388" y="17324"/>
                        <a:pt x="125713" y="0"/>
                        <a:pt x="147084" y="0"/>
                      </a:cubicBezTo>
                      <a:cubicBezTo>
                        <a:pt x="168455" y="0"/>
                        <a:pt x="185779" y="17324"/>
                        <a:pt x="185779" y="38695"/>
                      </a:cubicBezTo>
                      <a:lnTo>
                        <a:pt x="185779" y="45206"/>
                      </a:lnTo>
                      <a:cubicBezTo>
                        <a:pt x="204337" y="51767"/>
                        <a:pt x="216742" y="69316"/>
                        <a:pt x="216735" y="88999"/>
                      </a:cubicBezTo>
                      <a:close/>
                    </a:path>
                  </a:pathLst>
                </a:custGeom>
                <a:solidFill>
                  <a:srgbClr val="F59E0B">
                    <a:alpha val="20000"/>
                  </a:srgbClr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57" name="Freeform 57"/>
                <p:cNvSpPr/>
                <p:nvPr/>
              </p:nvSpPr>
              <p:spPr>
                <a:xfrm>
                  <a:off x="3398632" y="3486428"/>
                  <a:ext cx="232179" cy="2012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179" h="201255">
                      <a:moveTo>
                        <a:pt x="232179" y="100628"/>
                      </a:moveTo>
                      <a:cubicBezTo>
                        <a:pt x="232158" y="79706"/>
                        <a:pt x="220115" y="60658"/>
                        <a:pt x="201223" y="51668"/>
                      </a:cubicBezTo>
                      <a:lnTo>
                        <a:pt x="201223" y="50324"/>
                      </a:lnTo>
                      <a:cubicBezTo>
                        <a:pt x="201205" y="29849"/>
                        <a:pt x="187778" y="11803"/>
                        <a:pt x="168173" y="5902"/>
                      </a:cubicBezTo>
                      <a:cubicBezTo>
                        <a:pt x="148568" y="0"/>
                        <a:pt x="127411" y="7636"/>
                        <a:pt x="116093" y="24698"/>
                      </a:cubicBezTo>
                      <a:cubicBezTo>
                        <a:pt x="104776" y="7636"/>
                        <a:pt x="83619" y="0"/>
                        <a:pt x="64013" y="5902"/>
                      </a:cubicBezTo>
                      <a:cubicBezTo>
                        <a:pt x="44408" y="11803"/>
                        <a:pt x="30982" y="29849"/>
                        <a:pt x="30964" y="50324"/>
                      </a:cubicBezTo>
                      <a:lnTo>
                        <a:pt x="30964" y="51668"/>
                      </a:lnTo>
                      <a:cubicBezTo>
                        <a:pt x="12054" y="60634"/>
                        <a:pt x="0" y="79690"/>
                        <a:pt x="0" y="100618"/>
                      </a:cubicBezTo>
                      <a:cubicBezTo>
                        <a:pt x="0" y="121545"/>
                        <a:pt x="12054" y="140601"/>
                        <a:pt x="30964" y="149567"/>
                      </a:cubicBezTo>
                      <a:lnTo>
                        <a:pt x="30964" y="150931"/>
                      </a:lnTo>
                      <a:cubicBezTo>
                        <a:pt x="30982" y="171406"/>
                        <a:pt x="44408" y="189452"/>
                        <a:pt x="64013" y="195353"/>
                      </a:cubicBezTo>
                      <a:cubicBezTo>
                        <a:pt x="83619" y="201255"/>
                        <a:pt x="104776" y="193619"/>
                        <a:pt x="116093" y="176557"/>
                      </a:cubicBezTo>
                      <a:cubicBezTo>
                        <a:pt x="127411" y="193619"/>
                        <a:pt x="148568" y="201255"/>
                        <a:pt x="168173" y="195353"/>
                      </a:cubicBezTo>
                      <a:cubicBezTo>
                        <a:pt x="187778" y="189452"/>
                        <a:pt x="201205" y="171406"/>
                        <a:pt x="201223" y="150931"/>
                      </a:cubicBezTo>
                      <a:lnTo>
                        <a:pt x="201223" y="149567"/>
                      </a:lnTo>
                      <a:cubicBezTo>
                        <a:pt x="220112" y="140584"/>
                        <a:pt x="232156" y="121544"/>
                        <a:pt x="232179" y="100628"/>
                      </a:cubicBezTo>
                      <a:close/>
                      <a:moveTo>
                        <a:pt x="77398" y="181888"/>
                      </a:moveTo>
                      <a:cubicBezTo>
                        <a:pt x="61591" y="181885"/>
                        <a:pt x="48325" y="169975"/>
                        <a:pt x="46625" y="154259"/>
                      </a:cubicBezTo>
                      <a:cubicBezTo>
                        <a:pt x="49128" y="154616"/>
                        <a:pt x="51653" y="154797"/>
                        <a:pt x="54181" y="154801"/>
                      </a:cubicBezTo>
                      <a:lnTo>
                        <a:pt x="61920" y="154801"/>
                      </a:lnTo>
                      <a:cubicBezTo>
                        <a:pt x="66194" y="154801"/>
                        <a:pt x="69659" y="151336"/>
                        <a:pt x="69659" y="147062"/>
                      </a:cubicBezTo>
                      <a:cubicBezTo>
                        <a:pt x="69659" y="142788"/>
                        <a:pt x="66194" y="139323"/>
                        <a:pt x="61920" y="139323"/>
                      </a:cubicBezTo>
                      <a:lnTo>
                        <a:pt x="54181" y="139323"/>
                      </a:lnTo>
                      <a:cubicBezTo>
                        <a:pt x="35316" y="139345"/>
                        <a:pt x="19185" y="125761"/>
                        <a:pt x="15997" y="107168"/>
                      </a:cubicBezTo>
                      <a:cubicBezTo>
                        <a:pt x="12808" y="88575"/>
                        <a:pt x="23492" y="70393"/>
                        <a:pt x="41285" y="64128"/>
                      </a:cubicBezTo>
                      <a:cubicBezTo>
                        <a:pt x="44375" y="63034"/>
                        <a:pt x="46441" y="60112"/>
                        <a:pt x="46442" y="56834"/>
                      </a:cubicBezTo>
                      <a:lnTo>
                        <a:pt x="46442" y="50324"/>
                      </a:lnTo>
                      <a:cubicBezTo>
                        <a:pt x="46442" y="33227"/>
                        <a:pt x="60301" y="19367"/>
                        <a:pt x="77398" y="19367"/>
                      </a:cubicBezTo>
                      <a:cubicBezTo>
                        <a:pt x="94495" y="19367"/>
                        <a:pt x="108354" y="33227"/>
                        <a:pt x="108354" y="50324"/>
                      </a:cubicBezTo>
                      <a:lnTo>
                        <a:pt x="108354" y="116357"/>
                      </a:lnTo>
                      <a:cubicBezTo>
                        <a:pt x="99856" y="108714"/>
                        <a:pt x="88828" y="104489"/>
                        <a:pt x="77398" y="104497"/>
                      </a:cubicBezTo>
                      <a:cubicBezTo>
                        <a:pt x="73124" y="104497"/>
                        <a:pt x="69659" y="107962"/>
                        <a:pt x="69659" y="112236"/>
                      </a:cubicBezTo>
                      <a:cubicBezTo>
                        <a:pt x="69659" y="116510"/>
                        <a:pt x="73124" y="119975"/>
                        <a:pt x="77398" y="119975"/>
                      </a:cubicBezTo>
                      <a:cubicBezTo>
                        <a:pt x="94495" y="119975"/>
                        <a:pt x="108354" y="133835"/>
                        <a:pt x="108354" y="150931"/>
                      </a:cubicBezTo>
                      <a:cubicBezTo>
                        <a:pt x="108354" y="168028"/>
                        <a:pt x="94495" y="181888"/>
                        <a:pt x="77398" y="181888"/>
                      </a:cubicBezTo>
                      <a:close/>
                      <a:moveTo>
                        <a:pt x="178006" y="139323"/>
                      </a:moveTo>
                      <a:lnTo>
                        <a:pt x="170267" y="139323"/>
                      </a:lnTo>
                      <a:cubicBezTo>
                        <a:pt x="165992" y="139323"/>
                        <a:pt x="162528" y="142788"/>
                        <a:pt x="162528" y="147062"/>
                      </a:cubicBezTo>
                      <a:cubicBezTo>
                        <a:pt x="162528" y="151336"/>
                        <a:pt x="165992" y="154801"/>
                        <a:pt x="170267" y="154801"/>
                      </a:cubicBezTo>
                      <a:lnTo>
                        <a:pt x="178006" y="154801"/>
                      </a:lnTo>
                      <a:cubicBezTo>
                        <a:pt x="180534" y="154797"/>
                        <a:pt x="183058" y="154616"/>
                        <a:pt x="185561" y="154259"/>
                      </a:cubicBezTo>
                      <a:cubicBezTo>
                        <a:pt x="183769" y="170827"/>
                        <a:pt x="169184" y="183004"/>
                        <a:pt x="152562" y="181808"/>
                      </a:cubicBezTo>
                      <a:cubicBezTo>
                        <a:pt x="135940" y="180611"/>
                        <a:pt x="123248" y="166471"/>
                        <a:pt x="123848" y="149817"/>
                      </a:cubicBezTo>
                      <a:cubicBezTo>
                        <a:pt x="124448" y="133163"/>
                        <a:pt x="138124" y="119973"/>
                        <a:pt x="154789" y="119975"/>
                      </a:cubicBezTo>
                      <a:cubicBezTo>
                        <a:pt x="159063" y="119975"/>
                        <a:pt x="162528" y="116510"/>
                        <a:pt x="162528" y="112236"/>
                      </a:cubicBezTo>
                      <a:cubicBezTo>
                        <a:pt x="162528" y="107962"/>
                        <a:pt x="159063" y="104497"/>
                        <a:pt x="154789" y="104497"/>
                      </a:cubicBezTo>
                      <a:cubicBezTo>
                        <a:pt x="143359" y="104489"/>
                        <a:pt x="132331" y="108714"/>
                        <a:pt x="123832" y="116357"/>
                      </a:cubicBezTo>
                      <a:lnTo>
                        <a:pt x="123832" y="50324"/>
                      </a:lnTo>
                      <a:cubicBezTo>
                        <a:pt x="123832" y="33227"/>
                        <a:pt x="137692" y="19367"/>
                        <a:pt x="154789" y="19367"/>
                      </a:cubicBezTo>
                      <a:cubicBezTo>
                        <a:pt x="171885" y="19367"/>
                        <a:pt x="185745" y="33227"/>
                        <a:pt x="185745" y="50324"/>
                      </a:cubicBezTo>
                      <a:lnTo>
                        <a:pt x="185745" y="56834"/>
                      </a:lnTo>
                      <a:cubicBezTo>
                        <a:pt x="185745" y="60112"/>
                        <a:pt x="187811" y="63034"/>
                        <a:pt x="190901" y="64128"/>
                      </a:cubicBezTo>
                      <a:cubicBezTo>
                        <a:pt x="208695" y="70393"/>
                        <a:pt x="219378" y="88575"/>
                        <a:pt x="216189" y="107168"/>
                      </a:cubicBezTo>
                      <a:cubicBezTo>
                        <a:pt x="213001" y="125761"/>
                        <a:pt x="196870" y="139345"/>
                        <a:pt x="178006" y="139323"/>
                      </a:cubicBezTo>
                      <a:close/>
                      <a:moveTo>
                        <a:pt x="193484" y="89019"/>
                      </a:moveTo>
                      <a:cubicBezTo>
                        <a:pt x="193484" y="93293"/>
                        <a:pt x="190019" y="96758"/>
                        <a:pt x="185745" y="96758"/>
                      </a:cubicBezTo>
                      <a:lnTo>
                        <a:pt x="181875" y="96758"/>
                      </a:lnTo>
                      <a:cubicBezTo>
                        <a:pt x="162641" y="96758"/>
                        <a:pt x="147049" y="81166"/>
                        <a:pt x="147049" y="61932"/>
                      </a:cubicBezTo>
                      <a:lnTo>
                        <a:pt x="147049" y="58063"/>
                      </a:lnTo>
                      <a:cubicBezTo>
                        <a:pt x="147049" y="53789"/>
                        <a:pt x="150514" y="50324"/>
                        <a:pt x="154789" y="50324"/>
                      </a:cubicBezTo>
                      <a:cubicBezTo>
                        <a:pt x="159063" y="50324"/>
                        <a:pt x="162528" y="53789"/>
                        <a:pt x="162528" y="58063"/>
                      </a:cubicBezTo>
                      <a:lnTo>
                        <a:pt x="162528" y="61932"/>
                      </a:lnTo>
                      <a:cubicBezTo>
                        <a:pt x="162528" y="72618"/>
                        <a:pt x="171190" y="81280"/>
                        <a:pt x="181875" y="81280"/>
                      </a:cubicBezTo>
                      <a:lnTo>
                        <a:pt x="185745" y="81280"/>
                      </a:lnTo>
                      <a:cubicBezTo>
                        <a:pt x="190019" y="81280"/>
                        <a:pt x="193484" y="84745"/>
                        <a:pt x="193484" y="89019"/>
                      </a:cubicBezTo>
                      <a:close/>
                      <a:moveTo>
                        <a:pt x="50311" y="96758"/>
                      </a:moveTo>
                      <a:lnTo>
                        <a:pt x="46442" y="96758"/>
                      </a:lnTo>
                      <a:cubicBezTo>
                        <a:pt x="42167" y="96758"/>
                        <a:pt x="38703" y="93293"/>
                        <a:pt x="38703" y="89019"/>
                      </a:cubicBezTo>
                      <a:cubicBezTo>
                        <a:pt x="38703" y="84745"/>
                        <a:pt x="42167" y="81280"/>
                        <a:pt x="46442" y="81280"/>
                      </a:cubicBezTo>
                      <a:lnTo>
                        <a:pt x="50311" y="81280"/>
                      </a:lnTo>
                      <a:cubicBezTo>
                        <a:pt x="60997" y="81280"/>
                        <a:pt x="69659" y="72618"/>
                        <a:pt x="69659" y="61932"/>
                      </a:cubicBezTo>
                      <a:lnTo>
                        <a:pt x="69659" y="58063"/>
                      </a:lnTo>
                      <a:cubicBezTo>
                        <a:pt x="69659" y="53789"/>
                        <a:pt x="73124" y="50324"/>
                        <a:pt x="77398" y="50324"/>
                      </a:cubicBezTo>
                      <a:cubicBezTo>
                        <a:pt x="81672" y="50324"/>
                        <a:pt x="85137" y="53789"/>
                        <a:pt x="85137" y="58063"/>
                      </a:cubicBezTo>
                      <a:lnTo>
                        <a:pt x="85137" y="61932"/>
                      </a:lnTo>
                      <a:cubicBezTo>
                        <a:pt x="85137" y="81166"/>
                        <a:pt x="69545" y="96758"/>
                        <a:pt x="50311" y="96758"/>
                      </a:cubicBezTo>
                      <a:close/>
                    </a:path>
                  </a:pathLst>
                </a:custGeom>
                <a:solidFill>
                  <a:srgbClr val="F59E0B"/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59" name="TextBox 59"/>
              <p:cNvSpPr txBox="1"/>
              <p:nvPr/>
            </p:nvSpPr>
            <p:spPr>
              <a:xfrm>
                <a:off x="3719512" y="3555206"/>
                <a:ext cx="131236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wav2vec2 / MFCC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5111115" y="3449002"/>
                <a:ext cx="170688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高维语音嵌入与传统谱特征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5112068" y="3666649"/>
                <a:ext cx="15199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472"/>
                    </a:solidFill>
                    <a:latin typeface="Consolas"/>
                    <a:ea typeface="Microsoft YaHei"/>
                    <a:cs typeface="Consolas"/>
                  </a:rPr>
                  <a:t>1024-d frame embedding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644765" y="3563302"/>
                <a:ext cx="11468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深层语音状态表征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10102215" y="356330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D64550"/>
                    </a:solidFill>
                    <a:latin typeface="Arial"/>
                    <a:ea typeface="Microsoft YaHei"/>
                    <a:cs typeface="Arial"/>
                  </a:rPr>
                  <a:t>过拟合强</a:t>
                </a:r>
              </a:p>
            </p:txBody>
          </p:sp>
        </p:grpSp>
        <p:sp>
          <p:nvSpPr>
            <p:cNvPr id="65" name="Line 65"/>
            <p:cNvSpPr/>
            <p:nvPr/>
          </p:nvSpPr>
          <p:spPr>
            <a:xfrm>
              <a:off x="3162300" y="3905250"/>
              <a:ext cx="8515350" cy="9525"/>
            </a:xfrm>
            <a:custGeom>
              <a:avLst/>
              <a:gdLst/>
              <a:ahLst/>
              <a:cxnLst/>
              <a:rect l="l" t="t" r="r" b="b"/>
              <a:pathLst>
                <a:path w="8515350" h="9525">
                  <a:moveTo>
                    <a:pt x="0" y="0"/>
                  </a:moveTo>
                  <a:lnTo>
                    <a:pt x="8515350" y="0"/>
                  </a:lnTo>
                </a:path>
              </a:pathLst>
            </a:custGeom>
            <a:noFill/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75" name="Group 75"/>
            <p:cNvGrpSpPr/>
            <p:nvPr/>
          </p:nvGrpSpPr>
          <p:grpSpPr>
            <a:xfrm>
              <a:off x="3162300" y="3905250"/>
              <a:ext cx="8515350" cy="590550"/>
              <a:chOff x="3162300" y="3905250"/>
              <a:chExt cx="8515350" cy="590550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3162300" y="3905250"/>
                <a:ext cx="8515350" cy="590550"/>
              </a:xfrm>
              <a:prstGeom prst="rect">
                <a:avLst/>
              </a:prstGeom>
              <a:solidFill>
                <a:srgbClr val="F3F6FB">
                  <a:alpha val="55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69" name="Group 69"/>
              <p:cNvGrpSpPr/>
              <p:nvPr/>
            </p:nvGrpSpPr>
            <p:grpSpPr>
              <a:xfrm>
                <a:off x="3414117" y="4096345"/>
                <a:ext cx="201216" cy="170259"/>
                <a:chOff x="3414117" y="4096345"/>
                <a:chExt cx="201216" cy="170259"/>
              </a:xfrm>
            </p:grpSpPr>
            <p:sp>
              <p:nvSpPr>
                <p:cNvPr id="67" name="Freeform 67"/>
                <p:cNvSpPr/>
                <p:nvPr/>
              </p:nvSpPr>
              <p:spPr>
                <a:xfrm>
                  <a:off x="3421856" y="4104084"/>
                  <a:ext cx="185738" cy="154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38" h="154781">
                      <a:moveTo>
                        <a:pt x="185738" y="7739"/>
                      </a:moveTo>
                      <a:lnTo>
                        <a:pt x="185738" y="154781"/>
                      </a:lnTo>
                      <a:lnTo>
                        <a:pt x="0" y="154781"/>
                      </a:lnTo>
                      <a:lnTo>
                        <a:pt x="0" y="0"/>
                      </a:lnTo>
                      <a:lnTo>
                        <a:pt x="177998" y="0"/>
                      </a:lnTo>
                      <a:cubicBezTo>
                        <a:pt x="182273" y="0"/>
                        <a:pt x="185738" y="3465"/>
                        <a:pt x="185738" y="7739"/>
                      </a:cubicBezTo>
                      <a:close/>
                    </a:path>
                  </a:pathLst>
                </a:custGeom>
                <a:solidFill>
                  <a:srgbClr val="F59E0B">
                    <a:alpha val="20000"/>
                  </a:srgbClr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68" name="Freeform 68"/>
                <p:cNvSpPr/>
                <p:nvPr/>
              </p:nvSpPr>
              <p:spPr>
                <a:xfrm>
                  <a:off x="3414117" y="4096345"/>
                  <a:ext cx="201216" cy="1702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16" h="170259">
                      <a:moveTo>
                        <a:pt x="201216" y="162520"/>
                      </a:moveTo>
                      <a:cubicBezTo>
                        <a:pt x="201216" y="166794"/>
                        <a:pt x="197751" y="170259"/>
                        <a:pt x="193477" y="170259"/>
                      </a:cubicBezTo>
                      <a:lnTo>
                        <a:pt x="7739" y="170259"/>
                      </a:lnTo>
                      <a:cubicBezTo>
                        <a:pt x="3465" y="170259"/>
                        <a:pt x="0" y="166794"/>
                        <a:pt x="0" y="162520"/>
                      </a:cubicBezTo>
                      <a:lnTo>
                        <a:pt x="0" y="7739"/>
                      </a:lnTo>
                      <a:cubicBezTo>
                        <a:pt x="0" y="3465"/>
                        <a:pt x="3465" y="0"/>
                        <a:pt x="7739" y="0"/>
                      </a:cubicBezTo>
                      <a:cubicBezTo>
                        <a:pt x="12013" y="0"/>
                        <a:pt x="15478" y="3465"/>
                        <a:pt x="15478" y="7739"/>
                      </a:cubicBezTo>
                      <a:lnTo>
                        <a:pt x="15478" y="112884"/>
                      </a:lnTo>
                      <a:lnTo>
                        <a:pt x="64176" y="64176"/>
                      </a:lnTo>
                      <a:cubicBezTo>
                        <a:pt x="65628" y="62723"/>
                        <a:pt x="67598" y="61906"/>
                        <a:pt x="69652" y="61906"/>
                      </a:cubicBezTo>
                      <a:cubicBezTo>
                        <a:pt x="71706" y="61906"/>
                        <a:pt x="73675" y="62723"/>
                        <a:pt x="75127" y="64176"/>
                      </a:cubicBezTo>
                      <a:lnTo>
                        <a:pt x="100608" y="89667"/>
                      </a:lnTo>
                      <a:lnTo>
                        <a:pt x="151579" y="38695"/>
                      </a:lnTo>
                      <a:lnTo>
                        <a:pt x="131564" y="38695"/>
                      </a:lnTo>
                      <a:cubicBezTo>
                        <a:pt x="127290" y="38695"/>
                        <a:pt x="123825" y="35230"/>
                        <a:pt x="123825" y="30956"/>
                      </a:cubicBezTo>
                      <a:cubicBezTo>
                        <a:pt x="123825" y="26682"/>
                        <a:pt x="127290" y="23217"/>
                        <a:pt x="131564" y="23217"/>
                      </a:cubicBezTo>
                      <a:lnTo>
                        <a:pt x="170259" y="23217"/>
                      </a:lnTo>
                      <a:cubicBezTo>
                        <a:pt x="174534" y="23217"/>
                        <a:pt x="177998" y="26682"/>
                        <a:pt x="177998" y="30956"/>
                      </a:cubicBezTo>
                      <a:lnTo>
                        <a:pt x="177998" y="69652"/>
                      </a:lnTo>
                      <a:cubicBezTo>
                        <a:pt x="177998" y="73926"/>
                        <a:pt x="174534" y="77391"/>
                        <a:pt x="170259" y="77391"/>
                      </a:cubicBezTo>
                      <a:cubicBezTo>
                        <a:pt x="165985" y="77391"/>
                        <a:pt x="162520" y="73926"/>
                        <a:pt x="162520" y="69652"/>
                      </a:cubicBezTo>
                      <a:lnTo>
                        <a:pt x="162520" y="49636"/>
                      </a:lnTo>
                      <a:lnTo>
                        <a:pt x="106083" y="106083"/>
                      </a:lnTo>
                      <a:cubicBezTo>
                        <a:pt x="104632" y="107536"/>
                        <a:pt x="102662" y="108353"/>
                        <a:pt x="100608" y="108353"/>
                      </a:cubicBezTo>
                      <a:cubicBezTo>
                        <a:pt x="98554" y="108353"/>
                        <a:pt x="96584" y="107536"/>
                        <a:pt x="95132" y="106083"/>
                      </a:cubicBezTo>
                      <a:lnTo>
                        <a:pt x="69652" y="80593"/>
                      </a:lnTo>
                      <a:lnTo>
                        <a:pt x="15478" y="134766"/>
                      </a:lnTo>
                      <a:lnTo>
                        <a:pt x="15478" y="154781"/>
                      </a:lnTo>
                      <a:lnTo>
                        <a:pt x="193477" y="154781"/>
                      </a:lnTo>
                      <a:cubicBezTo>
                        <a:pt x="197751" y="154781"/>
                        <a:pt x="201216" y="158246"/>
                        <a:pt x="201216" y="162520"/>
                      </a:cubicBezTo>
                      <a:close/>
                    </a:path>
                  </a:pathLst>
                </a:custGeom>
                <a:solidFill>
                  <a:srgbClr val="F59E0B"/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70" name="TextBox 70"/>
              <p:cNvSpPr txBox="1"/>
              <p:nvPr/>
            </p:nvSpPr>
            <p:spPr>
              <a:xfrm>
                <a:off x="3719512" y="4145756"/>
                <a:ext cx="12099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GRU + attention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5111115" y="4039552"/>
                <a:ext cx="21199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openSMILE / wav2vec2 时序建模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5111115" y="4249102"/>
                <a:ext cx="8667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深度序列分类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7644765" y="4153852"/>
                <a:ext cx="142684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访谈过程中的时间依赖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10102215" y="4153852"/>
                <a:ext cx="58674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D64550"/>
                    </a:solidFill>
                    <a:latin typeface="Arial"/>
                    <a:ea typeface="Microsoft YaHei"/>
                    <a:cs typeface="Arial"/>
                  </a:rPr>
                  <a:t>低于基线</a:t>
                </a:r>
              </a:p>
            </p:txBody>
          </p:sp>
        </p:grpSp>
        <p:sp>
          <p:nvSpPr>
            <p:cNvPr id="76" name="Line 76"/>
            <p:cNvSpPr/>
            <p:nvPr/>
          </p:nvSpPr>
          <p:spPr>
            <a:xfrm>
              <a:off x="3162300" y="4495800"/>
              <a:ext cx="8515350" cy="9525"/>
            </a:xfrm>
            <a:custGeom>
              <a:avLst/>
              <a:gdLst/>
              <a:ahLst/>
              <a:cxnLst/>
              <a:rect l="l" t="t" r="r" b="b"/>
              <a:pathLst>
                <a:path w="8515350" h="9525">
                  <a:moveTo>
                    <a:pt x="0" y="0"/>
                  </a:moveTo>
                  <a:lnTo>
                    <a:pt x="8515350" y="0"/>
                  </a:lnTo>
                </a:path>
              </a:pathLst>
            </a:custGeom>
            <a:noFill/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86" name="Group 86"/>
            <p:cNvGrpSpPr/>
            <p:nvPr/>
          </p:nvGrpSpPr>
          <p:grpSpPr>
            <a:xfrm>
              <a:off x="3162300" y="4495800"/>
              <a:ext cx="8515350" cy="590550"/>
              <a:chOff x="3162300" y="4495800"/>
              <a:chExt cx="8515350" cy="590550"/>
            </a:xfrm>
          </p:grpSpPr>
          <p:sp>
            <p:nvSpPr>
              <p:cNvPr id="77" name="Rectangle 77"/>
              <p:cNvSpPr/>
              <p:nvPr/>
            </p:nvSpPr>
            <p:spPr>
              <a:xfrm>
                <a:off x="3162300" y="4495800"/>
                <a:ext cx="8515350" cy="5905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80" name="Group 80"/>
              <p:cNvGrpSpPr/>
              <p:nvPr/>
            </p:nvGrpSpPr>
            <p:grpSpPr>
              <a:xfrm>
                <a:off x="3414117" y="4694634"/>
                <a:ext cx="201216" cy="154781"/>
                <a:chOff x="3414117" y="4694634"/>
                <a:chExt cx="201216" cy="154781"/>
              </a:xfrm>
            </p:grpSpPr>
            <p:sp>
              <p:nvSpPr>
                <p:cNvPr id="78" name="Freeform 78"/>
                <p:cNvSpPr/>
                <p:nvPr/>
              </p:nvSpPr>
              <p:spPr>
                <a:xfrm>
                  <a:off x="3421856" y="4748808"/>
                  <a:ext cx="54173" cy="928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73" h="92869">
                      <a:moveTo>
                        <a:pt x="54173" y="0"/>
                      </a:moveTo>
                      <a:lnTo>
                        <a:pt x="54173" y="92869"/>
                      </a:lnTo>
                      <a:lnTo>
                        <a:pt x="0" y="9286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59E0B">
                    <a:alpha val="20000"/>
                  </a:srgbClr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79" name="Freeform 79"/>
                <p:cNvSpPr/>
                <p:nvPr/>
              </p:nvSpPr>
              <p:spPr>
                <a:xfrm>
                  <a:off x="3414117" y="4694634"/>
                  <a:ext cx="201216" cy="154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16" h="154781">
                      <a:moveTo>
                        <a:pt x="193477" y="0"/>
                      </a:moveTo>
                      <a:lnTo>
                        <a:pt x="7739" y="0"/>
                      </a:lnTo>
                      <a:cubicBezTo>
                        <a:pt x="3465" y="0"/>
                        <a:pt x="0" y="3465"/>
                        <a:pt x="0" y="7739"/>
                      </a:cubicBezTo>
                      <a:lnTo>
                        <a:pt x="0" y="139303"/>
                      </a:lnTo>
                      <a:cubicBezTo>
                        <a:pt x="0" y="147851"/>
                        <a:pt x="6930" y="154781"/>
                        <a:pt x="15478" y="154781"/>
                      </a:cubicBezTo>
                      <a:lnTo>
                        <a:pt x="185738" y="154781"/>
                      </a:lnTo>
                      <a:cubicBezTo>
                        <a:pt x="194286" y="154781"/>
                        <a:pt x="201216" y="147851"/>
                        <a:pt x="201216" y="139303"/>
                      </a:cubicBezTo>
                      <a:lnTo>
                        <a:pt x="201216" y="7739"/>
                      </a:lnTo>
                      <a:cubicBezTo>
                        <a:pt x="201216" y="3465"/>
                        <a:pt x="197751" y="0"/>
                        <a:pt x="193477" y="0"/>
                      </a:cubicBezTo>
                      <a:close/>
                      <a:moveTo>
                        <a:pt x="15478" y="61912"/>
                      </a:moveTo>
                      <a:lnTo>
                        <a:pt x="54173" y="61912"/>
                      </a:lnTo>
                      <a:lnTo>
                        <a:pt x="54173" y="92869"/>
                      </a:lnTo>
                      <a:lnTo>
                        <a:pt x="15478" y="92869"/>
                      </a:lnTo>
                      <a:close/>
                      <a:moveTo>
                        <a:pt x="69652" y="61912"/>
                      </a:moveTo>
                      <a:lnTo>
                        <a:pt x="185738" y="61912"/>
                      </a:lnTo>
                      <a:lnTo>
                        <a:pt x="185738" y="92869"/>
                      </a:lnTo>
                      <a:lnTo>
                        <a:pt x="69652" y="92869"/>
                      </a:lnTo>
                      <a:close/>
                      <a:moveTo>
                        <a:pt x="185738" y="15478"/>
                      </a:moveTo>
                      <a:lnTo>
                        <a:pt x="185738" y="46434"/>
                      </a:lnTo>
                      <a:lnTo>
                        <a:pt x="15478" y="46434"/>
                      </a:lnTo>
                      <a:lnTo>
                        <a:pt x="15478" y="15478"/>
                      </a:lnTo>
                      <a:close/>
                      <a:moveTo>
                        <a:pt x="15478" y="108347"/>
                      </a:moveTo>
                      <a:lnTo>
                        <a:pt x="54173" y="108347"/>
                      </a:lnTo>
                      <a:lnTo>
                        <a:pt x="54173" y="139303"/>
                      </a:lnTo>
                      <a:lnTo>
                        <a:pt x="15478" y="139303"/>
                      </a:lnTo>
                      <a:close/>
                      <a:moveTo>
                        <a:pt x="185738" y="139303"/>
                      </a:moveTo>
                      <a:lnTo>
                        <a:pt x="69652" y="139303"/>
                      </a:lnTo>
                      <a:lnTo>
                        <a:pt x="69652" y="108347"/>
                      </a:lnTo>
                      <a:lnTo>
                        <a:pt x="185738" y="108347"/>
                      </a:lnTo>
                      <a:lnTo>
                        <a:pt x="185738" y="139303"/>
                      </a:lnTo>
                      <a:close/>
                    </a:path>
                  </a:pathLst>
                </a:custGeom>
                <a:solidFill>
                  <a:srgbClr val="F59E0B"/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81" name="TextBox 81"/>
              <p:cNvSpPr txBox="1"/>
              <p:nvPr/>
            </p:nvSpPr>
            <p:spPr>
              <a:xfrm>
                <a:off x="3719512" y="4736306"/>
                <a:ext cx="1123337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ASR + PHQ 证据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5111115" y="4630102"/>
                <a:ext cx="22179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转写文本、症状关键词、PHQ prior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5112068" y="4847749"/>
                <a:ext cx="17149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472"/>
                    </a:solidFill>
                    <a:latin typeface="Consolas"/>
                    <a:ea typeface="Microsoft YaHei"/>
                    <a:cs typeface="Consolas"/>
                  </a:rPr>
                  <a:t>direct / weak / protective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7644765" y="4744402"/>
                <a:ext cx="18468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睡眠、疲劳、兴趣、情绪线索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10102215" y="4744402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D64550"/>
                    </a:solidFill>
                    <a:latin typeface="Arial"/>
                    <a:ea typeface="Microsoft YaHei"/>
                    <a:cs typeface="Arial"/>
                  </a:rPr>
                  <a:t>可解释但弱</a:t>
                </a:r>
              </a:p>
            </p:txBody>
          </p:sp>
        </p:grpSp>
        <p:sp>
          <p:nvSpPr>
            <p:cNvPr id="87" name="Line 87"/>
            <p:cNvSpPr/>
            <p:nvPr/>
          </p:nvSpPr>
          <p:spPr>
            <a:xfrm>
              <a:off x="3162300" y="5086350"/>
              <a:ext cx="8515350" cy="9525"/>
            </a:xfrm>
            <a:custGeom>
              <a:avLst/>
              <a:gdLst/>
              <a:ahLst/>
              <a:cxnLst/>
              <a:rect l="l" t="t" r="r" b="b"/>
              <a:pathLst>
                <a:path w="8515350" h="9525">
                  <a:moveTo>
                    <a:pt x="0" y="0"/>
                  </a:moveTo>
                  <a:lnTo>
                    <a:pt x="8515350" y="0"/>
                  </a:lnTo>
                </a:path>
              </a:pathLst>
            </a:custGeom>
            <a:noFill/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97" name="Group 97"/>
            <p:cNvGrpSpPr/>
            <p:nvPr/>
          </p:nvGrpSpPr>
          <p:grpSpPr>
            <a:xfrm>
              <a:off x="3162300" y="5086350"/>
              <a:ext cx="8515350" cy="666750"/>
              <a:chOff x="3162300" y="5086350"/>
              <a:chExt cx="8515350" cy="666750"/>
            </a:xfrm>
          </p:grpSpPr>
          <p:sp>
            <p:nvSpPr>
              <p:cNvPr id="88" name="Rectangle 88"/>
              <p:cNvSpPr/>
              <p:nvPr/>
            </p:nvSpPr>
            <p:spPr>
              <a:xfrm>
                <a:off x="3162300" y="5086350"/>
                <a:ext cx="8515350" cy="666750"/>
              </a:xfrm>
              <a:prstGeom prst="rect">
                <a:avLst/>
              </a:prstGeom>
              <a:solidFill>
                <a:srgbClr val="FFF3D8">
                  <a:alpha val="55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91" name="Group 91"/>
              <p:cNvGrpSpPr/>
              <p:nvPr/>
            </p:nvGrpSpPr>
            <p:grpSpPr>
              <a:xfrm>
                <a:off x="3429595" y="5309592"/>
                <a:ext cx="170259" cy="201216"/>
                <a:chOff x="3429595" y="5309592"/>
                <a:chExt cx="170259" cy="201216"/>
              </a:xfrm>
            </p:grpSpPr>
            <p:sp>
              <p:nvSpPr>
                <p:cNvPr id="89" name="Freeform 89"/>
                <p:cNvSpPr/>
                <p:nvPr/>
              </p:nvSpPr>
              <p:spPr>
                <a:xfrm>
                  <a:off x="3437334" y="5379244"/>
                  <a:ext cx="154781" cy="619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781" h="61912">
                      <a:moveTo>
                        <a:pt x="154781" y="0"/>
                      </a:moveTo>
                      <a:lnTo>
                        <a:pt x="154781" y="61912"/>
                      </a:lnTo>
                      <a:lnTo>
                        <a:pt x="0" y="6191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59E0B">
                    <a:alpha val="20000"/>
                  </a:srgbClr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90" name="Freeform 90"/>
                <p:cNvSpPr/>
                <p:nvPr/>
              </p:nvSpPr>
              <p:spPr>
                <a:xfrm>
                  <a:off x="3429595" y="5309592"/>
                  <a:ext cx="170259" cy="2012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259" h="201216">
                      <a:moveTo>
                        <a:pt x="15478" y="69652"/>
                      </a:moveTo>
                      <a:lnTo>
                        <a:pt x="15478" y="131564"/>
                      </a:lnTo>
                      <a:cubicBezTo>
                        <a:pt x="15478" y="135838"/>
                        <a:pt x="12013" y="139303"/>
                        <a:pt x="7739" y="139303"/>
                      </a:cubicBezTo>
                      <a:cubicBezTo>
                        <a:pt x="3465" y="139303"/>
                        <a:pt x="0" y="135838"/>
                        <a:pt x="0" y="131564"/>
                      </a:cubicBezTo>
                      <a:lnTo>
                        <a:pt x="0" y="69652"/>
                      </a:lnTo>
                      <a:cubicBezTo>
                        <a:pt x="0" y="65377"/>
                        <a:pt x="3465" y="61912"/>
                        <a:pt x="7739" y="61912"/>
                      </a:cubicBezTo>
                      <a:cubicBezTo>
                        <a:pt x="12013" y="61912"/>
                        <a:pt x="15478" y="65377"/>
                        <a:pt x="15478" y="69652"/>
                      </a:cubicBezTo>
                      <a:close/>
                      <a:moveTo>
                        <a:pt x="46434" y="0"/>
                      </a:moveTo>
                      <a:cubicBezTo>
                        <a:pt x="42160" y="0"/>
                        <a:pt x="38695" y="3465"/>
                        <a:pt x="38695" y="7739"/>
                      </a:cubicBezTo>
                      <a:lnTo>
                        <a:pt x="38695" y="193477"/>
                      </a:lnTo>
                      <a:cubicBezTo>
                        <a:pt x="38695" y="197751"/>
                        <a:pt x="42160" y="201216"/>
                        <a:pt x="46434" y="201216"/>
                      </a:cubicBezTo>
                      <a:cubicBezTo>
                        <a:pt x="50709" y="201216"/>
                        <a:pt x="54173" y="197751"/>
                        <a:pt x="54173" y="193477"/>
                      </a:cubicBezTo>
                      <a:lnTo>
                        <a:pt x="54173" y="7739"/>
                      </a:lnTo>
                      <a:cubicBezTo>
                        <a:pt x="54173" y="3465"/>
                        <a:pt x="50709" y="0"/>
                        <a:pt x="46434" y="0"/>
                      </a:cubicBezTo>
                      <a:close/>
                      <a:moveTo>
                        <a:pt x="85130" y="30956"/>
                      </a:moveTo>
                      <a:cubicBezTo>
                        <a:pt x="80856" y="30956"/>
                        <a:pt x="77391" y="34421"/>
                        <a:pt x="77391" y="38695"/>
                      </a:cubicBezTo>
                      <a:lnTo>
                        <a:pt x="77391" y="162520"/>
                      </a:lnTo>
                      <a:cubicBezTo>
                        <a:pt x="77391" y="166794"/>
                        <a:pt x="80856" y="170259"/>
                        <a:pt x="85130" y="170259"/>
                      </a:cubicBezTo>
                      <a:cubicBezTo>
                        <a:pt x="89404" y="170259"/>
                        <a:pt x="92869" y="166794"/>
                        <a:pt x="92869" y="162520"/>
                      </a:cubicBezTo>
                      <a:lnTo>
                        <a:pt x="92869" y="38695"/>
                      </a:lnTo>
                      <a:cubicBezTo>
                        <a:pt x="92869" y="34421"/>
                        <a:pt x="89404" y="30956"/>
                        <a:pt x="85130" y="30956"/>
                      </a:cubicBezTo>
                      <a:close/>
                      <a:moveTo>
                        <a:pt x="123825" y="61912"/>
                      </a:moveTo>
                      <a:cubicBezTo>
                        <a:pt x="119551" y="61912"/>
                        <a:pt x="116086" y="65377"/>
                        <a:pt x="116086" y="69652"/>
                      </a:cubicBezTo>
                      <a:lnTo>
                        <a:pt x="116086" y="131564"/>
                      </a:lnTo>
                      <a:cubicBezTo>
                        <a:pt x="116086" y="135838"/>
                        <a:pt x="119551" y="139303"/>
                        <a:pt x="123825" y="139303"/>
                      </a:cubicBezTo>
                      <a:cubicBezTo>
                        <a:pt x="128099" y="139303"/>
                        <a:pt x="131564" y="135838"/>
                        <a:pt x="131564" y="131564"/>
                      </a:cubicBezTo>
                      <a:lnTo>
                        <a:pt x="131564" y="69652"/>
                      </a:lnTo>
                      <a:cubicBezTo>
                        <a:pt x="131564" y="65377"/>
                        <a:pt x="128099" y="61912"/>
                        <a:pt x="123825" y="61912"/>
                      </a:cubicBezTo>
                      <a:close/>
                      <a:moveTo>
                        <a:pt x="162520" y="46434"/>
                      </a:moveTo>
                      <a:cubicBezTo>
                        <a:pt x="158246" y="46434"/>
                        <a:pt x="154781" y="49899"/>
                        <a:pt x="154781" y="54173"/>
                      </a:cubicBezTo>
                      <a:lnTo>
                        <a:pt x="154781" y="147042"/>
                      </a:lnTo>
                      <a:cubicBezTo>
                        <a:pt x="154781" y="151316"/>
                        <a:pt x="158246" y="154781"/>
                        <a:pt x="162520" y="154781"/>
                      </a:cubicBezTo>
                      <a:cubicBezTo>
                        <a:pt x="166794" y="154781"/>
                        <a:pt x="170259" y="151316"/>
                        <a:pt x="170259" y="147042"/>
                      </a:cubicBezTo>
                      <a:lnTo>
                        <a:pt x="170259" y="54173"/>
                      </a:lnTo>
                      <a:cubicBezTo>
                        <a:pt x="170259" y="49899"/>
                        <a:pt x="166794" y="46434"/>
                        <a:pt x="162520" y="46434"/>
                      </a:cubicBezTo>
                      <a:close/>
                    </a:path>
                  </a:pathLst>
                </a:custGeom>
                <a:solidFill>
                  <a:srgbClr val="F59E0B"/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92" name="TextBox 92"/>
              <p:cNvSpPr txBox="1"/>
              <p:nvPr/>
            </p:nvSpPr>
            <p:spPr>
              <a:xfrm>
                <a:off x="3719512" y="5374481"/>
                <a:ext cx="72166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e2speech</a:t>
                </a: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5112068" y="5247799"/>
                <a:ext cx="152645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472"/>
                    </a:solidFill>
                    <a:latin typeface="Consolas"/>
                    <a:ea typeface="Microsoft YaHei"/>
                    <a:cs typeface="Consolas"/>
                  </a:rPr>
                  <a:t>event_2 openSMILE 65-d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5112068" y="5457349"/>
                <a:ext cx="170847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B6472"/>
                    </a:solidFill>
                    <a:latin typeface="Consolas"/>
                    <a:ea typeface="Microsoft YaHei"/>
                    <a:cs typeface="Consolas"/>
                  </a:rPr>
                  <a:t>mean / std / mean(|delta|)</a:t>
                </a:r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7644765" y="5382578"/>
                <a:ext cx="19869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发音迟缓、韵律单调、动态变弱</a:t>
                </a:r>
              </a:p>
            </p:txBody>
          </p:sp>
          <p:sp>
            <p:nvSpPr>
              <p:cNvPr id="96" name="TextBox 96"/>
              <p:cNvSpPr txBox="1"/>
              <p:nvPr/>
            </p:nvSpPr>
            <p:spPr>
              <a:xfrm>
                <a:off x="10102215" y="5382578"/>
                <a:ext cx="7267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D64550"/>
                    </a:solidFill>
                    <a:latin typeface="Arial"/>
                    <a:ea typeface="Microsoft YaHei"/>
                    <a:cs typeface="Arial"/>
                  </a:rPr>
                  <a:t>未稳定增益</a:t>
                </a:r>
              </a:p>
            </p:txBody>
          </p:sp>
        </p:grpSp>
      </p:grpSp>
      <p:grpSp>
        <p:nvGrpSpPr>
          <p:cNvPr id="102" name="Group 102"/>
          <p:cNvGrpSpPr/>
          <p:nvPr/>
        </p:nvGrpSpPr>
        <p:grpSpPr>
          <a:xfrm>
            <a:off x="514350" y="5981700"/>
            <a:ext cx="11163300" cy="381000"/>
            <a:chOff x="514350" y="5981700"/>
            <a:chExt cx="11163300" cy="381000"/>
          </a:xfrm>
        </p:grpSpPr>
        <p:sp>
          <p:nvSpPr>
            <p:cNvPr id="99" name="Rectangle 99"/>
            <p:cNvSpPr/>
            <p:nvPr/>
          </p:nvSpPr>
          <p:spPr>
            <a:xfrm>
              <a:off x="514350" y="5981700"/>
              <a:ext cx="11163300" cy="381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84860" y="6099810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9E0B"/>
                  </a:solidFill>
                  <a:latin typeface="Arial"/>
                  <a:ea typeface="Microsoft YaHei"/>
                  <a:cs typeface="Arial"/>
                </a:rPr>
                <a:t>结论：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1299210" y="6099810"/>
              <a:ext cx="72313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语音尝试充分，但在隐藏测试上没有形成可复用的泛化收益；后面重点展示两个代表尝试和失败原因。</a:t>
              </a:r>
            </a:p>
          </p:txBody>
        </p:sp>
      </p:grpSp>
      <p:sp>
        <p:nvSpPr>
          <p:cNvPr id="103" name="TextBox 103"/>
          <p:cNvSpPr txBox="1"/>
          <p:nvPr/>
        </p:nvSpPr>
        <p:spPr>
          <a:xfrm>
            <a:off x="521970" y="6513195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4A6"/>
                </a:solidFill>
                <a:latin typeface="Consolas"/>
                <a:ea typeface="Microsoft YaHei"/>
                <a:cs typeface="Consolas"/>
              </a:rPr>
              <a:t>13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98" grpId="0"/>
      <p:bldP spid="10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3F6F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3D8">
                <a:alpha val="20000"/>
              </a:srgbClr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Freeform 4"/>
            <p:cNvSpPr/>
            <p:nvPr/>
          </p:nvSpPr>
          <p:spPr>
            <a:xfrm>
              <a:off x="990600" y="4800600"/>
              <a:ext cx="10725150" cy="1333500"/>
            </a:xfrm>
            <a:custGeom>
              <a:avLst/>
              <a:gdLst/>
              <a:ahLst/>
              <a:cxnLst/>
              <a:rect l="l" t="t" r="r" b="b"/>
              <a:pathLst>
                <a:path w="10725150" h="1333500">
                  <a:moveTo>
                    <a:pt x="0" y="1009650"/>
                  </a:moveTo>
                  <a:cubicBezTo>
                    <a:pt x="1104900" y="457200"/>
                    <a:pt x="2247900" y="1181100"/>
                    <a:pt x="3505200" y="590550"/>
                  </a:cubicBezTo>
                  <a:cubicBezTo>
                    <a:pt x="4762500" y="0"/>
                    <a:pt x="5715000" y="95250"/>
                    <a:pt x="7029450" y="628650"/>
                  </a:cubicBezTo>
                  <a:cubicBezTo>
                    <a:pt x="8343900" y="1162050"/>
                    <a:pt x="9315450" y="1333500"/>
                    <a:pt x="10725150" y="666750"/>
                  </a:cubicBezTo>
                </a:path>
              </a:pathLst>
            </a:custGeom>
            <a:noFill/>
            <a:ln w="19050">
              <a:solidFill>
                <a:srgbClr val="F59E0B">
                  <a:alpha val="18000"/>
                </a:srgbClr>
              </a:solidFill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65772" y="493395"/>
            <a:ext cx="6925628" cy="840105"/>
            <a:chOff x="465772" y="493395"/>
            <a:chExt cx="6925628" cy="840105"/>
          </a:xfrm>
        </p:grpSpPr>
        <p:sp>
          <p:nvSpPr>
            <p:cNvPr id="6" name="TextBox 6"/>
            <p:cNvSpPr txBox="1"/>
            <p:nvPr/>
          </p:nvSpPr>
          <p:spPr>
            <a:xfrm>
              <a:off x="483870" y="493395"/>
              <a:ext cx="17618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SPEECH ATTEMPT 1 / e2speech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65772" y="701516"/>
              <a:ext cx="5332814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把“面部运动迟缓”迁移到“发音迟缓”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80060" y="1089660"/>
              <a:ext cx="69113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这是语音线中最有设计价值的一次尝试：不是盲用声学特征，而是复用前面有效的动态建模思想。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4350" y="1619250"/>
            <a:ext cx="6743700" cy="3848100"/>
            <a:chOff x="514350" y="1619250"/>
            <a:chExt cx="6743700" cy="3848100"/>
          </a:xfrm>
        </p:grpSpPr>
        <p:sp>
          <p:nvSpPr>
            <p:cNvPr id="10" name="Rectangle 10"/>
            <p:cNvSpPr/>
            <p:nvPr/>
          </p:nvSpPr>
          <p:spPr>
            <a:xfrm>
              <a:off x="514350" y="1619250"/>
              <a:ext cx="6743700" cy="3848100"/>
            </a:xfrm>
            <a:prstGeom prst="roundRect">
              <a:avLst>
                <a:gd name="adj" fmla="val 2475"/>
              </a:avLst>
            </a:prstGeom>
            <a:solidFill>
              <a:srgbClr val="FFFBEB"/>
            </a:solidFill>
            <a:ln w="10795">
              <a:solidFill>
                <a:srgbClr val="FDE68A"/>
              </a:solidFill>
            </a:ln>
          </p:spPr>
          <p:txBody>
            <a:bodyPr/>
            <a:lstStyle/>
            <a:p>
              <a:endParaRPr/>
            </a:p>
          </p:txBody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1607" y="1885950"/>
              <a:ext cx="5449186" cy="2857500"/>
            </a:xfrm>
            <a:prstGeom prst="rect">
              <a:avLst/>
            </a:prstGeom>
            <a:ln>
              <a:solidFill/>
            </a:ln>
          </p:spPr>
        </p:pic>
        <p:sp>
          <p:nvSpPr>
            <p:cNvPr id="12" name="Rectangle 12"/>
            <p:cNvSpPr/>
            <p:nvPr/>
          </p:nvSpPr>
          <p:spPr>
            <a:xfrm>
              <a:off x="742950" y="4953000"/>
              <a:ext cx="6286500" cy="323850"/>
            </a:xfrm>
            <a:prstGeom prst="roundRect">
              <a:avLst>
                <a:gd name="adj" fmla="val 17647"/>
              </a:avLst>
            </a:prstGeom>
            <a:solidFill>
              <a:srgbClr val="FFFFFF">
                <a:alpha val="10000"/>
              </a:srgbClr>
            </a:solidFill>
            <a:ln w="9525">
              <a:solidFill>
                <a:srgbClr val="FFFFFF">
                  <a:alpha val="20000"/>
                </a:srgbClr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59168" y="5057299"/>
              <a:ext cx="19291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45309"/>
                  </a:solidFill>
                  <a:latin typeface="Consolas"/>
                  <a:ea typeface="Microsoft YaHei"/>
                  <a:cs typeface="Consolas"/>
                </a:rPr>
                <a:t>AU delta → facial retardation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086100" y="5114925"/>
              <a:ext cx="857250" cy="1"/>
            </a:xfrm>
            <a:prstGeom prst="line">
              <a:avLst/>
            </a:prstGeom>
            <a:noFill/>
            <a:ln w="19050">
              <a:solidFill>
                <a:srgbClr val="F59E0B"/>
              </a:solidFill>
              <a:tailEnd type="triangle" w="lg" len="lg"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197668" y="5057299"/>
              <a:ext cx="268002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B45309"/>
                  </a:solidFill>
                  <a:latin typeface="Consolas"/>
                  <a:ea typeface="Microsoft YaHei"/>
                  <a:cs typeface="Consolas"/>
                </a:rPr>
                <a:t>speech delta → articulatory retardation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543800" y="1619250"/>
            <a:ext cx="4133850" cy="3848100"/>
            <a:chOff x="7543800" y="1619250"/>
            <a:chExt cx="4133850" cy="3848100"/>
          </a:xfrm>
        </p:grpSpPr>
        <p:sp>
          <p:nvSpPr>
            <p:cNvPr id="17" name="Rectangle 17"/>
            <p:cNvSpPr/>
            <p:nvPr/>
          </p:nvSpPr>
          <p:spPr>
            <a:xfrm>
              <a:off x="7543800" y="1619250"/>
              <a:ext cx="4133850" cy="3848100"/>
            </a:xfrm>
            <a:prstGeom prst="roundRect">
              <a:avLst>
                <a:gd name="adj" fmla="val 2475"/>
              </a:avLst>
            </a:prstGeom>
            <a:solidFill>
              <a:srgbClr val="FFFFFF"/>
            </a:solidFill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7829550" y="1905000"/>
              <a:ext cx="3562350" cy="781050"/>
              <a:chOff x="7829550" y="1905000"/>
              <a:chExt cx="3562350" cy="7810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29550" y="1905000"/>
                <a:ext cx="3562350" cy="781050"/>
              </a:xfrm>
              <a:prstGeom prst="roundRect">
                <a:avLst>
                  <a:gd name="adj" fmla="val 9756"/>
                </a:avLst>
              </a:prstGeom>
              <a:solidFill>
                <a:srgbClr val="FFF3D8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21" name="Group 21"/>
              <p:cNvGrpSpPr/>
              <p:nvPr/>
            </p:nvGrpSpPr>
            <p:grpSpPr>
              <a:xfrm>
                <a:off x="8102798" y="2160389"/>
                <a:ext cx="196453" cy="232172"/>
                <a:chOff x="8102798" y="2160389"/>
                <a:chExt cx="196453" cy="232172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8111728" y="2240756"/>
                  <a:ext cx="178594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594" h="71438">
                      <a:moveTo>
                        <a:pt x="178594" y="0"/>
                      </a:moveTo>
                      <a:lnTo>
                        <a:pt x="178594" y="71438"/>
                      </a:lnTo>
                      <a:lnTo>
                        <a:pt x="0" y="7143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59E0B">
                    <a:alpha val="20000"/>
                  </a:srgbClr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0" name="Freeform 20"/>
                <p:cNvSpPr/>
                <p:nvPr/>
              </p:nvSpPr>
              <p:spPr>
                <a:xfrm>
                  <a:off x="8102798" y="2160389"/>
                  <a:ext cx="196453" cy="232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453" h="232172">
                      <a:moveTo>
                        <a:pt x="17859" y="80367"/>
                      </a:moveTo>
                      <a:lnTo>
                        <a:pt x="17859" y="151805"/>
                      </a:lnTo>
                      <a:cubicBezTo>
                        <a:pt x="17859" y="156736"/>
                        <a:pt x="13861" y="160734"/>
                        <a:pt x="8930" y="160734"/>
                      </a:cubicBezTo>
                      <a:cubicBezTo>
                        <a:pt x="3998" y="160734"/>
                        <a:pt x="0" y="156736"/>
                        <a:pt x="0" y="151805"/>
                      </a:cubicBezTo>
                      <a:lnTo>
                        <a:pt x="0" y="80367"/>
                      </a:lnTo>
                      <a:cubicBezTo>
                        <a:pt x="0" y="75435"/>
                        <a:pt x="3998" y="71438"/>
                        <a:pt x="8930" y="71438"/>
                      </a:cubicBezTo>
                      <a:cubicBezTo>
                        <a:pt x="13861" y="71438"/>
                        <a:pt x="17859" y="75435"/>
                        <a:pt x="17859" y="80367"/>
                      </a:cubicBezTo>
                      <a:close/>
                      <a:moveTo>
                        <a:pt x="53578" y="0"/>
                      </a:moveTo>
                      <a:cubicBezTo>
                        <a:pt x="48646" y="0"/>
                        <a:pt x="44648" y="3998"/>
                        <a:pt x="44648" y="8930"/>
                      </a:cubicBezTo>
                      <a:lnTo>
                        <a:pt x="44648" y="223242"/>
                      </a:lnTo>
                      <a:cubicBezTo>
                        <a:pt x="44648" y="228174"/>
                        <a:pt x="48646" y="232172"/>
                        <a:pt x="53578" y="232172"/>
                      </a:cubicBezTo>
                      <a:cubicBezTo>
                        <a:pt x="58510" y="232172"/>
                        <a:pt x="62508" y="228174"/>
                        <a:pt x="62508" y="223242"/>
                      </a:cubicBezTo>
                      <a:lnTo>
                        <a:pt x="62508" y="8930"/>
                      </a:lnTo>
                      <a:cubicBezTo>
                        <a:pt x="62508" y="3998"/>
                        <a:pt x="58510" y="0"/>
                        <a:pt x="53578" y="0"/>
                      </a:cubicBezTo>
                      <a:close/>
                      <a:moveTo>
                        <a:pt x="98227" y="35719"/>
                      </a:moveTo>
                      <a:cubicBezTo>
                        <a:pt x="93295" y="35719"/>
                        <a:pt x="89297" y="39717"/>
                        <a:pt x="89297" y="44648"/>
                      </a:cubicBezTo>
                      <a:lnTo>
                        <a:pt x="89297" y="187523"/>
                      </a:lnTo>
                      <a:cubicBezTo>
                        <a:pt x="89297" y="192455"/>
                        <a:pt x="93295" y="196453"/>
                        <a:pt x="98227" y="196453"/>
                      </a:cubicBezTo>
                      <a:cubicBezTo>
                        <a:pt x="103158" y="196453"/>
                        <a:pt x="107156" y="192455"/>
                        <a:pt x="107156" y="187523"/>
                      </a:cubicBezTo>
                      <a:lnTo>
                        <a:pt x="107156" y="44648"/>
                      </a:lnTo>
                      <a:cubicBezTo>
                        <a:pt x="107156" y="39717"/>
                        <a:pt x="103158" y="35719"/>
                        <a:pt x="98227" y="35719"/>
                      </a:cubicBezTo>
                      <a:close/>
                      <a:moveTo>
                        <a:pt x="142875" y="71438"/>
                      </a:moveTo>
                      <a:cubicBezTo>
                        <a:pt x="137943" y="71438"/>
                        <a:pt x="133945" y="75435"/>
                        <a:pt x="133945" y="80367"/>
                      </a:cubicBezTo>
                      <a:lnTo>
                        <a:pt x="133945" y="151805"/>
                      </a:lnTo>
                      <a:cubicBezTo>
                        <a:pt x="133945" y="156736"/>
                        <a:pt x="137943" y="160734"/>
                        <a:pt x="142875" y="160734"/>
                      </a:cubicBezTo>
                      <a:cubicBezTo>
                        <a:pt x="147807" y="160734"/>
                        <a:pt x="151805" y="156736"/>
                        <a:pt x="151805" y="151805"/>
                      </a:cubicBezTo>
                      <a:lnTo>
                        <a:pt x="151805" y="80367"/>
                      </a:lnTo>
                      <a:cubicBezTo>
                        <a:pt x="151805" y="75435"/>
                        <a:pt x="147807" y="71438"/>
                        <a:pt x="142875" y="71438"/>
                      </a:cubicBezTo>
                      <a:close/>
                      <a:moveTo>
                        <a:pt x="187523" y="53578"/>
                      </a:moveTo>
                      <a:cubicBezTo>
                        <a:pt x="182592" y="53578"/>
                        <a:pt x="178594" y="57576"/>
                        <a:pt x="178594" y="62508"/>
                      </a:cubicBezTo>
                      <a:lnTo>
                        <a:pt x="178594" y="169664"/>
                      </a:lnTo>
                      <a:cubicBezTo>
                        <a:pt x="178594" y="174596"/>
                        <a:pt x="182592" y="178594"/>
                        <a:pt x="187523" y="178594"/>
                      </a:cubicBezTo>
                      <a:cubicBezTo>
                        <a:pt x="192455" y="178594"/>
                        <a:pt x="196453" y="174596"/>
                        <a:pt x="196453" y="169664"/>
                      </a:cubicBezTo>
                      <a:lnTo>
                        <a:pt x="196453" y="62508"/>
                      </a:lnTo>
                      <a:cubicBezTo>
                        <a:pt x="196453" y="57576"/>
                        <a:pt x="192455" y="53578"/>
                        <a:pt x="187523" y="53578"/>
                      </a:cubicBezTo>
                      <a:close/>
                    </a:path>
                  </a:pathLst>
                </a:custGeom>
                <a:solidFill>
                  <a:srgbClr val="F59E0B"/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22" name="TextBox 22"/>
              <p:cNvSpPr txBox="1"/>
              <p:nvPr/>
            </p:nvSpPr>
            <p:spPr>
              <a:xfrm>
                <a:off x="8480108" y="2053114"/>
                <a:ext cx="7464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临床动机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482965" y="2325052"/>
                <a:ext cx="2019784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心理运动迟缓可能表现为语速慢、</a:t>
                </a:r>
                <a:endParaRPr lang="en-US" altLang="zh-CN" sz="105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endParaRPr>
              </a:p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韵律单调、声学变化幅度小。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7811452" y="2951321"/>
              <a:ext cx="3580448" cy="1582579"/>
              <a:chOff x="7811452" y="2951321"/>
              <a:chExt cx="3580448" cy="1582579"/>
            </a:xfrm>
          </p:grpSpPr>
          <p:sp>
            <p:nvSpPr>
              <p:cNvPr id="25" name="TextBox 25"/>
              <p:cNvSpPr txBox="1"/>
              <p:nvPr/>
            </p:nvSpPr>
            <p:spPr>
              <a:xfrm>
                <a:off x="7811452" y="2951321"/>
                <a:ext cx="83429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特征构造</a:t>
                </a:r>
              </a:p>
            </p:txBody>
          </p:sp>
          <p:sp>
            <p:nvSpPr>
              <p:cNvPr id="26" name="Rectangle 26"/>
              <p:cNvSpPr/>
              <p:nvPr/>
            </p:nvSpPr>
            <p:spPr>
              <a:xfrm>
                <a:off x="7829550" y="3333750"/>
                <a:ext cx="110490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3F6FB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064487" y="3440906"/>
                <a:ext cx="63502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59E0B"/>
                    </a:solidFill>
                    <a:latin typeface="Consolas"/>
                    <a:ea typeface="Microsoft YaHei"/>
                    <a:cs typeface="Consolas"/>
                  </a:rPr>
                  <a:t>event_2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109585" y="36666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访谈片段</a:t>
                </a:r>
              </a:p>
            </p:txBody>
          </p:sp>
          <p:sp>
            <p:nvSpPr>
              <p:cNvPr id="29" name="Line 29"/>
              <p:cNvSpPr/>
              <p:nvPr/>
            </p:nvSpPr>
            <p:spPr>
              <a:xfrm>
                <a:off x="8934450" y="3629025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F59E0B"/>
                </a:solidFill>
                <a:tailEnd type="triangle" w="lg" len="lg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9353550" y="3333750"/>
                <a:ext cx="110490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3F6FB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9718441" y="3440906"/>
                <a:ext cx="37511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59E0B"/>
                    </a:solidFill>
                    <a:latin typeface="Consolas"/>
                    <a:ea typeface="Microsoft YaHei"/>
                    <a:cs typeface="Consolas"/>
                  </a:rPr>
                  <a:t>65-d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9575078" y="3666649"/>
                <a:ext cx="66184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openSMILE</a:t>
                </a:r>
              </a:p>
            </p:txBody>
          </p:sp>
          <p:sp>
            <p:nvSpPr>
              <p:cNvPr id="33" name="Line 33"/>
              <p:cNvSpPr/>
              <p:nvPr/>
            </p:nvSpPr>
            <p:spPr>
              <a:xfrm>
                <a:off x="10458450" y="3629025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F59E0B"/>
                </a:solidFill>
                <a:tailEnd type="triangle" w="lg" len="lg"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10877550" y="3333750"/>
                <a:ext cx="514350" cy="590550"/>
              </a:xfrm>
              <a:prstGeom prst="roundRect">
                <a:avLst>
                  <a:gd name="adj" fmla="val 14815"/>
                </a:avLst>
              </a:prstGeom>
              <a:solidFill>
                <a:srgbClr val="FFFBEB"/>
              </a:solidFill>
              <a:ln w="10795">
                <a:solidFill>
                  <a:srgbClr val="FDE68A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1010174" y="3459956"/>
                <a:ext cx="24910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0F172A"/>
                    </a:solidFill>
                    <a:latin typeface="Consolas"/>
                    <a:ea typeface="Microsoft YaHei"/>
                    <a:cs typeface="Consolas"/>
                  </a:rPr>
                  <a:t>195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0994279" y="3693795"/>
                <a:ext cx="2808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334155"/>
                    </a:solidFill>
                    <a:latin typeface="Consolas"/>
                    <a:ea typeface="Microsoft YaHei"/>
                    <a:cs typeface="Consolas"/>
                  </a:rPr>
                  <a:t>dims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7829550" y="4095750"/>
                <a:ext cx="3562350" cy="438150"/>
              </a:xfrm>
              <a:prstGeom prst="roundRect">
                <a:avLst>
                  <a:gd name="adj" fmla="val 13043"/>
                </a:avLst>
              </a:prstGeom>
              <a:solidFill>
                <a:srgbClr val="FFFFFF"/>
              </a:solidFill>
              <a:ln w="9525">
                <a:solidFill>
                  <a:srgbClr val="D8E0EA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043862" y="4250531"/>
                <a:ext cx="258039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59E0B"/>
                    </a:solidFill>
                    <a:latin typeface="Consolas"/>
                    <a:ea typeface="Microsoft YaHei"/>
                    <a:cs typeface="Consolas"/>
                  </a:rPr>
                  <a:t>mean / std / mean(|delta frame|)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7811452" y="4722971"/>
              <a:ext cx="2421138" cy="683434"/>
              <a:chOff x="7811452" y="4722971"/>
              <a:chExt cx="2421138" cy="683434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7811452" y="4722971"/>
                <a:ext cx="83429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模型策略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815262" y="5060156"/>
                <a:ext cx="2417328" cy="3462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浅层 CCC-loss MLP + 多 seed 集成，</a:t>
                </a:r>
                <a:endParaRPr lang="en-US" altLang="zh-CN" sz="112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endParaRPr>
              </a:p>
              <a:p>
                <a:pPr algn="l"/>
                <a:r>
                  <a:rPr lang="zh-CN" sz="1125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保持与面部 ranker 同一套稳健策略。</a:t>
                </a:r>
              </a:p>
            </p:txBody>
          </p:sp>
        </p:grpSp>
      </p:grpSp>
      <p:grpSp>
        <p:nvGrpSpPr>
          <p:cNvPr id="48" name="Group 48"/>
          <p:cNvGrpSpPr/>
          <p:nvPr/>
        </p:nvGrpSpPr>
        <p:grpSpPr>
          <a:xfrm>
            <a:off x="514350" y="5753100"/>
            <a:ext cx="11163300" cy="552450"/>
            <a:chOff x="514350" y="5753100"/>
            <a:chExt cx="11163300" cy="552450"/>
          </a:xfrm>
        </p:grpSpPr>
        <p:sp>
          <p:nvSpPr>
            <p:cNvPr id="44" name="Rectangle 44"/>
            <p:cNvSpPr/>
            <p:nvPr/>
          </p:nvSpPr>
          <p:spPr>
            <a:xfrm>
              <a:off x="514350" y="5753100"/>
              <a:ext cx="111633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82955" y="59502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判断：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354455" y="5950268"/>
              <a:ext cx="63350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方法设计是合理的，但隐藏测试没有带来稳定增益，因此不进入最终融合主干。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48365" y="5966460"/>
              <a:ext cx="31808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64550"/>
                  </a:solidFill>
                  <a:latin typeface="Consolas"/>
                  <a:ea typeface="Microsoft YaHei"/>
                  <a:cs typeface="Consolas"/>
                </a:rPr>
                <a:t>valuable attempt, weak generalization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521970" y="6513195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4A6"/>
                </a:solidFill>
                <a:latin typeface="Consolas"/>
                <a:ea typeface="Microsoft YaHei"/>
                <a:cs typeface="Consolas"/>
              </a:rPr>
              <a:t>14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43" grpId="0"/>
      <p:bldP spid="4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-7504033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3F6F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" name="Freeform 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1428750"/>
                  </a:moveTo>
                  <a:lnTo>
                    <a:pt x="12192000" y="1428750"/>
                  </a:lnTo>
                  <a:moveTo>
                    <a:pt x="0" y="3333750"/>
                  </a:moveTo>
                  <a:lnTo>
                    <a:pt x="12192000" y="3333750"/>
                  </a:lnTo>
                  <a:moveTo>
                    <a:pt x="0" y="5238750"/>
                  </a:moveTo>
                  <a:lnTo>
                    <a:pt x="12192000" y="5238750"/>
                  </a:lnTo>
                  <a:moveTo>
                    <a:pt x="1524000" y="0"/>
                  </a:moveTo>
                  <a:lnTo>
                    <a:pt x="1524000" y="6858000"/>
                  </a:lnTo>
                  <a:moveTo>
                    <a:pt x="3429000" y="0"/>
                  </a:moveTo>
                  <a:lnTo>
                    <a:pt x="3429000" y="6858000"/>
                  </a:lnTo>
                  <a:moveTo>
                    <a:pt x="5334000" y="0"/>
                  </a:moveTo>
                  <a:lnTo>
                    <a:pt x="5334000" y="6858000"/>
                  </a:lnTo>
                  <a:moveTo>
                    <a:pt x="7239000" y="0"/>
                  </a:moveTo>
                  <a:lnTo>
                    <a:pt x="72390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11049000" y="0"/>
                  </a:moveTo>
                  <a:lnTo>
                    <a:pt x="11049000" y="6858000"/>
                  </a:lnTo>
                </a:path>
              </a:pathLst>
            </a:custGeom>
            <a:solidFill>
              <a:srgbClr val="000000"/>
            </a:solidFill>
            <a:ln w="5715">
              <a:solidFill>
                <a:srgbClr val="D8E0EA">
                  <a:alpha val="30000"/>
                </a:srgbClr>
              </a:solidFill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65772" y="493395"/>
            <a:ext cx="6911686" cy="780931"/>
            <a:chOff x="465772" y="493395"/>
            <a:chExt cx="6911686" cy="780931"/>
          </a:xfrm>
        </p:grpSpPr>
        <p:sp>
          <p:nvSpPr>
            <p:cNvPr id="5" name="TextBox 5"/>
            <p:cNvSpPr txBox="1"/>
            <p:nvPr/>
          </p:nvSpPr>
          <p:spPr>
            <a:xfrm>
              <a:off x="483870" y="493395"/>
              <a:ext cx="23856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SPEECH ATTEMPT 2 / ASR + PHQ EVIDENCE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65772" y="701516"/>
              <a:ext cx="6911686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ASR + PHQ-9 语义证据线：可解释，但泛化偏弱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80060" y="1089660"/>
              <a:ext cx="582210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把</a:t>
              </a:r>
              <a:r>
                <a:rPr lang="zh-CN" sz="120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“说了什么”转成 PHQ 症状证据，用于验证语义信息是否能补充声学和行为动态。</a:t>
              </a:r>
            </a:p>
          </p:txBody>
        </p:sp>
      </p:grpSp>
      <p:sp>
        <p:nvSpPr>
          <p:cNvPr id="9" name="Rectangle 9"/>
          <p:cNvSpPr/>
          <p:nvPr/>
        </p:nvSpPr>
        <p:spPr>
          <a:xfrm>
            <a:off x="923060" y="1481780"/>
            <a:ext cx="4890317" cy="3824595"/>
          </a:xfrm>
          <a:prstGeom prst="roundRect">
            <a:avLst>
              <a:gd name="adj" fmla="val 3145"/>
            </a:avLst>
          </a:prstGeom>
          <a:solidFill>
            <a:srgbClr val="FFFBEB"/>
          </a:solidFill>
          <a:ln w="10795">
            <a:solidFill>
              <a:srgbClr val="FDE68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Rectangle 11"/>
          <p:cNvSpPr/>
          <p:nvPr/>
        </p:nvSpPr>
        <p:spPr>
          <a:xfrm>
            <a:off x="625175" y="-1956226"/>
            <a:ext cx="1162050" cy="266700"/>
          </a:xfrm>
          <a:prstGeom prst="roundRect">
            <a:avLst>
              <a:gd name="adj" fmla="val 50000"/>
            </a:avLst>
          </a:prstGeom>
          <a:solidFill>
            <a:srgbClr val="FFF3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1037250" y="-1872406"/>
            <a:ext cx="3378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59E0B"/>
                </a:solidFill>
                <a:latin typeface="Consolas"/>
                <a:ea typeface="Microsoft YaHei"/>
                <a:cs typeface="Consolas"/>
              </a:rPr>
              <a:t>Audio</a:t>
            </a:r>
          </a:p>
        </p:txBody>
      </p:sp>
      <p:sp>
        <p:nvSpPr>
          <p:cNvPr id="13" name="Line 13"/>
          <p:cNvSpPr/>
          <p:nvPr/>
        </p:nvSpPr>
        <p:spPr>
          <a:xfrm>
            <a:off x="1825325" y="-1822876"/>
            <a:ext cx="476250" cy="1"/>
          </a:xfrm>
          <a:prstGeom prst="line">
            <a:avLst/>
          </a:prstGeom>
          <a:noFill/>
          <a:ln w="19050">
            <a:solidFill>
              <a:srgbClr val="F59E0B"/>
            </a:solidFill>
            <a:tailEnd type="triangle" w="lg" len="lg"/>
          </a:ln>
        </p:spPr>
        <p:txBody>
          <a:bodyPr/>
          <a:lstStyle/>
          <a:p>
            <a:endParaRPr/>
          </a:p>
        </p:txBody>
      </p:sp>
      <p:sp>
        <p:nvSpPr>
          <p:cNvPr id="14" name="Rectangle 14"/>
          <p:cNvSpPr/>
          <p:nvPr/>
        </p:nvSpPr>
        <p:spPr>
          <a:xfrm>
            <a:off x="2358725" y="-1944320"/>
            <a:ext cx="1162050" cy="266700"/>
          </a:xfrm>
          <a:prstGeom prst="roundRect">
            <a:avLst>
              <a:gd name="adj" fmla="val 50000"/>
            </a:avLst>
          </a:prstGeom>
          <a:solidFill>
            <a:srgbClr val="FFF3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2824357" y="-1872406"/>
            <a:ext cx="2307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59E0B"/>
                </a:solidFill>
                <a:latin typeface="Consolas"/>
                <a:ea typeface="Microsoft YaHei"/>
                <a:cs typeface="Consolas"/>
              </a:rPr>
              <a:t>ASR</a:t>
            </a:r>
          </a:p>
        </p:txBody>
      </p:sp>
      <p:sp>
        <p:nvSpPr>
          <p:cNvPr id="16" name="Line 16"/>
          <p:cNvSpPr/>
          <p:nvPr/>
        </p:nvSpPr>
        <p:spPr>
          <a:xfrm>
            <a:off x="3558875" y="-1822876"/>
            <a:ext cx="476250" cy="1"/>
          </a:xfrm>
          <a:prstGeom prst="line">
            <a:avLst/>
          </a:prstGeom>
          <a:noFill/>
          <a:ln w="19050">
            <a:solidFill>
              <a:srgbClr val="F59E0B"/>
            </a:solidFill>
            <a:tailEnd type="triangle" w="lg" len="lg"/>
          </a:ln>
        </p:spPr>
        <p:txBody>
          <a:bodyPr/>
          <a:lstStyle/>
          <a:p>
            <a:endParaRPr/>
          </a:p>
        </p:txBody>
      </p:sp>
      <p:sp>
        <p:nvSpPr>
          <p:cNvPr id="17" name="Rectangle 17"/>
          <p:cNvSpPr/>
          <p:nvPr/>
        </p:nvSpPr>
        <p:spPr>
          <a:xfrm>
            <a:off x="4092275" y="-1956226"/>
            <a:ext cx="1162050" cy="266700"/>
          </a:xfrm>
          <a:prstGeom prst="roundRect">
            <a:avLst>
              <a:gd name="adj" fmla="val 50000"/>
            </a:avLst>
          </a:prstGeom>
          <a:solidFill>
            <a:srgbClr val="FFF3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4400387" y="-1872406"/>
            <a:ext cx="5458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59E0B"/>
                </a:solidFill>
                <a:latin typeface="Consolas"/>
                <a:ea typeface="Microsoft YaHei"/>
                <a:cs typeface="Consolas"/>
              </a:rPr>
              <a:t>Evidence</a:t>
            </a:r>
          </a:p>
        </p:txBody>
      </p:sp>
      <p:sp>
        <p:nvSpPr>
          <p:cNvPr id="19" name="Line 19"/>
          <p:cNvSpPr/>
          <p:nvPr/>
        </p:nvSpPr>
        <p:spPr>
          <a:xfrm>
            <a:off x="5292425" y="-1822876"/>
            <a:ext cx="476250" cy="1"/>
          </a:xfrm>
          <a:prstGeom prst="line">
            <a:avLst/>
          </a:prstGeom>
          <a:noFill/>
          <a:ln w="19050">
            <a:solidFill>
              <a:srgbClr val="F59E0B"/>
            </a:solidFill>
            <a:tailEnd type="triangle" w="lg" len="lg"/>
          </a:ln>
        </p:spPr>
        <p:txBody>
          <a:bodyPr/>
          <a:lstStyle/>
          <a:p>
            <a:endParaRPr/>
          </a:p>
        </p:txBody>
      </p:sp>
      <p:sp>
        <p:nvSpPr>
          <p:cNvPr id="20" name="Rectangle 20"/>
          <p:cNvSpPr/>
          <p:nvPr/>
        </p:nvSpPr>
        <p:spPr>
          <a:xfrm>
            <a:off x="5825825" y="-1956226"/>
            <a:ext cx="704850" cy="266700"/>
          </a:xfrm>
          <a:prstGeom prst="roundRect">
            <a:avLst>
              <a:gd name="adj" fmla="val 50000"/>
            </a:avLst>
          </a:prstGeom>
          <a:solidFill>
            <a:srgbClr val="FFF3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6009300" y="-1872406"/>
            <a:ext cx="3378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59E0B"/>
                </a:solidFill>
                <a:latin typeface="Consolas"/>
                <a:ea typeface="Microsoft YaHei"/>
                <a:cs typeface="Consolas"/>
              </a:rPr>
              <a:t>Prior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657713" y="1825221"/>
            <a:ext cx="5137993" cy="3120022"/>
          </a:xfrm>
          <a:prstGeom prst="roundRect">
            <a:avLst>
              <a:gd name="adj" fmla="val 3145"/>
            </a:avLst>
          </a:prstGeom>
          <a:solidFill>
            <a:srgbClr val="FFFFFF"/>
          </a:solidFill>
          <a:ln w="9525">
            <a:solidFill>
              <a:srgbClr val="D8E0EA"/>
            </a:solidFill>
          </a:ln>
        </p:spPr>
        <p:txBody>
          <a:bodyPr/>
          <a:lstStyle/>
          <a:p>
            <a:endParaRPr sz="2400"/>
          </a:p>
        </p:txBody>
      </p:sp>
      <p:sp>
        <p:nvSpPr>
          <p:cNvPr id="24" name="TextBox 24"/>
          <p:cNvSpPr txBox="1"/>
          <p:nvPr/>
        </p:nvSpPr>
        <p:spPr>
          <a:xfrm>
            <a:off x="6941559" y="2028103"/>
            <a:ext cx="1025922" cy="307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证据构造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6962514" y="2453871"/>
            <a:ext cx="3848100" cy="457200"/>
            <a:chOff x="7524750" y="2228850"/>
            <a:chExt cx="3848100" cy="457200"/>
          </a:xfrm>
        </p:grpSpPr>
        <p:sp>
          <p:nvSpPr>
            <p:cNvPr id="25" name="Rectangle 25"/>
            <p:cNvSpPr/>
            <p:nvPr/>
          </p:nvSpPr>
          <p:spPr>
            <a:xfrm>
              <a:off x="7524750" y="2228850"/>
              <a:ext cx="3848100" cy="457200"/>
            </a:xfrm>
            <a:prstGeom prst="roundRect">
              <a:avLst>
                <a:gd name="adj" fmla="val 16667"/>
              </a:avLst>
            </a:prstGeom>
            <a:solidFill>
              <a:srgbClr val="FFF3D8"/>
            </a:solidFill>
            <a:ln>
              <a:noFill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39062" y="2393156"/>
              <a:ext cx="1490793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qwen3-asr-flash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00626" y="2418249"/>
              <a:ext cx="92333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访谈语音转写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962514" y="3177771"/>
            <a:ext cx="3848100" cy="628650"/>
            <a:chOff x="7524750" y="2952750"/>
            <a:chExt cx="3848100" cy="628650"/>
          </a:xfrm>
        </p:grpSpPr>
        <p:sp>
          <p:nvSpPr>
            <p:cNvPr id="29" name="Rectangle 29"/>
            <p:cNvSpPr/>
            <p:nvPr/>
          </p:nvSpPr>
          <p:spPr>
            <a:xfrm>
              <a:off x="7524750" y="2952750"/>
              <a:ext cx="1181100" cy="628650"/>
            </a:xfrm>
            <a:prstGeom prst="roundRect">
              <a:avLst>
                <a:gd name="adj" fmla="val 12121"/>
              </a:avLst>
            </a:prstGeom>
            <a:solidFill>
              <a:srgbClr val="F3F6FB"/>
            </a:solidFill>
            <a:ln>
              <a:noFill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817142" y="3098006"/>
              <a:ext cx="596318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direct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45996" y="3331845"/>
              <a:ext cx="53860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直接症状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858250" y="2952750"/>
              <a:ext cx="1181100" cy="628650"/>
            </a:xfrm>
            <a:prstGeom prst="roundRect">
              <a:avLst>
                <a:gd name="adj" fmla="val 12121"/>
              </a:avLst>
            </a:prstGeom>
            <a:solidFill>
              <a:srgbClr val="F3F6FB"/>
            </a:solidFill>
            <a:ln>
              <a:noFill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250027" y="3098006"/>
              <a:ext cx="397546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weak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12169" y="3331845"/>
              <a:ext cx="673261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弱相关线索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0191750" y="2952750"/>
              <a:ext cx="1181100" cy="628650"/>
            </a:xfrm>
            <a:prstGeom prst="roundRect">
              <a:avLst>
                <a:gd name="adj" fmla="val 12121"/>
              </a:avLst>
            </a:prstGeom>
            <a:solidFill>
              <a:srgbClr val="F3F6FB"/>
            </a:solidFill>
            <a:ln>
              <a:noFill/>
            </a:ln>
          </p:spPr>
          <p:txBody>
            <a:bodyPr/>
            <a:lstStyle/>
            <a:p>
              <a:endParaRPr sz="2400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85368" y="3098006"/>
              <a:ext cx="993862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protective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45669" y="3331845"/>
              <a:ext cx="673261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保护性表达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6948226" y="4104077"/>
            <a:ext cx="4847481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dirty="0">
                <a:solidFill>
                  <a:srgbClr val="5B6472"/>
                </a:solidFill>
                <a:latin typeface="Arial"/>
                <a:ea typeface="Microsoft YaHei"/>
                <a:cs typeface="Arial"/>
              </a:rPr>
              <a:t>关键词域：睡眠、疲劳、情绪、兴趣、自我评价、活动意愿。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948226" y="4408877"/>
            <a:ext cx="3204403" cy="2154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dirty="0">
                <a:solidFill>
                  <a:srgbClr val="5B6472"/>
                </a:solidFill>
                <a:latin typeface="Arial"/>
                <a:ea typeface="Microsoft YaHei"/>
                <a:cs typeface="Arial"/>
              </a:rPr>
              <a:t>输出：PHQ prior + 二/三分类辅助判断。</a:t>
            </a:r>
          </a:p>
        </p:txBody>
      </p:sp>
      <p:sp>
        <p:nvSpPr>
          <p:cNvPr id="42" name="Rectangle 42"/>
          <p:cNvSpPr/>
          <p:nvPr/>
        </p:nvSpPr>
        <p:spPr>
          <a:xfrm>
            <a:off x="514350" y="5423771"/>
            <a:ext cx="6400800" cy="1028700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D8E0E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TextBox 43"/>
          <p:cNvSpPr txBox="1"/>
          <p:nvPr/>
        </p:nvSpPr>
        <p:spPr>
          <a:xfrm>
            <a:off x="781050" y="5623796"/>
            <a:ext cx="177081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rPr>
              <a:t>独立 ASR 提交结果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794385" y="5924412"/>
            <a:ext cx="1019510" cy="484480"/>
            <a:chOff x="794385" y="5542598"/>
            <a:chExt cx="1019510" cy="484480"/>
          </a:xfrm>
        </p:grpSpPr>
        <p:sp>
          <p:nvSpPr>
            <p:cNvPr id="44" name="TextBox 44"/>
            <p:cNvSpPr txBox="1"/>
            <p:nvPr/>
          </p:nvSpPr>
          <p:spPr>
            <a:xfrm>
              <a:off x="794385" y="5542598"/>
              <a:ext cx="101951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59E0B"/>
                  </a:solidFill>
                  <a:latin typeface="Consolas"/>
                  <a:ea typeface="Microsoft YaHei"/>
                  <a:cs typeface="Consolas"/>
                </a:rPr>
                <a:t>0.4578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26770" y="5865495"/>
              <a:ext cx="368691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2"/>
                  </a:solidFill>
                  <a:latin typeface="Consolas"/>
                  <a:ea typeface="Microsoft YaHei"/>
                  <a:cs typeface="Consolas"/>
                </a:rPr>
                <a:t>Score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2244090" y="5940604"/>
            <a:ext cx="1019510" cy="468288"/>
            <a:chOff x="2244090" y="5558790"/>
            <a:chExt cx="1019510" cy="468288"/>
          </a:xfrm>
        </p:grpSpPr>
        <p:sp>
          <p:nvSpPr>
            <p:cNvPr id="47" name="TextBox 47"/>
            <p:cNvSpPr txBox="1"/>
            <p:nvPr/>
          </p:nvSpPr>
          <p:spPr>
            <a:xfrm>
              <a:off x="2244090" y="5558790"/>
              <a:ext cx="101951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0.5833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274570" y="5865495"/>
              <a:ext cx="14747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2"/>
                  </a:solidFill>
                  <a:latin typeface="Consolas"/>
                  <a:ea typeface="Microsoft YaHei"/>
                  <a:cs typeface="Consolas"/>
                </a:rPr>
                <a:t>F1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3653790" y="5940604"/>
            <a:ext cx="1019510" cy="468288"/>
            <a:chOff x="3653790" y="5558790"/>
            <a:chExt cx="1019510" cy="468288"/>
          </a:xfrm>
        </p:grpSpPr>
        <p:sp>
          <p:nvSpPr>
            <p:cNvPr id="50" name="TextBox 50"/>
            <p:cNvSpPr txBox="1"/>
            <p:nvPr/>
          </p:nvSpPr>
          <p:spPr>
            <a:xfrm>
              <a:off x="3653790" y="5558790"/>
              <a:ext cx="101951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0.5084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3684270" y="5865495"/>
              <a:ext cx="22121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2"/>
                  </a:solidFill>
                  <a:latin typeface="Consolas"/>
                  <a:ea typeface="Microsoft YaHei"/>
                  <a:cs typeface="Consolas"/>
                </a:rPr>
                <a:t>CCC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082540" y="5940604"/>
            <a:ext cx="1019510" cy="468288"/>
            <a:chOff x="5082540" y="5558790"/>
            <a:chExt cx="1019510" cy="468288"/>
          </a:xfrm>
        </p:grpSpPr>
        <p:sp>
          <p:nvSpPr>
            <p:cNvPr id="53" name="TextBox 53"/>
            <p:cNvSpPr txBox="1"/>
            <p:nvPr/>
          </p:nvSpPr>
          <p:spPr>
            <a:xfrm>
              <a:off x="5082540" y="5558790"/>
              <a:ext cx="101951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111827"/>
                  </a:solidFill>
                  <a:latin typeface="Consolas"/>
                  <a:ea typeface="Microsoft YaHei"/>
                  <a:cs typeface="Consolas"/>
                </a:rPr>
                <a:t>0.2815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113020" y="5865495"/>
              <a:ext cx="368691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2"/>
                  </a:solidFill>
                  <a:latin typeface="Consolas"/>
                  <a:ea typeface="Microsoft YaHei"/>
                  <a:cs typeface="Consolas"/>
                </a:rPr>
                <a:t>Kappa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7219950" y="5423771"/>
            <a:ext cx="4457700" cy="1028700"/>
            <a:chOff x="7219950" y="4953000"/>
            <a:chExt cx="4457700" cy="1028700"/>
          </a:xfrm>
        </p:grpSpPr>
        <p:sp>
          <p:nvSpPr>
            <p:cNvPr id="57" name="Rectangle 57"/>
            <p:cNvSpPr/>
            <p:nvPr/>
          </p:nvSpPr>
          <p:spPr>
            <a:xfrm>
              <a:off x="7219950" y="4953000"/>
              <a:ext cx="4457700" cy="1028700"/>
            </a:xfrm>
            <a:prstGeom prst="roundRect">
              <a:avLst>
                <a:gd name="adj" fmla="val 9259"/>
              </a:avLst>
            </a:prstGeom>
            <a:solidFill>
              <a:srgbClr val="FFFBEB"/>
            </a:solidFill>
            <a:ln w="10795">
              <a:solidFill>
                <a:srgbClr val="FDE68A"/>
              </a:solidFill>
            </a:ln>
          </p:spPr>
          <p:txBody>
            <a:bodyPr/>
            <a:lstStyle/>
            <a:p>
              <a:endParaRPr/>
            </a:p>
          </p:txBody>
        </p:sp>
        <p:grpSp>
          <p:nvGrpSpPr>
            <p:cNvPr id="60" name="Group 60"/>
            <p:cNvGrpSpPr/>
            <p:nvPr/>
          </p:nvGrpSpPr>
          <p:grpSpPr>
            <a:xfrm>
              <a:off x="7541403" y="5246488"/>
              <a:ext cx="252438" cy="223345"/>
              <a:chOff x="7541403" y="5246488"/>
              <a:chExt cx="252438" cy="223345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547074" y="5252316"/>
                <a:ext cx="241102" cy="208486"/>
              </a:xfrm>
              <a:custGeom>
                <a:avLst/>
                <a:gdLst/>
                <a:ahLst/>
                <a:cxnLst/>
                <a:rect l="l" t="t" r="r" b="b"/>
                <a:pathLst>
                  <a:path w="241102" h="208486">
                    <a:moveTo>
                      <a:pt x="218175" y="208486"/>
                    </a:moveTo>
                    <a:lnTo>
                      <a:pt x="22927" y="208486"/>
                    </a:lnTo>
                    <a:cubicBezTo>
                      <a:pt x="8840" y="208486"/>
                      <a:pt x="0" y="193741"/>
                      <a:pt x="6842" y="181797"/>
                    </a:cubicBezTo>
                    <a:lnTo>
                      <a:pt x="104466" y="12278"/>
                    </a:lnTo>
                    <a:cubicBezTo>
                      <a:pt x="111498" y="0"/>
                      <a:pt x="129603" y="0"/>
                      <a:pt x="136635" y="12278"/>
                    </a:cubicBezTo>
                    <a:lnTo>
                      <a:pt x="234259" y="181797"/>
                    </a:lnTo>
                    <a:cubicBezTo>
                      <a:pt x="241102" y="193741"/>
                      <a:pt x="232261" y="208486"/>
                      <a:pt x="218175" y="208486"/>
                    </a:cubicBezTo>
                    <a:close/>
                  </a:path>
                </a:pathLst>
              </a:custGeom>
              <a:solidFill>
                <a:srgbClr val="F59E0B">
                  <a:alpha val="20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9" name="Freeform 59"/>
              <p:cNvSpPr/>
              <p:nvPr/>
            </p:nvSpPr>
            <p:spPr>
              <a:xfrm>
                <a:off x="7541403" y="5246488"/>
                <a:ext cx="252438" cy="223345"/>
              </a:xfrm>
              <a:custGeom>
                <a:avLst/>
                <a:gdLst/>
                <a:ahLst/>
                <a:cxnLst/>
                <a:rect l="l" t="t" r="r" b="b"/>
                <a:pathLst>
                  <a:path w="252438" h="223345">
                    <a:moveTo>
                      <a:pt x="247666" y="183160"/>
                    </a:moveTo>
                    <a:lnTo>
                      <a:pt x="150053" y="13641"/>
                    </a:lnTo>
                    <a:lnTo>
                      <a:pt x="150053" y="13641"/>
                    </a:lnTo>
                    <a:cubicBezTo>
                      <a:pt x="145090" y="5190"/>
                      <a:pt x="136023" y="0"/>
                      <a:pt x="126222" y="0"/>
                    </a:cubicBezTo>
                    <a:cubicBezTo>
                      <a:pt x="116422" y="0"/>
                      <a:pt x="107354" y="5190"/>
                      <a:pt x="102391" y="13641"/>
                    </a:cubicBezTo>
                    <a:lnTo>
                      <a:pt x="4778" y="183160"/>
                    </a:lnTo>
                    <a:cubicBezTo>
                      <a:pt x="0" y="191338"/>
                      <a:pt x="0" y="201458"/>
                      <a:pt x="4778" y="209636"/>
                    </a:cubicBezTo>
                    <a:cubicBezTo>
                      <a:pt x="9681" y="218143"/>
                      <a:pt x="18791" y="223345"/>
                      <a:pt x="28610" y="223243"/>
                    </a:cubicBezTo>
                    <a:lnTo>
                      <a:pt x="223835" y="223243"/>
                    </a:lnTo>
                    <a:cubicBezTo>
                      <a:pt x="233645" y="223337"/>
                      <a:pt x="242745" y="218136"/>
                      <a:pt x="247644" y="209636"/>
                    </a:cubicBezTo>
                    <a:cubicBezTo>
                      <a:pt x="252429" y="201462"/>
                      <a:pt x="252438" y="191343"/>
                      <a:pt x="247666" y="183160"/>
                    </a:cubicBezTo>
                    <a:close/>
                    <a:moveTo>
                      <a:pt x="232184" y="200695"/>
                    </a:moveTo>
                    <a:cubicBezTo>
                      <a:pt x="230452" y="203651"/>
                      <a:pt x="227260" y="205443"/>
                      <a:pt x="223835" y="205384"/>
                    </a:cubicBezTo>
                    <a:lnTo>
                      <a:pt x="28610" y="205384"/>
                    </a:lnTo>
                    <a:cubicBezTo>
                      <a:pt x="25184" y="205443"/>
                      <a:pt x="21993" y="203651"/>
                      <a:pt x="20260" y="200695"/>
                    </a:cubicBezTo>
                    <a:cubicBezTo>
                      <a:pt x="18690" y="198038"/>
                      <a:pt x="18690" y="194736"/>
                      <a:pt x="20260" y="192078"/>
                    </a:cubicBezTo>
                    <a:lnTo>
                      <a:pt x="117873" y="22559"/>
                    </a:lnTo>
                    <a:cubicBezTo>
                      <a:pt x="119639" y="19621"/>
                      <a:pt x="122816" y="17823"/>
                      <a:pt x="126245" y="17823"/>
                    </a:cubicBezTo>
                    <a:cubicBezTo>
                      <a:pt x="129673" y="17823"/>
                      <a:pt x="132850" y="19621"/>
                      <a:pt x="134616" y="22559"/>
                    </a:cubicBezTo>
                    <a:lnTo>
                      <a:pt x="232229" y="192078"/>
                    </a:lnTo>
                    <a:cubicBezTo>
                      <a:pt x="233785" y="194744"/>
                      <a:pt x="233768" y="198046"/>
                      <a:pt x="232184" y="200695"/>
                    </a:cubicBezTo>
                    <a:close/>
                    <a:moveTo>
                      <a:pt x="117293" y="133946"/>
                    </a:moveTo>
                    <a:lnTo>
                      <a:pt x="117293" y="89298"/>
                    </a:lnTo>
                    <a:cubicBezTo>
                      <a:pt x="117293" y="84366"/>
                      <a:pt x="121290" y="80368"/>
                      <a:pt x="126222" y="80368"/>
                    </a:cubicBezTo>
                    <a:cubicBezTo>
                      <a:pt x="131154" y="80368"/>
                      <a:pt x="135152" y="84366"/>
                      <a:pt x="135152" y="89298"/>
                    </a:cubicBezTo>
                    <a:lnTo>
                      <a:pt x="135152" y="133946"/>
                    </a:lnTo>
                    <a:cubicBezTo>
                      <a:pt x="135152" y="138878"/>
                      <a:pt x="131154" y="142876"/>
                      <a:pt x="126222" y="142876"/>
                    </a:cubicBezTo>
                    <a:cubicBezTo>
                      <a:pt x="121290" y="142876"/>
                      <a:pt x="117293" y="138878"/>
                      <a:pt x="117293" y="133946"/>
                    </a:cubicBezTo>
                    <a:close/>
                    <a:moveTo>
                      <a:pt x="139617" y="174130"/>
                    </a:moveTo>
                    <a:cubicBezTo>
                      <a:pt x="139617" y="181527"/>
                      <a:pt x="133620" y="187524"/>
                      <a:pt x="126222" y="187524"/>
                    </a:cubicBezTo>
                    <a:cubicBezTo>
                      <a:pt x="118825" y="187524"/>
                      <a:pt x="112828" y="181527"/>
                      <a:pt x="112828" y="174130"/>
                    </a:cubicBezTo>
                    <a:cubicBezTo>
                      <a:pt x="112828" y="166732"/>
                      <a:pt x="118825" y="160735"/>
                      <a:pt x="126222" y="160735"/>
                    </a:cubicBezTo>
                    <a:cubicBezTo>
                      <a:pt x="133620" y="160735"/>
                      <a:pt x="139617" y="166732"/>
                      <a:pt x="139617" y="174130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</p:grpSp>
        <p:sp>
          <p:nvSpPr>
            <p:cNvPr id="61" name="TextBox 61"/>
            <p:cNvSpPr txBox="1"/>
            <p:nvPr/>
          </p:nvSpPr>
          <p:spPr>
            <a:xfrm>
              <a:off x="7943850" y="52673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主要风险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510462" y="5591872"/>
              <a:ext cx="2701060" cy="3462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转写错误和关键词规则会放大偶然表达；</a:t>
              </a:r>
              <a:endParaRPr lang="en-US" altLang="zh-CN" sz="1125" dirty="0">
                <a:solidFill>
                  <a:srgbClr val="D8E0EA"/>
                </a:solidFill>
                <a:latin typeface="Arial"/>
                <a:ea typeface="Microsoft YaHei"/>
                <a:cs typeface="Arial"/>
              </a:endParaRPr>
            </a:p>
            <a:p>
              <a:pPr algn="l"/>
              <a:r>
                <a:rPr lang="zh-CN" sz="1125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“说到某个词”不等价于稳定 PHQ 证据。</a:t>
              </a: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521970" y="6513195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4A6"/>
                </a:solidFill>
                <a:latin typeface="Consolas"/>
                <a:ea typeface="Microsoft YaHei"/>
                <a:cs typeface="Consolas"/>
              </a:rPr>
              <a:t>15 / 17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4A14642C-2A9B-5004-E26F-F2977408C0D2}"/>
              </a:ext>
            </a:extLst>
          </p:cNvPr>
          <p:cNvSpPr txBox="1"/>
          <p:nvPr/>
        </p:nvSpPr>
        <p:spPr>
          <a:xfrm>
            <a:off x="1796363" y="1547419"/>
            <a:ext cx="609917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</a:rPr>
              <a:t>event_1 原始语音音频          </a:t>
            </a:r>
            <a:endParaRPr lang="en-US" altLang="zh-CN" b="1" dirty="0">
              <a:solidFill>
                <a:srgbClr val="7030A0"/>
              </a:solidFill>
            </a:endParaRPr>
          </a:p>
          <a:p>
            <a:r>
              <a:rPr lang="en-US" altLang="zh-CN" b="1" dirty="0">
                <a:solidFill>
                  <a:srgbClr val="7030A0"/>
                </a:solidFill>
              </a:rPr>
              <a:t>             </a:t>
            </a:r>
            <a:r>
              <a:rPr lang="zh-CN" altLang="en-US" b="1" dirty="0">
                <a:solidFill>
                  <a:srgbClr val="7030A0"/>
                </a:solidFill>
              </a:rPr>
              <a:t>↓  </a:t>
            </a:r>
            <a:endParaRPr lang="en-US" altLang="zh-CN" b="1" dirty="0">
              <a:solidFill>
                <a:srgbClr val="7030A0"/>
              </a:solidFill>
            </a:endParaRPr>
          </a:p>
          <a:p>
            <a:r>
              <a:rPr lang="zh-CN" altLang="en-US" b="1" dirty="0">
                <a:solidFill>
                  <a:srgbClr val="7030A0"/>
                </a:solidFill>
              </a:rPr>
              <a:t>DashScope qwen3-asr-flash ASR 转写          </a:t>
            </a:r>
            <a:endParaRPr lang="en-US" altLang="zh-CN" b="1" dirty="0">
              <a:solidFill>
                <a:srgbClr val="7030A0"/>
              </a:solidFill>
            </a:endParaRPr>
          </a:p>
          <a:p>
            <a:r>
              <a:rPr lang="en-US" altLang="zh-CN" b="1" dirty="0">
                <a:solidFill>
                  <a:srgbClr val="7030A0"/>
                </a:solidFill>
              </a:rPr>
              <a:t>	    </a:t>
            </a:r>
            <a:r>
              <a:rPr lang="zh-CN" altLang="en-US" b="1" dirty="0">
                <a:solidFill>
                  <a:srgbClr val="7030A0"/>
                </a:solidFill>
              </a:rPr>
              <a:t>↓  </a:t>
            </a:r>
            <a:endParaRPr lang="en-US" altLang="zh-CN" b="1" dirty="0">
              <a:solidFill>
                <a:srgbClr val="7030A0"/>
              </a:solidFill>
            </a:endParaRPr>
          </a:p>
          <a:p>
            <a:r>
              <a:rPr lang="zh-CN" altLang="en-US" b="1" dirty="0">
                <a:solidFill>
                  <a:srgbClr val="7030A0"/>
                </a:solidFill>
              </a:rPr>
              <a:t>PHQ-9 九个条目关键词证据抽取          </a:t>
            </a:r>
            <a:endParaRPr lang="en-US" altLang="zh-CN" b="1" dirty="0">
              <a:solidFill>
                <a:srgbClr val="7030A0"/>
              </a:solidFill>
            </a:endParaRPr>
          </a:p>
          <a:p>
            <a:r>
              <a:rPr lang="en-US" altLang="zh-CN" b="1" dirty="0">
                <a:solidFill>
                  <a:srgbClr val="7030A0"/>
                </a:solidFill>
              </a:rPr>
              <a:t>             </a:t>
            </a:r>
            <a:r>
              <a:rPr lang="zh-CN" altLang="en-US" b="1" dirty="0">
                <a:solidFill>
                  <a:srgbClr val="7030A0"/>
                </a:solidFill>
              </a:rPr>
              <a:t>↓  </a:t>
            </a:r>
            <a:endParaRPr lang="en-US" altLang="zh-CN" b="1" dirty="0">
              <a:solidFill>
                <a:srgbClr val="7030A0"/>
              </a:solidFill>
            </a:endParaRPr>
          </a:p>
          <a:p>
            <a:r>
              <a:rPr lang="zh-CN" altLang="en-US" b="1" dirty="0">
                <a:solidFill>
                  <a:srgbClr val="7030A0"/>
                </a:solidFill>
              </a:rPr>
              <a:t>direct / weak / protective 证据计数          </a:t>
            </a:r>
            <a:endParaRPr lang="en-US" altLang="zh-CN" b="1" dirty="0">
              <a:solidFill>
                <a:srgbClr val="7030A0"/>
              </a:solidFill>
            </a:endParaRPr>
          </a:p>
          <a:p>
            <a:r>
              <a:rPr lang="en-US" altLang="zh-CN" b="1" dirty="0">
                <a:solidFill>
                  <a:srgbClr val="7030A0"/>
                </a:solidFill>
              </a:rPr>
              <a:t>             </a:t>
            </a:r>
            <a:r>
              <a:rPr lang="zh-CN" altLang="en-US" b="1" dirty="0">
                <a:solidFill>
                  <a:srgbClr val="7030A0"/>
                </a:solidFill>
              </a:rPr>
              <a:t>↓  </a:t>
            </a:r>
            <a:endParaRPr lang="en-US" altLang="zh-CN" b="1" dirty="0">
              <a:solidFill>
                <a:srgbClr val="7030A0"/>
              </a:solidFill>
            </a:endParaRPr>
          </a:p>
          <a:p>
            <a:r>
              <a:rPr lang="en-US" altLang="zh-CN" b="1" dirty="0">
                <a:solidFill>
                  <a:srgbClr val="7030A0"/>
                </a:solidFill>
              </a:rPr>
              <a:t>      </a:t>
            </a:r>
            <a:r>
              <a:rPr lang="zh-CN" altLang="en-US" b="1" dirty="0">
                <a:solidFill>
                  <a:srgbClr val="7030A0"/>
                </a:solidFill>
              </a:rPr>
              <a:t>PHQ item prior          </a:t>
            </a:r>
            <a:endParaRPr lang="en-US" altLang="zh-CN" b="1" dirty="0">
              <a:solidFill>
                <a:srgbClr val="7030A0"/>
              </a:solidFill>
            </a:endParaRPr>
          </a:p>
          <a:p>
            <a:r>
              <a:rPr lang="en-US" altLang="zh-CN" b="1" dirty="0">
                <a:solidFill>
                  <a:srgbClr val="7030A0"/>
                </a:solidFill>
              </a:rPr>
              <a:t>             </a:t>
            </a:r>
            <a:r>
              <a:rPr lang="zh-CN" altLang="en-US" b="1" dirty="0">
                <a:solidFill>
                  <a:srgbClr val="7030A0"/>
                </a:solidFill>
              </a:rPr>
              <a:t>↓  </a:t>
            </a:r>
            <a:endParaRPr lang="en-US" altLang="zh-CN" b="1" dirty="0">
              <a:solidFill>
                <a:srgbClr val="7030A0"/>
              </a:solidFill>
            </a:endParaRPr>
          </a:p>
          <a:p>
            <a:r>
              <a:rPr lang="en-US" altLang="zh-CN" b="1" dirty="0">
                <a:solidFill>
                  <a:srgbClr val="7030A0"/>
                </a:solidFill>
              </a:rPr>
              <a:t>      </a:t>
            </a:r>
            <a:r>
              <a:rPr lang="zh-CN" altLang="en-US" b="1" dirty="0">
                <a:solidFill>
                  <a:srgbClr val="7030A0"/>
                </a:solidFill>
              </a:rPr>
              <a:t>PHQ 总分预测         </a:t>
            </a:r>
            <a:endParaRPr lang="en-US" altLang="zh-CN" b="1" dirty="0">
              <a:solidFill>
                <a:srgbClr val="7030A0"/>
              </a:solidFill>
            </a:endParaRPr>
          </a:p>
          <a:p>
            <a:r>
              <a:rPr lang="en-US" altLang="zh-CN" b="1" dirty="0">
                <a:solidFill>
                  <a:srgbClr val="7030A0"/>
                </a:solidFill>
              </a:rPr>
              <a:t>             </a:t>
            </a:r>
            <a:r>
              <a:rPr lang="zh-CN" altLang="en-US" b="1" dirty="0">
                <a:solidFill>
                  <a:srgbClr val="7030A0"/>
                </a:solidFill>
              </a:rPr>
              <a:t> ↓    </a:t>
            </a:r>
            <a:endParaRPr lang="en-US" altLang="zh-CN" b="1" dirty="0">
              <a:solidFill>
                <a:srgbClr val="7030A0"/>
              </a:solidFill>
            </a:endParaRPr>
          </a:p>
          <a:p>
            <a:r>
              <a:rPr lang="zh-CN" altLang="en-US" b="1" dirty="0">
                <a:solidFill>
                  <a:srgbClr val="7030A0"/>
                </a:solidFill>
              </a:rPr>
              <a:t>binary / ternary 分类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3F6F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3D8">
                <a:alpha val="14000"/>
              </a:srgbClr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65772" y="493395"/>
            <a:ext cx="6244328" cy="840105"/>
            <a:chOff x="465772" y="493395"/>
            <a:chExt cx="6244328" cy="840105"/>
          </a:xfrm>
        </p:grpSpPr>
        <p:sp>
          <p:nvSpPr>
            <p:cNvPr id="5" name="TextBox 5"/>
            <p:cNvSpPr txBox="1"/>
            <p:nvPr/>
          </p:nvSpPr>
          <p:spPr>
            <a:xfrm>
              <a:off x="483870" y="493395"/>
              <a:ext cx="30346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D64550"/>
                  </a:solidFill>
                  <a:latin typeface="Consolas"/>
                  <a:ea typeface="Microsoft YaHei"/>
                  <a:cs typeface="Consolas"/>
                </a:rPr>
                <a:t>SPEECH NEGATIVE RESULT / WHY NOT IN FINAL MODEL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465772" y="701516"/>
              <a:ext cx="6244328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5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语音负面结论：做了很多，但没有稳定泛化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80060" y="1089660"/>
              <a:ext cx="57912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最终没有把语音堆进主模型，是一次基于实验证据的取舍，而不是遗漏一个模态。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33400" y="1638300"/>
            <a:ext cx="11254740" cy="3124200"/>
            <a:chOff x="533400" y="1638300"/>
            <a:chExt cx="11254740" cy="3124200"/>
          </a:xfrm>
        </p:grpSpPr>
        <p:grpSp>
          <p:nvGrpSpPr>
            <p:cNvPr id="17" name="Group 17"/>
            <p:cNvGrpSpPr/>
            <p:nvPr/>
          </p:nvGrpSpPr>
          <p:grpSpPr>
            <a:xfrm>
              <a:off x="533400" y="1638300"/>
              <a:ext cx="5410200" cy="1428750"/>
              <a:chOff x="533400" y="1638300"/>
              <a:chExt cx="5410200" cy="14287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33400" y="1638300"/>
                <a:ext cx="5410200" cy="1428750"/>
              </a:xfrm>
              <a:prstGeom prst="roundRect">
                <a:avLst>
                  <a:gd name="adj" fmla="val 6667"/>
                </a:avLst>
              </a:prstGeom>
              <a:solidFill>
                <a:srgbClr val="FFFFFF"/>
              </a:solidFill>
              <a:ln w="9525">
                <a:solidFill>
                  <a:srgbClr val="D8E0EA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533400" y="1638300"/>
                <a:ext cx="76200" cy="1428750"/>
              </a:xfrm>
              <a:prstGeom prst="roundRect">
                <a:avLst>
                  <a:gd name="adj" fmla="val 50000"/>
                </a:avLst>
              </a:prstGeom>
              <a:solidFill>
                <a:srgbClr val="D64550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13" name="Group 13"/>
              <p:cNvGrpSpPr/>
              <p:nvPr/>
            </p:nvGrpSpPr>
            <p:grpSpPr>
              <a:xfrm>
                <a:off x="878681" y="1992511"/>
                <a:ext cx="242888" cy="263128"/>
                <a:chOff x="878681" y="1992511"/>
                <a:chExt cx="242888" cy="263128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888802" y="2002631"/>
                  <a:ext cx="222647" cy="12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647" h="121444">
                      <a:moveTo>
                        <a:pt x="222647" y="60722"/>
                      </a:moveTo>
                      <a:cubicBezTo>
                        <a:pt x="222647" y="94258"/>
                        <a:pt x="172804" y="121444"/>
                        <a:pt x="111323" y="121444"/>
                      </a:cubicBezTo>
                      <a:cubicBezTo>
                        <a:pt x="49843" y="121444"/>
                        <a:pt x="0" y="94258"/>
                        <a:pt x="0" y="60722"/>
                      </a:cubicBezTo>
                      <a:cubicBezTo>
                        <a:pt x="0" y="27186"/>
                        <a:pt x="49843" y="0"/>
                        <a:pt x="111323" y="0"/>
                      </a:cubicBezTo>
                      <a:cubicBezTo>
                        <a:pt x="172804" y="0"/>
                        <a:pt x="222647" y="27186"/>
                        <a:pt x="222647" y="60722"/>
                      </a:cubicBezTo>
                      <a:close/>
                    </a:path>
                  </a:pathLst>
                </a:custGeom>
                <a:solidFill>
                  <a:srgbClr val="D64550">
                    <a:alpha val="20000"/>
                  </a:srgbClr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12" name="Freeform 12"/>
                <p:cNvSpPr/>
                <p:nvPr/>
              </p:nvSpPr>
              <p:spPr>
                <a:xfrm>
                  <a:off x="878681" y="1992511"/>
                  <a:ext cx="242888" cy="2631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88" h="263128">
                      <a:moveTo>
                        <a:pt x="121444" y="0"/>
                      </a:moveTo>
                      <a:cubicBezTo>
                        <a:pt x="53347" y="0"/>
                        <a:pt x="0" y="31120"/>
                        <a:pt x="0" y="70842"/>
                      </a:cubicBezTo>
                      <a:lnTo>
                        <a:pt x="0" y="192286"/>
                      </a:lnTo>
                      <a:cubicBezTo>
                        <a:pt x="0" y="232008"/>
                        <a:pt x="53347" y="263128"/>
                        <a:pt x="121444" y="263128"/>
                      </a:cubicBezTo>
                      <a:cubicBezTo>
                        <a:pt x="189541" y="263128"/>
                        <a:pt x="242888" y="232008"/>
                        <a:pt x="242888" y="192286"/>
                      </a:cubicBezTo>
                      <a:lnTo>
                        <a:pt x="242888" y="70842"/>
                      </a:lnTo>
                      <a:cubicBezTo>
                        <a:pt x="242888" y="31120"/>
                        <a:pt x="189541" y="0"/>
                        <a:pt x="121444" y="0"/>
                      </a:cubicBezTo>
                      <a:close/>
                      <a:moveTo>
                        <a:pt x="222647" y="131564"/>
                      </a:moveTo>
                      <a:cubicBezTo>
                        <a:pt x="222647" y="143734"/>
                        <a:pt x="212678" y="156144"/>
                        <a:pt x="195309" y="165619"/>
                      </a:cubicBezTo>
                      <a:cubicBezTo>
                        <a:pt x="175752" y="176283"/>
                        <a:pt x="149515" y="182166"/>
                        <a:pt x="121444" y="182166"/>
                      </a:cubicBezTo>
                      <a:cubicBezTo>
                        <a:pt x="93373" y="182166"/>
                        <a:pt x="67136" y="176283"/>
                        <a:pt x="47578" y="165619"/>
                      </a:cubicBezTo>
                      <a:cubicBezTo>
                        <a:pt x="30209" y="156144"/>
                        <a:pt x="20241" y="143734"/>
                        <a:pt x="20241" y="131564"/>
                      </a:cubicBezTo>
                      <a:lnTo>
                        <a:pt x="20241" y="110514"/>
                      </a:lnTo>
                      <a:cubicBezTo>
                        <a:pt x="41822" y="129489"/>
                        <a:pt x="78723" y="141684"/>
                        <a:pt x="121444" y="141684"/>
                      </a:cubicBezTo>
                      <a:cubicBezTo>
                        <a:pt x="164164" y="141684"/>
                        <a:pt x="201065" y="129439"/>
                        <a:pt x="222647" y="110514"/>
                      </a:cubicBezTo>
                      <a:close/>
                      <a:moveTo>
                        <a:pt x="47578" y="36787"/>
                      </a:moveTo>
                      <a:cubicBezTo>
                        <a:pt x="67136" y="26123"/>
                        <a:pt x="93373" y="20241"/>
                        <a:pt x="121444" y="20241"/>
                      </a:cubicBezTo>
                      <a:cubicBezTo>
                        <a:pt x="149515" y="20241"/>
                        <a:pt x="175752" y="26123"/>
                        <a:pt x="195309" y="36787"/>
                      </a:cubicBezTo>
                      <a:cubicBezTo>
                        <a:pt x="212678" y="46262"/>
                        <a:pt x="222647" y="58673"/>
                        <a:pt x="222647" y="70842"/>
                      </a:cubicBezTo>
                      <a:cubicBezTo>
                        <a:pt x="222647" y="83012"/>
                        <a:pt x="212678" y="95422"/>
                        <a:pt x="195309" y="104897"/>
                      </a:cubicBezTo>
                      <a:cubicBezTo>
                        <a:pt x="175752" y="115561"/>
                        <a:pt x="149515" y="121444"/>
                        <a:pt x="121444" y="121444"/>
                      </a:cubicBezTo>
                      <a:cubicBezTo>
                        <a:pt x="93373" y="121444"/>
                        <a:pt x="67136" y="115561"/>
                        <a:pt x="47578" y="104897"/>
                      </a:cubicBezTo>
                      <a:cubicBezTo>
                        <a:pt x="30209" y="95422"/>
                        <a:pt x="20241" y="83012"/>
                        <a:pt x="20241" y="70842"/>
                      </a:cubicBezTo>
                      <a:cubicBezTo>
                        <a:pt x="20241" y="58673"/>
                        <a:pt x="30209" y="46262"/>
                        <a:pt x="47578" y="36787"/>
                      </a:cubicBezTo>
                      <a:close/>
                      <a:moveTo>
                        <a:pt x="195309" y="226341"/>
                      </a:moveTo>
                      <a:cubicBezTo>
                        <a:pt x="175752" y="237005"/>
                        <a:pt x="149515" y="242888"/>
                        <a:pt x="121444" y="242888"/>
                      </a:cubicBezTo>
                      <a:cubicBezTo>
                        <a:pt x="93373" y="242888"/>
                        <a:pt x="67136" y="237005"/>
                        <a:pt x="47578" y="226341"/>
                      </a:cubicBezTo>
                      <a:cubicBezTo>
                        <a:pt x="30209" y="216866"/>
                        <a:pt x="20241" y="204456"/>
                        <a:pt x="20241" y="192286"/>
                      </a:cubicBezTo>
                      <a:lnTo>
                        <a:pt x="20241" y="171236"/>
                      </a:lnTo>
                      <a:cubicBezTo>
                        <a:pt x="41822" y="190211"/>
                        <a:pt x="78723" y="202406"/>
                        <a:pt x="121444" y="202406"/>
                      </a:cubicBezTo>
                      <a:cubicBezTo>
                        <a:pt x="164164" y="202406"/>
                        <a:pt x="201065" y="190161"/>
                        <a:pt x="222647" y="171236"/>
                      </a:cubicBezTo>
                      <a:lnTo>
                        <a:pt x="222647" y="192286"/>
                      </a:lnTo>
                      <a:cubicBezTo>
                        <a:pt x="222647" y="204456"/>
                        <a:pt x="212678" y="216866"/>
                        <a:pt x="195309" y="226341"/>
                      </a:cubicBezTo>
                      <a:close/>
                    </a:path>
                  </a:pathLst>
                </a:custGeom>
                <a:solidFill>
                  <a:srgbClr val="D64550"/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1295400" y="1990725"/>
                <a:ext cx="171831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样本量与维度矛盾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24865" y="2333625"/>
                <a:ext cx="3414396" cy="3462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训练集只有 88 人，而语音序列特征维度高、帧数长，</a:t>
                </a:r>
                <a:endParaRPr lang="en-US" altLang="zh-CN" sz="1125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endParaRPr>
              </a:p>
              <a:p>
                <a:pPr algn="l"/>
                <a:r>
                  <a:rPr lang="zh-CN" sz="1125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深度模型很容易学到样本偶然性。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24865" y="2725102"/>
                <a:ext cx="299644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D64550"/>
                    </a:solidFill>
                    <a:latin typeface="Consolas"/>
                    <a:ea typeface="Microsoft YaHei"/>
                    <a:cs typeface="Consolas"/>
                  </a:rPr>
                  <a:t>88 samples vs 1024-d / sequence features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248400" y="1638300"/>
              <a:ext cx="5410200" cy="1428750"/>
              <a:chOff x="6248400" y="1638300"/>
              <a:chExt cx="5410200" cy="14287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6248400" y="1638300"/>
                <a:ext cx="5410200" cy="1428750"/>
              </a:xfrm>
              <a:prstGeom prst="roundRect">
                <a:avLst>
                  <a:gd name="adj" fmla="val 6667"/>
                </a:avLst>
              </a:prstGeom>
              <a:solidFill>
                <a:srgbClr val="FFFFFF"/>
              </a:solidFill>
              <a:ln w="9525">
                <a:solidFill>
                  <a:srgbClr val="D8E0EA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6248400" y="1638300"/>
                <a:ext cx="76200" cy="1428750"/>
              </a:xfrm>
              <a:prstGeom prst="roundRect">
                <a:avLst>
                  <a:gd name="adj" fmla="val 50000"/>
                </a:avLst>
              </a:prstGeom>
              <a:solidFill>
                <a:srgbClr val="D64550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22" name="Group 22"/>
              <p:cNvGrpSpPr/>
              <p:nvPr/>
            </p:nvGrpSpPr>
            <p:grpSpPr>
              <a:xfrm>
                <a:off x="6613922" y="1982391"/>
                <a:ext cx="202406" cy="283369"/>
                <a:chOff x="6613922" y="1982391"/>
                <a:chExt cx="202406" cy="283369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6664523" y="1992511"/>
                  <a:ext cx="101203" cy="1821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1203" h="182166">
                      <a:moveTo>
                        <a:pt x="101203" y="50602"/>
                      </a:moveTo>
                      <a:lnTo>
                        <a:pt x="101203" y="131564"/>
                      </a:lnTo>
                      <a:cubicBezTo>
                        <a:pt x="101203" y="159511"/>
                        <a:pt x="78548" y="182166"/>
                        <a:pt x="50602" y="182166"/>
                      </a:cubicBezTo>
                      <a:lnTo>
                        <a:pt x="50602" y="182166"/>
                      </a:lnTo>
                      <a:cubicBezTo>
                        <a:pt x="22655" y="182166"/>
                        <a:pt x="0" y="159511"/>
                        <a:pt x="0" y="131564"/>
                      </a:cubicBezTo>
                      <a:lnTo>
                        <a:pt x="0" y="50602"/>
                      </a:lnTo>
                      <a:cubicBezTo>
                        <a:pt x="0" y="22655"/>
                        <a:pt x="22655" y="0"/>
                        <a:pt x="50602" y="0"/>
                      </a:cubicBezTo>
                      <a:lnTo>
                        <a:pt x="50602" y="0"/>
                      </a:lnTo>
                      <a:cubicBezTo>
                        <a:pt x="78548" y="0"/>
                        <a:pt x="101203" y="22655"/>
                        <a:pt x="101203" y="50602"/>
                      </a:cubicBezTo>
                      <a:close/>
                    </a:path>
                  </a:pathLst>
                </a:custGeom>
                <a:solidFill>
                  <a:srgbClr val="D64550">
                    <a:alpha val="20000"/>
                  </a:srgbClr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21" name="Freeform 21"/>
                <p:cNvSpPr/>
                <p:nvPr/>
              </p:nvSpPr>
              <p:spPr>
                <a:xfrm>
                  <a:off x="6613922" y="1982391"/>
                  <a:ext cx="202406" cy="2833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406" h="283369">
                      <a:moveTo>
                        <a:pt x="101203" y="202406"/>
                      </a:moveTo>
                      <a:cubicBezTo>
                        <a:pt x="134724" y="202371"/>
                        <a:pt x="161890" y="175206"/>
                        <a:pt x="161925" y="141684"/>
                      </a:cubicBezTo>
                      <a:lnTo>
                        <a:pt x="161925" y="60722"/>
                      </a:lnTo>
                      <a:cubicBezTo>
                        <a:pt x="161925" y="27186"/>
                        <a:pt x="134739" y="0"/>
                        <a:pt x="101203" y="0"/>
                      </a:cubicBezTo>
                      <a:cubicBezTo>
                        <a:pt x="67667" y="0"/>
                        <a:pt x="40481" y="27186"/>
                        <a:pt x="40481" y="60722"/>
                      </a:cubicBezTo>
                      <a:lnTo>
                        <a:pt x="40481" y="141684"/>
                      </a:lnTo>
                      <a:cubicBezTo>
                        <a:pt x="40516" y="175206"/>
                        <a:pt x="67682" y="202371"/>
                        <a:pt x="101203" y="202406"/>
                      </a:cubicBezTo>
                      <a:close/>
                      <a:moveTo>
                        <a:pt x="60722" y="60722"/>
                      </a:moveTo>
                      <a:cubicBezTo>
                        <a:pt x="60722" y="38365"/>
                        <a:pt x="78846" y="20241"/>
                        <a:pt x="101203" y="20241"/>
                      </a:cubicBezTo>
                      <a:cubicBezTo>
                        <a:pt x="123560" y="20241"/>
                        <a:pt x="141684" y="38365"/>
                        <a:pt x="141684" y="60722"/>
                      </a:cubicBezTo>
                      <a:lnTo>
                        <a:pt x="141684" y="141684"/>
                      </a:lnTo>
                      <a:cubicBezTo>
                        <a:pt x="141684" y="164042"/>
                        <a:pt x="123560" y="182166"/>
                        <a:pt x="101203" y="182166"/>
                      </a:cubicBezTo>
                      <a:cubicBezTo>
                        <a:pt x="78846" y="182166"/>
                        <a:pt x="60722" y="164042"/>
                        <a:pt x="60722" y="141684"/>
                      </a:cubicBezTo>
                      <a:close/>
                      <a:moveTo>
                        <a:pt x="111323" y="242381"/>
                      </a:moveTo>
                      <a:lnTo>
                        <a:pt x="111323" y="273248"/>
                      </a:lnTo>
                      <a:cubicBezTo>
                        <a:pt x="111323" y="278838"/>
                        <a:pt x="106792" y="283369"/>
                        <a:pt x="101203" y="283369"/>
                      </a:cubicBezTo>
                      <a:cubicBezTo>
                        <a:pt x="95614" y="283369"/>
                        <a:pt x="91083" y="278838"/>
                        <a:pt x="91083" y="273248"/>
                      </a:cubicBezTo>
                      <a:lnTo>
                        <a:pt x="91083" y="242381"/>
                      </a:lnTo>
                      <a:cubicBezTo>
                        <a:pt x="39400" y="237122"/>
                        <a:pt x="64" y="193634"/>
                        <a:pt x="0" y="141684"/>
                      </a:cubicBezTo>
                      <a:cubicBezTo>
                        <a:pt x="0" y="136095"/>
                        <a:pt x="4531" y="131564"/>
                        <a:pt x="10120" y="131564"/>
                      </a:cubicBezTo>
                      <a:cubicBezTo>
                        <a:pt x="15710" y="131564"/>
                        <a:pt x="20241" y="136095"/>
                        <a:pt x="20241" y="141684"/>
                      </a:cubicBezTo>
                      <a:cubicBezTo>
                        <a:pt x="20241" y="186399"/>
                        <a:pt x="56489" y="222647"/>
                        <a:pt x="101203" y="222647"/>
                      </a:cubicBezTo>
                      <a:cubicBezTo>
                        <a:pt x="145917" y="222647"/>
                        <a:pt x="182166" y="186399"/>
                        <a:pt x="182166" y="141684"/>
                      </a:cubicBezTo>
                      <a:cubicBezTo>
                        <a:pt x="182166" y="136095"/>
                        <a:pt x="186697" y="131564"/>
                        <a:pt x="192286" y="131564"/>
                      </a:cubicBezTo>
                      <a:cubicBezTo>
                        <a:pt x="197875" y="131564"/>
                        <a:pt x="202406" y="136095"/>
                        <a:pt x="202406" y="141684"/>
                      </a:cubicBezTo>
                      <a:cubicBezTo>
                        <a:pt x="202342" y="193634"/>
                        <a:pt x="163006" y="237122"/>
                        <a:pt x="111323" y="242381"/>
                      </a:cubicBezTo>
                      <a:close/>
                    </a:path>
                  </a:pathLst>
                </a:custGeom>
                <a:solidFill>
                  <a:srgbClr val="D64550"/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7010400" y="1990725"/>
                <a:ext cx="150828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声学混杂因素强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538912" y="2450306"/>
                <a:ext cx="495669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F0、能量、HNR、jitter 等同时受口音、说话习惯、设备和录音条件影响。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539865" y="2725102"/>
                <a:ext cx="189380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D64550"/>
                    </a:solidFill>
                    <a:latin typeface="Consolas"/>
                    <a:ea typeface="Microsoft YaHei"/>
                    <a:cs typeface="Consolas"/>
                  </a:rPr>
                  <a:t>non-depression confounds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533400" y="3333750"/>
              <a:ext cx="5410200" cy="1428750"/>
              <a:chOff x="533400" y="3333750"/>
              <a:chExt cx="5410200" cy="14287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533400" y="3333750"/>
                <a:ext cx="5410200" cy="1428750"/>
              </a:xfrm>
              <a:prstGeom prst="roundRect">
                <a:avLst>
                  <a:gd name="adj" fmla="val 6667"/>
                </a:avLst>
              </a:prstGeom>
              <a:solidFill>
                <a:srgbClr val="FFFFFF"/>
              </a:solidFill>
              <a:ln w="9525">
                <a:solidFill>
                  <a:srgbClr val="D8E0EA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533400" y="3333750"/>
                <a:ext cx="76200" cy="1428750"/>
              </a:xfrm>
              <a:prstGeom prst="roundRect">
                <a:avLst>
                  <a:gd name="adj" fmla="val 50000"/>
                </a:avLst>
              </a:prstGeom>
              <a:solidFill>
                <a:srgbClr val="D64550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31" name="Group 31"/>
              <p:cNvGrpSpPr/>
              <p:nvPr/>
            </p:nvGrpSpPr>
            <p:grpSpPr>
              <a:xfrm>
                <a:off x="868561" y="3718322"/>
                <a:ext cx="263128" cy="202406"/>
                <a:chOff x="868561" y="3718322"/>
                <a:chExt cx="263128" cy="202406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878681" y="3789164"/>
                  <a:ext cx="70842" cy="1214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42" h="121444">
                      <a:moveTo>
                        <a:pt x="70842" y="0"/>
                      </a:moveTo>
                      <a:lnTo>
                        <a:pt x="70842" y="121444"/>
                      </a:lnTo>
                      <a:lnTo>
                        <a:pt x="0" y="12144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D64550">
                    <a:alpha val="20000"/>
                  </a:srgbClr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30" name="Freeform 30"/>
                <p:cNvSpPr/>
                <p:nvPr/>
              </p:nvSpPr>
              <p:spPr>
                <a:xfrm>
                  <a:off x="868561" y="3718322"/>
                  <a:ext cx="263128" cy="2024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128" h="202406">
                      <a:moveTo>
                        <a:pt x="253008" y="0"/>
                      </a:moveTo>
                      <a:lnTo>
                        <a:pt x="10120" y="0"/>
                      </a:lnTo>
                      <a:cubicBezTo>
                        <a:pt x="4531" y="0"/>
                        <a:pt x="0" y="4531"/>
                        <a:pt x="0" y="10120"/>
                      </a:cubicBezTo>
                      <a:lnTo>
                        <a:pt x="0" y="182166"/>
                      </a:lnTo>
                      <a:cubicBezTo>
                        <a:pt x="0" y="193344"/>
                        <a:pt x="9062" y="202406"/>
                        <a:pt x="20241" y="202406"/>
                      </a:cubicBezTo>
                      <a:lnTo>
                        <a:pt x="242888" y="202406"/>
                      </a:lnTo>
                      <a:cubicBezTo>
                        <a:pt x="254066" y="202406"/>
                        <a:pt x="263128" y="193344"/>
                        <a:pt x="263128" y="182166"/>
                      </a:cubicBezTo>
                      <a:lnTo>
                        <a:pt x="263128" y="10120"/>
                      </a:lnTo>
                      <a:cubicBezTo>
                        <a:pt x="263128" y="4531"/>
                        <a:pt x="258597" y="0"/>
                        <a:pt x="253008" y="0"/>
                      </a:cubicBezTo>
                      <a:close/>
                      <a:moveTo>
                        <a:pt x="20241" y="80962"/>
                      </a:moveTo>
                      <a:lnTo>
                        <a:pt x="70842" y="80962"/>
                      </a:lnTo>
                      <a:lnTo>
                        <a:pt x="70842" y="121444"/>
                      </a:lnTo>
                      <a:lnTo>
                        <a:pt x="20241" y="121444"/>
                      </a:lnTo>
                      <a:close/>
                      <a:moveTo>
                        <a:pt x="91083" y="80962"/>
                      </a:moveTo>
                      <a:lnTo>
                        <a:pt x="242888" y="80962"/>
                      </a:lnTo>
                      <a:lnTo>
                        <a:pt x="242888" y="121444"/>
                      </a:lnTo>
                      <a:lnTo>
                        <a:pt x="91083" y="121444"/>
                      </a:lnTo>
                      <a:close/>
                      <a:moveTo>
                        <a:pt x="242888" y="20241"/>
                      </a:moveTo>
                      <a:lnTo>
                        <a:pt x="242888" y="60722"/>
                      </a:lnTo>
                      <a:lnTo>
                        <a:pt x="20241" y="60722"/>
                      </a:lnTo>
                      <a:lnTo>
                        <a:pt x="20241" y="20241"/>
                      </a:lnTo>
                      <a:close/>
                      <a:moveTo>
                        <a:pt x="20241" y="141684"/>
                      </a:moveTo>
                      <a:lnTo>
                        <a:pt x="70842" y="141684"/>
                      </a:lnTo>
                      <a:lnTo>
                        <a:pt x="70842" y="182166"/>
                      </a:lnTo>
                      <a:lnTo>
                        <a:pt x="20241" y="182166"/>
                      </a:lnTo>
                      <a:close/>
                      <a:moveTo>
                        <a:pt x="242888" y="182166"/>
                      </a:moveTo>
                      <a:lnTo>
                        <a:pt x="91083" y="182166"/>
                      </a:lnTo>
                      <a:lnTo>
                        <a:pt x="91083" y="141684"/>
                      </a:lnTo>
                      <a:lnTo>
                        <a:pt x="242888" y="141684"/>
                      </a:lnTo>
                      <a:lnTo>
                        <a:pt x="242888" y="182166"/>
                      </a:lnTo>
                      <a:close/>
                    </a:path>
                  </a:pathLst>
                </a:custGeom>
                <a:solidFill>
                  <a:srgbClr val="D64550"/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1295400" y="3686175"/>
                <a:ext cx="170780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ASR 语义证据有偏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23912" y="4145756"/>
                <a:ext cx="489668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转写错误会改变症状词；关键词规则又可能把偶然表达放大成 PHQ 证据。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24865" y="4420552"/>
                <a:ext cx="284942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D64550"/>
                    </a:solidFill>
                    <a:latin typeface="Consolas"/>
                    <a:ea typeface="Microsoft YaHei"/>
                    <a:cs typeface="Consolas"/>
                  </a:rPr>
                  <a:t>transcription noise + rule amplification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6248400" y="3333750"/>
              <a:ext cx="5539740" cy="1428750"/>
              <a:chOff x="6248400" y="3333750"/>
              <a:chExt cx="5539740" cy="14287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248400" y="3333750"/>
                <a:ext cx="5410200" cy="1428750"/>
              </a:xfrm>
              <a:prstGeom prst="roundRect">
                <a:avLst>
                  <a:gd name="adj" fmla="val 6667"/>
                </a:avLst>
              </a:prstGeom>
              <a:solidFill>
                <a:srgbClr val="FFFFFF"/>
              </a:solidFill>
              <a:ln w="9525">
                <a:solidFill>
                  <a:srgbClr val="D8E0EA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6248400" y="3333750"/>
                <a:ext cx="76200" cy="1428750"/>
              </a:xfrm>
              <a:prstGeom prst="roundRect">
                <a:avLst>
                  <a:gd name="adj" fmla="val 50000"/>
                </a:avLst>
              </a:prstGeom>
              <a:solidFill>
                <a:srgbClr val="D64550"/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40" name="Group 40"/>
              <p:cNvGrpSpPr/>
              <p:nvPr/>
            </p:nvGrpSpPr>
            <p:grpSpPr>
              <a:xfrm>
                <a:off x="6563311" y="3682875"/>
                <a:ext cx="303619" cy="263180"/>
                <a:chOff x="6563311" y="3682875"/>
                <a:chExt cx="303619" cy="263180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6573386" y="3698081"/>
                  <a:ext cx="283431" cy="2327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431" h="232767">
                      <a:moveTo>
                        <a:pt x="283423" y="116384"/>
                      </a:moveTo>
                      <a:cubicBezTo>
                        <a:pt x="283431" y="142124"/>
                        <a:pt x="267210" y="165072"/>
                        <a:pt x="242942" y="173652"/>
                      </a:cubicBezTo>
                      <a:lnTo>
                        <a:pt x="242942" y="173652"/>
                      </a:lnTo>
                      <a:lnTo>
                        <a:pt x="242942" y="182166"/>
                      </a:lnTo>
                      <a:cubicBezTo>
                        <a:pt x="242942" y="210112"/>
                        <a:pt x="220287" y="232767"/>
                        <a:pt x="192340" y="232767"/>
                      </a:cubicBezTo>
                      <a:cubicBezTo>
                        <a:pt x="164394" y="232767"/>
                        <a:pt x="141739" y="210112"/>
                        <a:pt x="141739" y="182166"/>
                      </a:cubicBezTo>
                      <a:cubicBezTo>
                        <a:pt x="141739" y="210112"/>
                        <a:pt x="119084" y="232767"/>
                        <a:pt x="91137" y="232767"/>
                      </a:cubicBezTo>
                      <a:cubicBezTo>
                        <a:pt x="63191" y="232767"/>
                        <a:pt x="40536" y="210112"/>
                        <a:pt x="40536" y="182166"/>
                      </a:cubicBezTo>
                      <a:lnTo>
                        <a:pt x="40536" y="173652"/>
                      </a:lnTo>
                      <a:lnTo>
                        <a:pt x="40536" y="173652"/>
                      </a:lnTo>
                      <a:cubicBezTo>
                        <a:pt x="16246" y="165090"/>
                        <a:pt x="0" y="142138"/>
                        <a:pt x="0" y="116384"/>
                      </a:cubicBezTo>
                      <a:cubicBezTo>
                        <a:pt x="0" y="90630"/>
                        <a:pt x="16246" y="67677"/>
                        <a:pt x="40536" y="59115"/>
                      </a:cubicBezTo>
                      <a:lnTo>
                        <a:pt x="40536" y="50602"/>
                      </a:lnTo>
                      <a:cubicBezTo>
                        <a:pt x="40536" y="22655"/>
                        <a:pt x="63191" y="0"/>
                        <a:pt x="91137" y="0"/>
                      </a:cubicBezTo>
                      <a:cubicBezTo>
                        <a:pt x="119084" y="0"/>
                        <a:pt x="141739" y="22655"/>
                        <a:pt x="141739" y="50602"/>
                      </a:cubicBezTo>
                      <a:cubicBezTo>
                        <a:pt x="141739" y="22655"/>
                        <a:pt x="164394" y="0"/>
                        <a:pt x="192340" y="0"/>
                      </a:cubicBezTo>
                      <a:cubicBezTo>
                        <a:pt x="220287" y="0"/>
                        <a:pt x="242942" y="22655"/>
                        <a:pt x="242942" y="50602"/>
                      </a:cubicBezTo>
                      <a:lnTo>
                        <a:pt x="242942" y="59115"/>
                      </a:lnTo>
                      <a:cubicBezTo>
                        <a:pt x="267210" y="67695"/>
                        <a:pt x="283431" y="90644"/>
                        <a:pt x="283423" y="116384"/>
                      </a:cubicBezTo>
                      <a:close/>
                    </a:path>
                  </a:pathLst>
                </a:custGeom>
                <a:solidFill>
                  <a:srgbClr val="D64550">
                    <a:alpha val="20000"/>
                  </a:srgbClr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39" name="Freeform 39"/>
                <p:cNvSpPr/>
                <p:nvPr/>
              </p:nvSpPr>
              <p:spPr>
                <a:xfrm>
                  <a:off x="6563311" y="3682875"/>
                  <a:ext cx="303619" cy="2631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619" h="263180">
                      <a:moveTo>
                        <a:pt x="303619" y="131590"/>
                      </a:moveTo>
                      <a:cubicBezTo>
                        <a:pt x="303592" y="104230"/>
                        <a:pt x="287842" y="79322"/>
                        <a:pt x="263138" y="67566"/>
                      </a:cubicBezTo>
                      <a:lnTo>
                        <a:pt x="263138" y="65808"/>
                      </a:lnTo>
                      <a:cubicBezTo>
                        <a:pt x="263114" y="39034"/>
                        <a:pt x="245556" y="15435"/>
                        <a:pt x="219919" y="7718"/>
                      </a:cubicBezTo>
                      <a:cubicBezTo>
                        <a:pt x="194281" y="0"/>
                        <a:pt x="166614" y="9985"/>
                        <a:pt x="151814" y="32297"/>
                      </a:cubicBezTo>
                      <a:cubicBezTo>
                        <a:pt x="137014" y="9985"/>
                        <a:pt x="109347" y="0"/>
                        <a:pt x="83710" y="7718"/>
                      </a:cubicBezTo>
                      <a:cubicBezTo>
                        <a:pt x="58072" y="15435"/>
                        <a:pt x="40515" y="39034"/>
                        <a:pt x="40491" y="65808"/>
                      </a:cubicBezTo>
                      <a:lnTo>
                        <a:pt x="40491" y="67566"/>
                      </a:lnTo>
                      <a:cubicBezTo>
                        <a:pt x="15763" y="79291"/>
                        <a:pt x="0" y="104210"/>
                        <a:pt x="0" y="131577"/>
                      </a:cubicBezTo>
                      <a:cubicBezTo>
                        <a:pt x="0" y="158944"/>
                        <a:pt x="15763" y="183863"/>
                        <a:pt x="40491" y="195588"/>
                      </a:cubicBezTo>
                      <a:lnTo>
                        <a:pt x="40491" y="197372"/>
                      </a:lnTo>
                      <a:cubicBezTo>
                        <a:pt x="40515" y="224146"/>
                        <a:pt x="58072" y="247745"/>
                        <a:pt x="83710" y="255462"/>
                      </a:cubicBezTo>
                      <a:cubicBezTo>
                        <a:pt x="109347" y="263180"/>
                        <a:pt x="137014" y="253195"/>
                        <a:pt x="151814" y="230883"/>
                      </a:cubicBezTo>
                      <a:cubicBezTo>
                        <a:pt x="166614" y="253195"/>
                        <a:pt x="194281" y="263180"/>
                        <a:pt x="219919" y="255462"/>
                      </a:cubicBezTo>
                      <a:cubicBezTo>
                        <a:pt x="245556" y="247745"/>
                        <a:pt x="263114" y="224146"/>
                        <a:pt x="263138" y="197372"/>
                      </a:cubicBezTo>
                      <a:lnTo>
                        <a:pt x="263138" y="195588"/>
                      </a:lnTo>
                      <a:cubicBezTo>
                        <a:pt x="287838" y="183841"/>
                        <a:pt x="303588" y="158942"/>
                        <a:pt x="303619" y="131590"/>
                      </a:cubicBezTo>
                      <a:close/>
                      <a:moveTo>
                        <a:pt x="101213" y="237853"/>
                      </a:moveTo>
                      <a:cubicBezTo>
                        <a:pt x="80542" y="237850"/>
                        <a:pt x="63194" y="222274"/>
                        <a:pt x="60972" y="201724"/>
                      </a:cubicBezTo>
                      <a:cubicBezTo>
                        <a:pt x="64244" y="202190"/>
                        <a:pt x="67546" y="202427"/>
                        <a:pt x="70852" y="202432"/>
                      </a:cubicBezTo>
                      <a:lnTo>
                        <a:pt x="80972" y="202432"/>
                      </a:lnTo>
                      <a:cubicBezTo>
                        <a:pt x="86561" y="202432"/>
                        <a:pt x="91092" y="197901"/>
                        <a:pt x="91092" y="192312"/>
                      </a:cubicBezTo>
                      <a:cubicBezTo>
                        <a:pt x="91092" y="186722"/>
                        <a:pt x="86561" y="182191"/>
                        <a:pt x="80972" y="182191"/>
                      </a:cubicBezTo>
                      <a:lnTo>
                        <a:pt x="70852" y="182191"/>
                      </a:lnTo>
                      <a:cubicBezTo>
                        <a:pt x="46183" y="182220"/>
                        <a:pt x="25089" y="164456"/>
                        <a:pt x="20919" y="140143"/>
                      </a:cubicBezTo>
                      <a:cubicBezTo>
                        <a:pt x="16749" y="115829"/>
                        <a:pt x="30720" y="92052"/>
                        <a:pt x="53989" y="83860"/>
                      </a:cubicBezTo>
                      <a:cubicBezTo>
                        <a:pt x="58029" y="82429"/>
                        <a:pt x="60731" y="78608"/>
                        <a:pt x="60731" y="74322"/>
                      </a:cubicBezTo>
                      <a:lnTo>
                        <a:pt x="60731" y="65808"/>
                      </a:lnTo>
                      <a:cubicBezTo>
                        <a:pt x="60731" y="43451"/>
                        <a:pt x="78855" y="25327"/>
                        <a:pt x="101213" y="25327"/>
                      </a:cubicBezTo>
                      <a:cubicBezTo>
                        <a:pt x="123570" y="25327"/>
                        <a:pt x="141694" y="43451"/>
                        <a:pt x="141694" y="65808"/>
                      </a:cubicBezTo>
                      <a:lnTo>
                        <a:pt x="141694" y="152159"/>
                      </a:lnTo>
                      <a:cubicBezTo>
                        <a:pt x="130581" y="142164"/>
                        <a:pt x="116159" y="136639"/>
                        <a:pt x="101213" y="136650"/>
                      </a:cubicBezTo>
                      <a:cubicBezTo>
                        <a:pt x="95623" y="136650"/>
                        <a:pt x="91092" y="141181"/>
                        <a:pt x="91092" y="146770"/>
                      </a:cubicBezTo>
                      <a:cubicBezTo>
                        <a:pt x="91092" y="152360"/>
                        <a:pt x="95623" y="156891"/>
                        <a:pt x="101213" y="156891"/>
                      </a:cubicBezTo>
                      <a:cubicBezTo>
                        <a:pt x="123570" y="156891"/>
                        <a:pt x="141694" y="175015"/>
                        <a:pt x="141694" y="197372"/>
                      </a:cubicBezTo>
                      <a:cubicBezTo>
                        <a:pt x="141694" y="219729"/>
                        <a:pt x="123570" y="237853"/>
                        <a:pt x="101213" y="237853"/>
                      </a:cubicBezTo>
                      <a:close/>
                      <a:moveTo>
                        <a:pt x="232777" y="182191"/>
                      </a:moveTo>
                      <a:lnTo>
                        <a:pt x="222656" y="182191"/>
                      </a:lnTo>
                      <a:cubicBezTo>
                        <a:pt x="217067" y="182191"/>
                        <a:pt x="212536" y="186722"/>
                        <a:pt x="212536" y="192312"/>
                      </a:cubicBezTo>
                      <a:cubicBezTo>
                        <a:pt x="212536" y="197901"/>
                        <a:pt x="217067" y="202432"/>
                        <a:pt x="222656" y="202432"/>
                      </a:cubicBezTo>
                      <a:lnTo>
                        <a:pt x="232777" y="202432"/>
                      </a:lnTo>
                      <a:cubicBezTo>
                        <a:pt x="236083" y="202427"/>
                        <a:pt x="239384" y="202190"/>
                        <a:pt x="242657" y="201724"/>
                      </a:cubicBezTo>
                      <a:cubicBezTo>
                        <a:pt x="240314" y="223390"/>
                        <a:pt x="221240" y="239313"/>
                        <a:pt x="199504" y="237749"/>
                      </a:cubicBezTo>
                      <a:cubicBezTo>
                        <a:pt x="177768" y="236184"/>
                        <a:pt x="161171" y="217693"/>
                        <a:pt x="161955" y="195915"/>
                      </a:cubicBezTo>
                      <a:cubicBezTo>
                        <a:pt x="162739" y="174137"/>
                        <a:pt x="180623" y="156887"/>
                        <a:pt x="202416" y="156891"/>
                      </a:cubicBezTo>
                      <a:cubicBezTo>
                        <a:pt x="208005" y="156891"/>
                        <a:pt x="212536" y="152360"/>
                        <a:pt x="212536" y="146770"/>
                      </a:cubicBezTo>
                      <a:cubicBezTo>
                        <a:pt x="212536" y="141181"/>
                        <a:pt x="208005" y="136650"/>
                        <a:pt x="202416" y="136650"/>
                      </a:cubicBezTo>
                      <a:cubicBezTo>
                        <a:pt x="187469" y="136639"/>
                        <a:pt x="173048" y="142164"/>
                        <a:pt x="161934" y="152159"/>
                      </a:cubicBezTo>
                      <a:lnTo>
                        <a:pt x="161934" y="65808"/>
                      </a:lnTo>
                      <a:cubicBezTo>
                        <a:pt x="161934" y="43451"/>
                        <a:pt x="180059" y="25327"/>
                        <a:pt x="202416" y="25327"/>
                      </a:cubicBezTo>
                      <a:cubicBezTo>
                        <a:pt x="224773" y="25327"/>
                        <a:pt x="242897" y="43451"/>
                        <a:pt x="242897" y="65808"/>
                      </a:cubicBezTo>
                      <a:lnTo>
                        <a:pt x="242897" y="74322"/>
                      </a:lnTo>
                      <a:cubicBezTo>
                        <a:pt x="242898" y="78608"/>
                        <a:pt x="245599" y="82429"/>
                        <a:pt x="249640" y="83860"/>
                      </a:cubicBezTo>
                      <a:cubicBezTo>
                        <a:pt x="272908" y="92052"/>
                        <a:pt x="286879" y="115829"/>
                        <a:pt x="282709" y="140143"/>
                      </a:cubicBezTo>
                      <a:cubicBezTo>
                        <a:pt x="278540" y="164456"/>
                        <a:pt x="257445" y="182220"/>
                        <a:pt x="232777" y="182191"/>
                      </a:cubicBezTo>
                      <a:close/>
                      <a:moveTo>
                        <a:pt x="253017" y="116409"/>
                      </a:moveTo>
                      <a:cubicBezTo>
                        <a:pt x="253017" y="121999"/>
                        <a:pt x="248486" y="126530"/>
                        <a:pt x="242897" y="126530"/>
                      </a:cubicBezTo>
                      <a:lnTo>
                        <a:pt x="237837" y="126530"/>
                      </a:lnTo>
                      <a:cubicBezTo>
                        <a:pt x="212685" y="126530"/>
                        <a:pt x="192295" y="106140"/>
                        <a:pt x="192295" y="80988"/>
                      </a:cubicBezTo>
                      <a:lnTo>
                        <a:pt x="192295" y="75928"/>
                      </a:lnTo>
                      <a:cubicBezTo>
                        <a:pt x="192295" y="70339"/>
                        <a:pt x="196826" y="65808"/>
                        <a:pt x="202416" y="65808"/>
                      </a:cubicBezTo>
                      <a:cubicBezTo>
                        <a:pt x="208005" y="65808"/>
                        <a:pt x="212536" y="70339"/>
                        <a:pt x="212536" y="75928"/>
                      </a:cubicBezTo>
                      <a:lnTo>
                        <a:pt x="212536" y="80988"/>
                      </a:lnTo>
                      <a:cubicBezTo>
                        <a:pt x="212536" y="94961"/>
                        <a:pt x="223864" y="106289"/>
                        <a:pt x="237837" y="106289"/>
                      </a:cubicBezTo>
                      <a:lnTo>
                        <a:pt x="242897" y="106289"/>
                      </a:lnTo>
                      <a:cubicBezTo>
                        <a:pt x="248486" y="106289"/>
                        <a:pt x="253017" y="110820"/>
                        <a:pt x="253017" y="116409"/>
                      </a:cubicBezTo>
                      <a:close/>
                      <a:moveTo>
                        <a:pt x="65792" y="126530"/>
                      </a:moveTo>
                      <a:lnTo>
                        <a:pt x="60731" y="126530"/>
                      </a:lnTo>
                      <a:cubicBezTo>
                        <a:pt x="55142" y="126530"/>
                        <a:pt x="50611" y="121999"/>
                        <a:pt x="50611" y="116409"/>
                      </a:cubicBezTo>
                      <a:cubicBezTo>
                        <a:pt x="50611" y="110820"/>
                        <a:pt x="55142" y="106289"/>
                        <a:pt x="60731" y="106289"/>
                      </a:cubicBezTo>
                      <a:lnTo>
                        <a:pt x="65792" y="106289"/>
                      </a:lnTo>
                      <a:cubicBezTo>
                        <a:pt x="79765" y="106289"/>
                        <a:pt x="91092" y="94961"/>
                        <a:pt x="91092" y="80988"/>
                      </a:cubicBezTo>
                      <a:lnTo>
                        <a:pt x="91092" y="75928"/>
                      </a:lnTo>
                      <a:cubicBezTo>
                        <a:pt x="91092" y="70339"/>
                        <a:pt x="95623" y="65808"/>
                        <a:pt x="101213" y="65808"/>
                      </a:cubicBezTo>
                      <a:cubicBezTo>
                        <a:pt x="106802" y="65808"/>
                        <a:pt x="111333" y="70339"/>
                        <a:pt x="111333" y="75928"/>
                      </a:cubicBezTo>
                      <a:lnTo>
                        <a:pt x="111333" y="80988"/>
                      </a:lnTo>
                      <a:cubicBezTo>
                        <a:pt x="111333" y="106140"/>
                        <a:pt x="90943" y="126530"/>
                        <a:pt x="65792" y="126530"/>
                      </a:cubicBezTo>
                      <a:close/>
                    </a:path>
                  </a:pathLst>
                </a:custGeom>
                <a:solidFill>
                  <a:srgbClr val="D64550"/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41" name="TextBox 41"/>
              <p:cNvSpPr txBox="1"/>
              <p:nvPr/>
            </p:nvSpPr>
            <p:spPr>
              <a:xfrm>
                <a:off x="7010400" y="3686175"/>
                <a:ext cx="171831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深度序列实证失败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538912" y="4145756"/>
                <a:ext cx="524922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GRU + attention 理论上能建模时间依赖，但在当前规模下没有超过传统主干。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539865" y="4420552"/>
                <a:ext cx="297438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D64550"/>
                    </a:solidFill>
                    <a:latin typeface="Consolas"/>
                    <a:ea typeface="Microsoft YaHei"/>
                    <a:cs typeface="Consolas"/>
                  </a:rPr>
                  <a:t>sequence capacity &gt; available supervision</a:t>
                </a: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533400" y="5105400"/>
            <a:ext cx="11125200" cy="876300"/>
            <a:chOff x="533400" y="5105400"/>
            <a:chExt cx="11125200" cy="876300"/>
          </a:xfrm>
        </p:grpSpPr>
        <p:sp>
          <p:nvSpPr>
            <p:cNvPr id="46" name="Rectangle 46"/>
            <p:cNvSpPr/>
            <p:nvPr/>
          </p:nvSpPr>
          <p:spPr>
            <a:xfrm>
              <a:off x="533400" y="5105400"/>
              <a:ext cx="11125200" cy="876300"/>
            </a:xfrm>
            <a:prstGeom prst="roundRect">
              <a:avLst>
                <a:gd name="adj" fmla="val 10870"/>
              </a:avLst>
            </a:prstGeom>
            <a:solidFill>
              <a:srgbClr val="FFFBEB"/>
            </a:solidFill>
            <a:ln w="10795">
              <a:solidFill>
                <a:srgbClr val="FDE68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0102" y="5313521"/>
              <a:ext cx="422621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关键实证对比：语音深度序列模型没有超过基线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876300" y="5657850"/>
              <a:ext cx="2495550" cy="254794"/>
              <a:chOff x="876300" y="5657850"/>
              <a:chExt cx="2495550" cy="254794"/>
            </a:xfrm>
          </p:grpSpPr>
          <p:sp>
            <p:nvSpPr>
              <p:cNvPr id="48" name="Rectangle 48"/>
              <p:cNvSpPr/>
              <p:nvPr/>
            </p:nvSpPr>
            <p:spPr>
              <a:xfrm>
                <a:off x="876300" y="5657850"/>
                <a:ext cx="249555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16A34A">
                  <a:alpha val="22000"/>
                </a:srgbClr>
              </a:solidFill>
              <a:ln w="9525">
                <a:solidFill>
                  <a:srgbClr val="16A34A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054418" y="5714524"/>
                <a:ext cx="132167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047857"/>
                    </a:solidFill>
                    <a:latin typeface="Consolas"/>
                    <a:ea typeface="Microsoft YaHei"/>
                    <a:cs typeface="Consolas"/>
                  </a:rPr>
                  <a:t>baseline F1 ≈ 0.7972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3676650" y="5657850"/>
              <a:ext cx="2781300" cy="254794"/>
              <a:chOff x="3676650" y="5657850"/>
              <a:chExt cx="2781300" cy="254794"/>
            </a:xfrm>
          </p:grpSpPr>
          <p:sp>
            <p:nvSpPr>
              <p:cNvPr id="51" name="Rectangle 51"/>
              <p:cNvSpPr/>
              <p:nvPr/>
            </p:nvSpPr>
            <p:spPr>
              <a:xfrm>
                <a:off x="3676650" y="5657850"/>
                <a:ext cx="27813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D64550">
                  <a:alpha val="22000"/>
                </a:srgbClr>
              </a:solidFill>
              <a:ln w="9525">
                <a:solidFill>
                  <a:srgbClr val="D64550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3854768" y="5714524"/>
                <a:ext cx="184044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B91C1C"/>
                    </a:solidFill>
                    <a:latin typeface="Consolas"/>
                    <a:ea typeface="Microsoft YaHei"/>
                    <a:cs typeface="Consolas"/>
                  </a:rPr>
                  <a:t>openSMILE + GRU F1 ≈ 0.5856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6762750" y="5657850"/>
              <a:ext cx="3067050" cy="254794"/>
              <a:chOff x="6762750" y="5657850"/>
              <a:chExt cx="3067050" cy="254794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6762750" y="5657850"/>
                <a:ext cx="306705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D64550">
                  <a:alpha val="22000"/>
                </a:srgbClr>
              </a:solidFill>
              <a:ln w="9525">
                <a:solidFill>
                  <a:srgbClr val="D64550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6940868" y="5714524"/>
                <a:ext cx="179948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B91C1C"/>
                    </a:solidFill>
                    <a:latin typeface="Consolas"/>
                    <a:ea typeface="Microsoft YaHei"/>
                    <a:cs typeface="Consolas"/>
                  </a:rPr>
                  <a:t>wav2vec2 + GRU F1 ≈ 0.5227</a:t>
                </a:r>
              </a:p>
            </p:txBody>
          </p:sp>
        </p:grpSp>
      </p:grpSp>
      <p:grpSp>
        <p:nvGrpSpPr>
          <p:cNvPr id="61" name="Group 61"/>
          <p:cNvGrpSpPr/>
          <p:nvPr/>
        </p:nvGrpSpPr>
        <p:grpSpPr>
          <a:xfrm>
            <a:off x="533400" y="6191250"/>
            <a:ext cx="11125200" cy="323850"/>
            <a:chOff x="533400" y="6191250"/>
            <a:chExt cx="11125200" cy="323850"/>
          </a:xfrm>
        </p:grpSpPr>
        <p:sp>
          <p:nvSpPr>
            <p:cNvPr id="58" name="Rectangle 58"/>
            <p:cNvSpPr/>
            <p:nvPr/>
          </p:nvSpPr>
          <p:spPr>
            <a:xfrm>
              <a:off x="533400" y="6191250"/>
              <a:ext cx="11125200" cy="323850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85812" y="627935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D64550"/>
                  </a:solidFill>
                  <a:latin typeface="Arial"/>
                  <a:ea typeface="Microsoft YaHei"/>
                  <a:cs typeface="Arial"/>
                </a:rPr>
                <a:t>最终取舍：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566862" y="6279356"/>
              <a:ext cx="61793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语音探索保留为方法贡献和负面发现；最终融合只纳入在隐藏测试上更稳定的行为动态信号。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521970" y="6608445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4A6"/>
                </a:solidFill>
                <a:latin typeface="Consolas"/>
                <a:ea typeface="Microsoft YaHei"/>
                <a:cs typeface="Consolas"/>
              </a:rPr>
              <a:t>16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7" grpId="0"/>
      <p:bldP spid="6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3F6FB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" name="Freeform 3"/>
            <p:cNvSpPr/>
            <p:nvPr/>
          </p:nvSpPr>
          <p:spPr>
            <a:xfrm>
              <a:off x="0" y="0"/>
              <a:ext cx="12192000" cy="6858000"/>
            </a:xfrm>
            <a:custGeom>
              <a:avLst/>
              <a:gdLst/>
              <a:ahLst/>
              <a:cxnLst/>
              <a:rect l="l" t="t" r="r" b="b"/>
              <a:pathLst>
                <a:path w="12192000" h="6858000">
                  <a:moveTo>
                    <a:pt x="0" y="1428750"/>
                  </a:moveTo>
                  <a:lnTo>
                    <a:pt x="12192000" y="1428750"/>
                  </a:lnTo>
                  <a:moveTo>
                    <a:pt x="0" y="3333750"/>
                  </a:moveTo>
                  <a:lnTo>
                    <a:pt x="12192000" y="3333750"/>
                  </a:lnTo>
                  <a:moveTo>
                    <a:pt x="0" y="5238750"/>
                  </a:moveTo>
                  <a:lnTo>
                    <a:pt x="12192000" y="5238750"/>
                  </a:lnTo>
                  <a:moveTo>
                    <a:pt x="1524000" y="0"/>
                  </a:moveTo>
                  <a:lnTo>
                    <a:pt x="1524000" y="6858000"/>
                  </a:lnTo>
                  <a:moveTo>
                    <a:pt x="3429000" y="0"/>
                  </a:moveTo>
                  <a:lnTo>
                    <a:pt x="3429000" y="6858000"/>
                  </a:lnTo>
                  <a:moveTo>
                    <a:pt x="5334000" y="0"/>
                  </a:moveTo>
                  <a:lnTo>
                    <a:pt x="5334000" y="6858000"/>
                  </a:lnTo>
                  <a:moveTo>
                    <a:pt x="7239000" y="0"/>
                  </a:moveTo>
                  <a:lnTo>
                    <a:pt x="7239000" y="6858000"/>
                  </a:lnTo>
                  <a:moveTo>
                    <a:pt x="9144000" y="0"/>
                  </a:moveTo>
                  <a:lnTo>
                    <a:pt x="9144000" y="6858000"/>
                  </a:lnTo>
                  <a:moveTo>
                    <a:pt x="11049000" y="0"/>
                  </a:moveTo>
                  <a:lnTo>
                    <a:pt x="11049000" y="6858000"/>
                  </a:lnTo>
                </a:path>
              </a:pathLst>
            </a:custGeom>
            <a:solidFill>
              <a:srgbClr val="000000"/>
            </a:solidFill>
            <a:ln w="5715">
              <a:solidFill>
                <a:srgbClr val="D8E0EA">
                  <a:alpha val="26000"/>
                </a:srgbClr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ectangle 4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gradFill>
              <a:gsLst>
                <a:gs pos="0">
                  <a:srgbClr val="2563EB"/>
                </a:gs>
                <a:gs pos="38000">
                  <a:srgbClr val="0E9F6E"/>
                </a:gs>
                <a:gs pos="70000">
                  <a:srgbClr val="7C3AED"/>
                </a:gs>
                <a:gs pos="100000">
                  <a:srgbClr val="16A34A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64820" y="493395"/>
            <a:ext cx="7386638" cy="878205"/>
            <a:chOff x="464820" y="493395"/>
            <a:chExt cx="7386638" cy="878205"/>
          </a:xfrm>
        </p:grpSpPr>
        <p:sp>
          <p:nvSpPr>
            <p:cNvPr id="6" name="TextBox 6"/>
            <p:cNvSpPr txBox="1"/>
            <p:nvPr/>
          </p:nvSpPr>
          <p:spPr>
            <a:xfrm>
              <a:off x="483870" y="493395"/>
              <a:ext cx="30535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6A34A"/>
                  </a:solidFill>
                  <a:latin typeface="Consolas"/>
                  <a:ea typeface="Microsoft YaHei"/>
                  <a:cs typeface="Consolas"/>
                </a:rPr>
                <a:t>FINAL RESULT / MULTIMODAL DEPRESSION DETECTION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64820" y="712470"/>
              <a:ext cx="738663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4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总结</a:t>
              </a:r>
              <a:r>
                <a:rPr lang="zh-CN" sz="24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：</a:t>
              </a:r>
              <a:r>
                <a:rPr lang="zh-CN" altLang="en-US" sz="24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临床动机、</a:t>
              </a:r>
              <a:r>
                <a:rPr lang="zh-CN" sz="24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稳定泛化的信号</a:t>
              </a:r>
              <a:r>
                <a:rPr lang="zh-CN" altLang="en-US" sz="24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下的</a:t>
              </a:r>
              <a:r>
                <a:rPr lang="zh-CN" altLang="zh-CN" sz="240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多模态抑郁检测</a:t>
              </a:r>
              <a:endParaRPr lang="zh-CN" sz="2400" b="1" dirty="0">
                <a:solidFill>
                  <a:srgbClr val="111827"/>
                </a:solidFill>
                <a:latin typeface="Arial"/>
                <a:ea typeface="Microsoft YaHei"/>
                <a:cs typeface="Arial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80060" y="1127760"/>
              <a:ext cx="67513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rPr>
                <a:t>从主干复现、面部动态、指标校准到语音负面结论，最终形成一条可解释、可复现的技术路线。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33400" y="1657350"/>
            <a:ext cx="6191250" cy="2990850"/>
            <a:chOff x="533400" y="1657350"/>
            <a:chExt cx="6191250" cy="2990850"/>
          </a:xfrm>
        </p:grpSpPr>
        <p:sp>
          <p:nvSpPr>
            <p:cNvPr id="10" name="Rectangle 10"/>
            <p:cNvSpPr/>
            <p:nvPr/>
          </p:nvSpPr>
          <p:spPr>
            <a:xfrm>
              <a:off x="533400" y="1657350"/>
              <a:ext cx="6191250" cy="2990850"/>
            </a:xfrm>
            <a:prstGeom prst="roundRect">
              <a:avLst>
                <a:gd name="adj" fmla="val 3185"/>
              </a:avLst>
            </a:prstGeom>
            <a:solidFill>
              <a:srgbClr val="FFFFFF"/>
            </a:solidFill>
            <a:ln w="9525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8195" y="1860232"/>
              <a:ext cx="143963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11827"/>
                  </a:solidFill>
                  <a:latin typeface="Arial"/>
                  <a:ea typeface="Microsoft YaHei"/>
                  <a:cs typeface="Arial"/>
                </a:rPr>
                <a:t>Score 里程碑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895350" y="3581400"/>
              <a:ext cx="1028700" cy="590550"/>
              <a:chOff x="895350" y="3581400"/>
              <a:chExt cx="1028700" cy="5905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895350" y="3581400"/>
                <a:ext cx="102870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EAF1FF"/>
              </a:solidFill>
              <a:ln w="9525">
                <a:solidFill>
                  <a:srgbClr val="2563EB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09605" y="3653790"/>
                <a:ext cx="60018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2563EB"/>
                    </a:solidFill>
                    <a:latin typeface="Consolas"/>
                    <a:ea typeface="Microsoft YaHei"/>
                    <a:cs typeface="Consolas"/>
                  </a:rPr>
                  <a:t>0.67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269254" y="3960495"/>
                <a:ext cx="2808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ORIG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2057400" y="3276600"/>
              <a:ext cx="1028700" cy="895350"/>
              <a:chOff x="2057400" y="3276600"/>
              <a:chExt cx="1028700" cy="8953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2057400" y="3276600"/>
                <a:ext cx="1028700" cy="895350"/>
              </a:xfrm>
              <a:prstGeom prst="roundRect">
                <a:avLst>
                  <a:gd name="adj" fmla="val 8511"/>
                </a:avLst>
              </a:prstGeom>
              <a:solidFill>
                <a:srgbClr val="E8F7F0"/>
              </a:solidFill>
              <a:ln w="9525">
                <a:solidFill>
                  <a:srgbClr val="0E9F6E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303159" y="3482340"/>
                <a:ext cx="537181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0E9F6E"/>
                    </a:solidFill>
                    <a:latin typeface="Consolas"/>
                    <a:ea typeface="Microsoft YaHei"/>
                    <a:cs typeface="Consolas"/>
                  </a:rPr>
                  <a:t>0.71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344293" y="3827145"/>
                <a:ext cx="45491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Face AU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3219450" y="2876550"/>
              <a:ext cx="1028700" cy="1295400"/>
              <a:chOff x="3219450" y="2876550"/>
              <a:chExt cx="1028700" cy="12954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3219450" y="2876550"/>
                <a:ext cx="1028700" cy="1295400"/>
              </a:xfrm>
              <a:prstGeom prst="roundRect">
                <a:avLst>
                  <a:gd name="adj" fmla="val 7407"/>
                </a:avLst>
              </a:prstGeom>
              <a:solidFill>
                <a:srgbClr val="F0E8FF"/>
              </a:solidFill>
              <a:ln w="9525">
                <a:solidFill>
                  <a:srgbClr val="7C3AED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433705" y="3196590"/>
                <a:ext cx="60018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7C3AED"/>
                    </a:solidFill>
                    <a:latin typeface="Consolas"/>
                    <a:ea typeface="Microsoft YaHei"/>
                    <a:cs typeface="Consolas"/>
                  </a:rPr>
                  <a:t>0.79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3404330" y="3541395"/>
                <a:ext cx="6589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Calibration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3422332" y="3750945"/>
                <a:ext cx="6229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7C3AED"/>
                    </a:solidFill>
                    <a:latin typeface="Consolas"/>
                    <a:ea typeface="Microsoft YaHei"/>
                    <a:cs typeface="Consolas"/>
                  </a:rPr>
                  <a:t>CCC ≈ 0.88</a:t>
                </a: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4381500" y="2457450"/>
              <a:ext cx="1028700" cy="1714500"/>
              <a:chOff x="4381500" y="2457450"/>
              <a:chExt cx="1028700" cy="17145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4381500" y="2457450"/>
                <a:ext cx="1028700" cy="1714500"/>
              </a:xfrm>
              <a:prstGeom prst="roundRect">
                <a:avLst>
                  <a:gd name="adj" fmla="val 7407"/>
                </a:avLst>
              </a:prstGeom>
              <a:solidFill>
                <a:srgbClr val="F0E8FF"/>
              </a:solidFill>
              <a:ln w="9525">
                <a:solidFill>
                  <a:srgbClr val="7C3AED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595755" y="2929890"/>
                <a:ext cx="600189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800" b="1" dirty="0">
                    <a:solidFill>
                      <a:srgbClr val="7C3AED"/>
                    </a:solidFill>
                    <a:latin typeface="Consolas"/>
                    <a:ea typeface="Microsoft YaHei"/>
                    <a:cs typeface="Consolas"/>
                  </a:rPr>
                  <a:t>0.83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599384" y="3274695"/>
                <a:ext cx="59293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Classifier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5543550" y="2095500"/>
              <a:ext cx="876300" cy="2076450"/>
              <a:chOff x="5543550" y="2095500"/>
              <a:chExt cx="876300" cy="20764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5543550" y="2095500"/>
                <a:ext cx="876300" cy="2076450"/>
              </a:xfrm>
              <a:prstGeom prst="roundRect">
                <a:avLst>
                  <a:gd name="adj" fmla="val 8696"/>
                </a:avLst>
              </a:prstGeom>
              <a:solidFill>
                <a:srgbClr val="E8F7F0"/>
              </a:solidFill>
              <a:ln w="9525">
                <a:solidFill>
                  <a:srgbClr val="16A34A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5644094" y="2677001"/>
                <a:ext cx="675213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025" b="1" dirty="0">
                    <a:solidFill>
                      <a:srgbClr val="16A34A"/>
                    </a:solidFill>
                    <a:latin typeface="Consolas"/>
                    <a:ea typeface="Microsoft YaHei"/>
                    <a:cs typeface="Consolas"/>
                  </a:rPr>
                  <a:t>0.87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835253" y="3065145"/>
                <a:ext cx="29289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Final</a:t>
                </a:r>
              </a:p>
            </p:txBody>
          </p:sp>
        </p:grpSp>
        <p:sp>
          <p:nvSpPr>
            <p:cNvPr id="33" name="Freeform 33"/>
            <p:cNvSpPr/>
            <p:nvPr/>
          </p:nvSpPr>
          <p:spPr>
            <a:xfrm>
              <a:off x="1066800" y="4362450"/>
              <a:ext cx="5353050" cy="9525"/>
            </a:xfrm>
            <a:custGeom>
              <a:avLst/>
              <a:gdLst/>
              <a:ahLst/>
              <a:cxnLst/>
              <a:rect l="l" t="t" r="r" b="b"/>
              <a:pathLst>
                <a:path w="5353050" h="9525">
                  <a:moveTo>
                    <a:pt x="0" y="0"/>
                  </a:moveTo>
                  <a:lnTo>
                    <a:pt x="535305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D8E0EA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7720" y="4360545"/>
              <a:ext cx="37013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A94A6"/>
                  </a:solidFill>
                  <a:latin typeface="Consolas"/>
                  <a:ea typeface="Microsoft YaHei"/>
                  <a:cs typeface="Consolas"/>
                </a:rPr>
                <a:t>milestone values are approximate leaderboard-oriented scores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029450" y="1657350"/>
            <a:ext cx="4629150" cy="2990850"/>
            <a:chOff x="7029450" y="1657350"/>
            <a:chExt cx="4629150" cy="2990850"/>
          </a:xfrm>
        </p:grpSpPr>
        <p:sp>
          <p:nvSpPr>
            <p:cNvPr id="36" name="Rectangle 36"/>
            <p:cNvSpPr/>
            <p:nvPr/>
          </p:nvSpPr>
          <p:spPr>
            <a:xfrm>
              <a:off x="7029450" y="1657350"/>
              <a:ext cx="4629150" cy="2990850"/>
            </a:xfrm>
            <a:prstGeom prst="roundRect">
              <a:avLst>
                <a:gd name="adj" fmla="val 3185"/>
              </a:avLst>
            </a:prstGeom>
            <a:solidFill>
              <a:srgbClr val="ECFDF5"/>
            </a:solidFill>
            <a:ln w="10795">
              <a:solidFill>
                <a:srgbClr val="A7F3D0"/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320915" y="1715452"/>
              <a:ext cx="1350426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047857"/>
                  </a:solidFill>
                  <a:latin typeface="Consolas"/>
                  <a:ea typeface="Microsoft YaHei"/>
                  <a:cs typeface="Consolas"/>
                </a:rPr>
                <a:t>0.87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68740" y="1958340"/>
              <a:ext cx="923330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最终分数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352348" y="2535079"/>
              <a:ext cx="1615827" cy="2423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不堆叠所有模态，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52348" y="2877979"/>
              <a:ext cx="2221762" cy="24237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75" b="1" dirty="0">
                  <a:solidFill>
                    <a:srgbClr val="047857"/>
                  </a:solidFill>
                  <a:latin typeface="Arial"/>
                  <a:ea typeface="Microsoft YaHei"/>
                  <a:cs typeface="Arial"/>
                </a:rPr>
                <a:t>判断哪些信号稳定有效。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7372350" y="3371850"/>
              <a:ext cx="3943350" cy="9525"/>
            </a:xfrm>
            <a:custGeom>
              <a:avLst/>
              <a:gdLst/>
              <a:ahLst/>
              <a:cxnLst/>
              <a:rect l="l" t="t" r="r" b="b"/>
              <a:pathLst>
                <a:path w="3943350" h="9525">
                  <a:moveTo>
                    <a:pt x="0" y="0"/>
                  </a:moveTo>
                  <a:lnTo>
                    <a:pt x="3943350" y="0"/>
                  </a:lnTo>
                </a:path>
              </a:pathLst>
            </a:custGeom>
            <a:noFill/>
            <a:ln w="9525">
              <a:solidFill>
                <a:srgbClr val="FFFFFF">
                  <a:alpha val="20000"/>
                </a:srgbClr>
              </a:solidFill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57110" y="3604260"/>
              <a:ext cx="39589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最终主干：IMU/人格 + 面部动态 + CCC 校准 + 分类头。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57110" y="3909060"/>
              <a:ext cx="35509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4155"/>
                  </a:solidFill>
                  <a:latin typeface="Arial"/>
                  <a:ea typeface="Microsoft YaHei"/>
                  <a:cs typeface="Arial"/>
                </a:rPr>
                <a:t>语音作为系统探索与负面发现保留在方法贡献中。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33400" y="5010150"/>
            <a:ext cx="11125200" cy="1047750"/>
            <a:chOff x="533400" y="5010150"/>
            <a:chExt cx="11125200" cy="1047750"/>
          </a:xfrm>
        </p:grpSpPr>
        <p:grpSp>
          <p:nvGrpSpPr>
            <p:cNvPr id="51" name="Group 51"/>
            <p:cNvGrpSpPr/>
            <p:nvPr/>
          </p:nvGrpSpPr>
          <p:grpSpPr>
            <a:xfrm>
              <a:off x="533400" y="5010150"/>
              <a:ext cx="2628900" cy="1047750"/>
              <a:chOff x="533400" y="5010150"/>
              <a:chExt cx="2628900" cy="10477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533400" y="5010150"/>
                <a:ext cx="2628900" cy="104775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D8E0EA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48" name="Group 48"/>
              <p:cNvGrpSpPr/>
              <p:nvPr/>
            </p:nvGrpSpPr>
            <p:grpSpPr>
              <a:xfrm>
                <a:off x="794501" y="5272725"/>
                <a:ext cx="241647" cy="239974"/>
                <a:chOff x="794501" y="5272725"/>
                <a:chExt cx="241647" cy="239974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864394" y="5341144"/>
                  <a:ext cx="100012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00012">
                      <a:moveTo>
                        <a:pt x="100012" y="50006"/>
                      </a:moveTo>
                      <a:cubicBezTo>
                        <a:pt x="100012" y="77624"/>
                        <a:pt x="77624" y="100012"/>
                        <a:pt x="50006" y="100012"/>
                      </a:cubicBezTo>
                      <a:cubicBezTo>
                        <a:pt x="22389" y="100012"/>
                        <a:pt x="0" y="77624"/>
                        <a:pt x="0" y="50006"/>
                      </a:cubicBezTo>
                      <a:cubicBezTo>
                        <a:pt x="0" y="22389"/>
                        <a:pt x="22389" y="0"/>
                        <a:pt x="50006" y="0"/>
                      </a:cubicBezTo>
                      <a:cubicBezTo>
                        <a:pt x="77624" y="0"/>
                        <a:pt x="100012" y="22389"/>
                        <a:pt x="100012" y="50006"/>
                      </a:cubicBezTo>
                      <a:close/>
                    </a:path>
                  </a:pathLst>
                </a:custGeom>
                <a:solidFill>
                  <a:srgbClr val="2563EB">
                    <a:alpha val="20000"/>
                  </a:srgbClr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47" name="Freeform 47"/>
                <p:cNvSpPr/>
                <p:nvPr/>
              </p:nvSpPr>
              <p:spPr>
                <a:xfrm>
                  <a:off x="794501" y="5272725"/>
                  <a:ext cx="241647" cy="239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1647" h="239974">
                      <a:moveTo>
                        <a:pt x="217692" y="71711"/>
                      </a:moveTo>
                      <a:cubicBezTo>
                        <a:pt x="241647" y="121810"/>
                        <a:pt x="223887" y="181910"/>
                        <a:pt x="176549" y="210942"/>
                      </a:cubicBezTo>
                      <a:cubicBezTo>
                        <a:pt x="129211" y="239974"/>
                        <a:pt x="67591" y="228558"/>
                        <a:pt x="33796" y="184494"/>
                      </a:cubicBezTo>
                      <a:cubicBezTo>
                        <a:pt x="0" y="140431"/>
                        <a:pt x="4949" y="77958"/>
                        <a:pt x="45260" y="39765"/>
                      </a:cubicBezTo>
                      <a:cubicBezTo>
                        <a:pt x="85572" y="1572"/>
                        <a:pt x="148221" y="0"/>
                        <a:pt x="190397" y="36123"/>
                      </a:cubicBezTo>
                      <a:lnTo>
                        <a:pt x="214015" y="12495"/>
                      </a:lnTo>
                      <a:cubicBezTo>
                        <a:pt x="217271" y="9239"/>
                        <a:pt x="222551" y="9239"/>
                        <a:pt x="225808" y="12495"/>
                      </a:cubicBezTo>
                      <a:cubicBezTo>
                        <a:pt x="229065" y="15752"/>
                        <a:pt x="229065" y="21032"/>
                        <a:pt x="225808" y="24288"/>
                      </a:cubicBezTo>
                      <a:lnTo>
                        <a:pt x="125796" y="124301"/>
                      </a:lnTo>
                      <a:cubicBezTo>
                        <a:pt x="122539" y="127557"/>
                        <a:pt x="117259" y="127557"/>
                        <a:pt x="114002" y="124301"/>
                      </a:cubicBezTo>
                      <a:cubicBezTo>
                        <a:pt x="110746" y="121044"/>
                        <a:pt x="110746" y="115764"/>
                        <a:pt x="114002" y="112508"/>
                      </a:cubicBezTo>
                      <a:lnTo>
                        <a:pt x="142881" y="83629"/>
                      </a:lnTo>
                      <a:cubicBezTo>
                        <a:pt x="126769" y="72973"/>
                        <a:pt x="105445" y="74787"/>
                        <a:pt x="91364" y="88012"/>
                      </a:cubicBezTo>
                      <a:cubicBezTo>
                        <a:pt x="77284" y="101237"/>
                        <a:pt x="74138" y="122405"/>
                        <a:pt x="83764" y="139153"/>
                      </a:cubicBezTo>
                      <a:cubicBezTo>
                        <a:pt x="93391" y="155901"/>
                        <a:pt x="113265" y="163838"/>
                        <a:pt x="131780" y="158327"/>
                      </a:cubicBezTo>
                      <a:cubicBezTo>
                        <a:pt x="150295" y="152817"/>
                        <a:pt x="162596" y="135305"/>
                        <a:pt x="161498" y="116018"/>
                      </a:cubicBezTo>
                      <a:cubicBezTo>
                        <a:pt x="161239" y="111415"/>
                        <a:pt x="164761" y="107474"/>
                        <a:pt x="169363" y="107215"/>
                      </a:cubicBezTo>
                      <a:cubicBezTo>
                        <a:pt x="173966" y="106956"/>
                        <a:pt x="177908" y="110478"/>
                        <a:pt x="178167" y="115081"/>
                      </a:cubicBezTo>
                      <a:cubicBezTo>
                        <a:pt x="179732" y="142397"/>
                        <a:pt x="162104" y="167131"/>
                        <a:pt x="135772" y="174564"/>
                      </a:cubicBezTo>
                      <a:cubicBezTo>
                        <a:pt x="109441" y="181998"/>
                        <a:pt x="81481" y="170134"/>
                        <a:pt x="68530" y="146033"/>
                      </a:cubicBezTo>
                      <a:cubicBezTo>
                        <a:pt x="55580" y="121931"/>
                        <a:pt x="61118" y="92067"/>
                        <a:pt x="81850" y="74212"/>
                      </a:cubicBezTo>
                      <a:cubicBezTo>
                        <a:pt x="102582" y="56357"/>
                        <a:pt x="132936" y="55309"/>
                        <a:pt x="154851" y="71690"/>
                      </a:cubicBezTo>
                      <a:lnTo>
                        <a:pt x="178552" y="47989"/>
                      </a:lnTo>
                      <a:cubicBezTo>
                        <a:pt x="142584" y="18127"/>
                        <a:pt x="89895" y="20159"/>
                        <a:pt x="56335" y="52703"/>
                      </a:cubicBezTo>
                      <a:cubicBezTo>
                        <a:pt x="22774" y="85247"/>
                        <a:pt x="19122" y="137849"/>
                        <a:pt x="47865" y="174718"/>
                      </a:cubicBezTo>
                      <a:cubicBezTo>
                        <a:pt x="76607" y="211587"/>
                        <a:pt x="128510" y="220879"/>
                        <a:pt x="168258" y="196273"/>
                      </a:cubicBezTo>
                      <a:cubicBezTo>
                        <a:pt x="208007" y="171667"/>
                        <a:pt x="222833" y="121066"/>
                        <a:pt x="202649" y="78899"/>
                      </a:cubicBezTo>
                      <a:cubicBezTo>
                        <a:pt x="200664" y="74745"/>
                        <a:pt x="202422" y="69768"/>
                        <a:pt x="206576" y="67783"/>
                      </a:cubicBezTo>
                      <a:cubicBezTo>
                        <a:pt x="210731" y="65798"/>
                        <a:pt x="215707" y="67557"/>
                        <a:pt x="217692" y="71711"/>
                      </a:cubicBezTo>
                      <a:close/>
                    </a:path>
                  </a:pathLst>
                </a:custGeom>
                <a:solidFill>
                  <a:srgbClr val="2563EB"/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1163955" y="53216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任务闭环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767715" y="5651868"/>
                <a:ext cx="2250616" cy="1615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同时优化 PHQ 回归、二分类与三分类</a:t>
                </a:r>
                <a:endParaRPr lang="en-US" altLang="zh-CN" sz="105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endParaRP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3352800" y="5010150"/>
              <a:ext cx="2628900" cy="1047750"/>
              <a:chOff x="3352800" y="5010150"/>
              <a:chExt cx="2628900" cy="104775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3352800" y="5010150"/>
                <a:ext cx="2628900" cy="104775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D8E0EA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55" name="Group 55"/>
              <p:cNvGrpSpPr/>
              <p:nvPr/>
            </p:nvGrpSpPr>
            <p:grpSpPr>
              <a:xfrm>
                <a:off x="3608545" y="5307806"/>
                <a:ext cx="250510" cy="166688"/>
                <a:chOff x="3608545" y="5307806"/>
                <a:chExt cx="250510" cy="166688"/>
              </a:xfrm>
            </p:grpSpPr>
            <p:sp>
              <p:nvSpPr>
                <p:cNvPr id="53" name="Freeform 53"/>
                <p:cNvSpPr/>
                <p:nvPr/>
              </p:nvSpPr>
              <p:spPr>
                <a:xfrm>
                  <a:off x="3617119" y="5316141"/>
                  <a:ext cx="233362" cy="150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362" h="150019">
                      <a:moveTo>
                        <a:pt x="116681" y="0"/>
                      </a:moveTo>
                      <a:cubicBezTo>
                        <a:pt x="33338" y="0"/>
                        <a:pt x="0" y="75009"/>
                        <a:pt x="0" y="75009"/>
                      </a:cubicBezTo>
                      <a:cubicBezTo>
                        <a:pt x="0" y="75009"/>
                        <a:pt x="33338" y="150019"/>
                        <a:pt x="116681" y="150019"/>
                      </a:cubicBezTo>
                      <a:cubicBezTo>
                        <a:pt x="200025" y="150019"/>
                        <a:pt x="233362" y="75009"/>
                        <a:pt x="233362" y="75009"/>
                      </a:cubicBezTo>
                      <a:cubicBezTo>
                        <a:pt x="233362" y="75009"/>
                        <a:pt x="200025" y="0"/>
                        <a:pt x="116681" y="0"/>
                      </a:cubicBezTo>
                      <a:close/>
                      <a:moveTo>
                        <a:pt x="116681" y="116681"/>
                      </a:moveTo>
                      <a:cubicBezTo>
                        <a:pt x="93667" y="116681"/>
                        <a:pt x="75009" y="98024"/>
                        <a:pt x="75009" y="75009"/>
                      </a:cubicBezTo>
                      <a:cubicBezTo>
                        <a:pt x="75009" y="51995"/>
                        <a:pt x="93667" y="33338"/>
                        <a:pt x="116681" y="33338"/>
                      </a:cubicBezTo>
                      <a:cubicBezTo>
                        <a:pt x="139696" y="33338"/>
                        <a:pt x="158353" y="51995"/>
                        <a:pt x="158353" y="75009"/>
                      </a:cubicBezTo>
                      <a:cubicBezTo>
                        <a:pt x="158353" y="98024"/>
                        <a:pt x="139696" y="116681"/>
                        <a:pt x="116681" y="116681"/>
                      </a:cubicBezTo>
                      <a:close/>
                    </a:path>
                  </a:pathLst>
                </a:custGeom>
                <a:solidFill>
                  <a:srgbClr val="0E9F6E">
                    <a:alpha val="20000"/>
                  </a:srgbClr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54" name="Freeform 54"/>
                <p:cNvSpPr/>
                <p:nvPr/>
              </p:nvSpPr>
              <p:spPr>
                <a:xfrm>
                  <a:off x="3608545" y="5307806"/>
                  <a:ext cx="250510" cy="166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510" h="166688">
                      <a:moveTo>
                        <a:pt x="249552" y="79968"/>
                      </a:moveTo>
                      <a:cubicBezTo>
                        <a:pt x="249187" y="79145"/>
                        <a:pt x="240363" y="59570"/>
                        <a:pt x="220746" y="39953"/>
                      </a:cubicBezTo>
                      <a:cubicBezTo>
                        <a:pt x="194608" y="13814"/>
                        <a:pt x="161593" y="0"/>
                        <a:pt x="125255" y="0"/>
                      </a:cubicBezTo>
                      <a:cubicBezTo>
                        <a:pt x="88917" y="0"/>
                        <a:pt x="55903" y="13814"/>
                        <a:pt x="29764" y="39953"/>
                      </a:cubicBezTo>
                      <a:cubicBezTo>
                        <a:pt x="10147" y="59570"/>
                        <a:pt x="1281" y="79177"/>
                        <a:pt x="958" y="79968"/>
                      </a:cubicBezTo>
                      <a:cubicBezTo>
                        <a:pt x="0" y="82124"/>
                        <a:pt x="0" y="84584"/>
                        <a:pt x="958" y="86740"/>
                      </a:cubicBezTo>
                      <a:cubicBezTo>
                        <a:pt x="1323" y="87563"/>
                        <a:pt x="10147" y="107128"/>
                        <a:pt x="29764" y="126745"/>
                      </a:cubicBezTo>
                      <a:cubicBezTo>
                        <a:pt x="55903" y="152873"/>
                        <a:pt x="88917" y="166688"/>
                        <a:pt x="125255" y="166688"/>
                      </a:cubicBezTo>
                      <a:cubicBezTo>
                        <a:pt x="161593" y="166688"/>
                        <a:pt x="194608" y="152873"/>
                        <a:pt x="220746" y="126745"/>
                      </a:cubicBezTo>
                      <a:cubicBezTo>
                        <a:pt x="240363" y="107128"/>
                        <a:pt x="249187" y="87563"/>
                        <a:pt x="249552" y="86740"/>
                      </a:cubicBezTo>
                      <a:cubicBezTo>
                        <a:pt x="250510" y="84584"/>
                        <a:pt x="250510" y="82124"/>
                        <a:pt x="249552" y="79968"/>
                      </a:cubicBezTo>
                      <a:close/>
                      <a:moveTo>
                        <a:pt x="125255" y="150019"/>
                      </a:moveTo>
                      <a:cubicBezTo>
                        <a:pt x="93189" y="150019"/>
                        <a:pt x="65175" y="138361"/>
                        <a:pt x="41984" y="115379"/>
                      </a:cubicBezTo>
                      <a:cubicBezTo>
                        <a:pt x="32469" y="105916"/>
                        <a:pt x="24374" y="95126"/>
                        <a:pt x="17950" y="83344"/>
                      </a:cubicBezTo>
                      <a:cubicBezTo>
                        <a:pt x="24372" y="71560"/>
                        <a:pt x="32467" y="60770"/>
                        <a:pt x="41984" y="51308"/>
                      </a:cubicBezTo>
                      <a:cubicBezTo>
                        <a:pt x="65175" y="28326"/>
                        <a:pt x="93189" y="16669"/>
                        <a:pt x="125255" y="16669"/>
                      </a:cubicBezTo>
                      <a:cubicBezTo>
                        <a:pt x="157322" y="16669"/>
                        <a:pt x="185336" y="28326"/>
                        <a:pt x="208526" y="51308"/>
                      </a:cubicBezTo>
                      <a:cubicBezTo>
                        <a:pt x="218060" y="60768"/>
                        <a:pt x="226173" y="71558"/>
                        <a:pt x="232612" y="83344"/>
                      </a:cubicBezTo>
                      <a:cubicBezTo>
                        <a:pt x="225101" y="97366"/>
                        <a:pt x="192378" y="150019"/>
                        <a:pt x="125255" y="150019"/>
                      </a:cubicBezTo>
                      <a:close/>
                      <a:moveTo>
                        <a:pt x="125255" y="33338"/>
                      </a:moveTo>
                      <a:cubicBezTo>
                        <a:pt x="97637" y="33338"/>
                        <a:pt x="75249" y="55726"/>
                        <a:pt x="75249" y="83344"/>
                      </a:cubicBezTo>
                      <a:cubicBezTo>
                        <a:pt x="75249" y="110961"/>
                        <a:pt x="97637" y="133350"/>
                        <a:pt x="125255" y="133350"/>
                      </a:cubicBezTo>
                      <a:cubicBezTo>
                        <a:pt x="152873" y="133350"/>
                        <a:pt x="175261" y="110961"/>
                        <a:pt x="175261" y="83344"/>
                      </a:cubicBezTo>
                      <a:cubicBezTo>
                        <a:pt x="175233" y="55738"/>
                        <a:pt x="152861" y="33366"/>
                        <a:pt x="125255" y="33338"/>
                      </a:cubicBezTo>
                      <a:close/>
                      <a:moveTo>
                        <a:pt x="125255" y="116681"/>
                      </a:moveTo>
                      <a:cubicBezTo>
                        <a:pt x="106843" y="116681"/>
                        <a:pt x="91918" y="101756"/>
                        <a:pt x="91918" y="83344"/>
                      </a:cubicBezTo>
                      <a:cubicBezTo>
                        <a:pt x="91918" y="64932"/>
                        <a:pt x="106843" y="50006"/>
                        <a:pt x="125255" y="50006"/>
                      </a:cubicBezTo>
                      <a:cubicBezTo>
                        <a:pt x="143667" y="50006"/>
                        <a:pt x="158593" y="64932"/>
                        <a:pt x="158593" y="83344"/>
                      </a:cubicBezTo>
                      <a:cubicBezTo>
                        <a:pt x="158593" y="101756"/>
                        <a:pt x="143667" y="116681"/>
                        <a:pt x="125255" y="116681"/>
                      </a:cubicBezTo>
                      <a:close/>
                    </a:path>
                  </a:pathLst>
                </a:custGeom>
                <a:solidFill>
                  <a:srgbClr val="0E9F6E"/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56" name="TextBox 56"/>
              <p:cNvSpPr txBox="1"/>
              <p:nvPr/>
            </p:nvSpPr>
            <p:spPr>
              <a:xfrm>
                <a:off x="3983355" y="532161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行为动态特征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3646790" y="5632371"/>
                <a:ext cx="1877117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把面部 AU 拆成速度、后段状态</a:t>
                </a:r>
                <a:endParaRPr lang="en-US" altLang="zh-CN" sz="105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endParaRPr>
              </a:p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疲劳和频谱四个视角。</a:t>
                </a: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6172200" y="5010150"/>
              <a:ext cx="2628900" cy="1047750"/>
              <a:chOff x="6172200" y="5010150"/>
              <a:chExt cx="2628900" cy="1047750"/>
            </a:xfrm>
          </p:grpSpPr>
          <p:sp>
            <p:nvSpPr>
              <p:cNvPr id="59" name="Rectangle 59"/>
              <p:cNvSpPr/>
              <p:nvPr/>
            </p:nvSpPr>
            <p:spPr>
              <a:xfrm>
                <a:off x="6172200" y="5010150"/>
                <a:ext cx="2628900" cy="104775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D8E0EA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62" name="Group 62"/>
              <p:cNvGrpSpPr/>
              <p:nvPr/>
            </p:nvGrpSpPr>
            <p:grpSpPr>
              <a:xfrm>
                <a:off x="6436519" y="5307719"/>
                <a:ext cx="233449" cy="158440"/>
                <a:chOff x="6436519" y="5307719"/>
                <a:chExt cx="233449" cy="158440"/>
              </a:xfrm>
            </p:grpSpPr>
            <p:sp>
              <p:nvSpPr>
                <p:cNvPr id="60" name="Freeform 60"/>
                <p:cNvSpPr/>
                <p:nvPr/>
              </p:nvSpPr>
              <p:spPr>
                <a:xfrm>
                  <a:off x="6444853" y="5316038"/>
                  <a:ext cx="216694" cy="1417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694" h="141787">
                      <a:moveTo>
                        <a:pt x="216694" y="108449"/>
                      </a:moveTo>
                      <a:lnTo>
                        <a:pt x="216694" y="133452"/>
                      </a:lnTo>
                      <a:cubicBezTo>
                        <a:pt x="216694" y="138055"/>
                        <a:pt x="212962" y="141787"/>
                        <a:pt x="208359" y="141787"/>
                      </a:cubicBezTo>
                      <a:lnTo>
                        <a:pt x="8334" y="141787"/>
                      </a:lnTo>
                      <a:cubicBezTo>
                        <a:pt x="3731" y="141787"/>
                        <a:pt x="0" y="138055"/>
                        <a:pt x="0" y="133452"/>
                      </a:cubicBezTo>
                      <a:lnTo>
                        <a:pt x="0" y="109627"/>
                      </a:lnTo>
                      <a:cubicBezTo>
                        <a:pt x="0" y="49744"/>
                        <a:pt x="48079" y="311"/>
                        <a:pt x="107961" y="102"/>
                      </a:cubicBezTo>
                      <a:cubicBezTo>
                        <a:pt x="136764" y="0"/>
                        <a:pt x="164421" y="11370"/>
                        <a:pt x="184824" y="31700"/>
                      </a:cubicBezTo>
                      <a:cubicBezTo>
                        <a:pt x="205226" y="52030"/>
                        <a:pt x="216694" y="79647"/>
                        <a:pt x="216694" y="108449"/>
                      </a:cubicBezTo>
                      <a:close/>
                    </a:path>
                  </a:pathLst>
                </a:custGeom>
                <a:solidFill>
                  <a:srgbClr val="7C3AED">
                    <a:alpha val="20000"/>
                  </a:srgbClr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61" name="Freeform 61"/>
                <p:cNvSpPr/>
                <p:nvPr/>
              </p:nvSpPr>
              <p:spPr>
                <a:xfrm>
                  <a:off x="6436519" y="5307719"/>
                  <a:ext cx="233449" cy="158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3449" h="158440">
                      <a:moveTo>
                        <a:pt x="199046" y="34122"/>
                      </a:moveTo>
                      <a:cubicBezTo>
                        <a:pt x="177225" y="12252"/>
                        <a:pt x="147575" y="0"/>
                        <a:pt x="116681" y="87"/>
                      </a:cubicBezTo>
                      <a:lnTo>
                        <a:pt x="116265" y="87"/>
                      </a:lnTo>
                      <a:cubicBezTo>
                        <a:pt x="52163" y="306"/>
                        <a:pt x="0" y="53218"/>
                        <a:pt x="0" y="117945"/>
                      </a:cubicBezTo>
                      <a:lnTo>
                        <a:pt x="0" y="141771"/>
                      </a:lnTo>
                      <a:cubicBezTo>
                        <a:pt x="0" y="150977"/>
                        <a:pt x="7463" y="158440"/>
                        <a:pt x="16669" y="158440"/>
                      </a:cubicBezTo>
                      <a:lnTo>
                        <a:pt x="216694" y="158440"/>
                      </a:lnTo>
                      <a:cubicBezTo>
                        <a:pt x="225900" y="158440"/>
                        <a:pt x="233362" y="150977"/>
                        <a:pt x="233362" y="141771"/>
                      </a:cubicBezTo>
                      <a:lnTo>
                        <a:pt x="233362" y="116768"/>
                      </a:lnTo>
                      <a:cubicBezTo>
                        <a:pt x="233449" y="85736"/>
                        <a:pt x="221087" y="55966"/>
                        <a:pt x="199046" y="34122"/>
                      </a:cubicBezTo>
                      <a:close/>
                      <a:moveTo>
                        <a:pt x="216694" y="141771"/>
                      </a:moveTo>
                      <a:lnTo>
                        <a:pt x="108045" y="141771"/>
                      </a:lnTo>
                      <a:lnTo>
                        <a:pt x="165094" y="63324"/>
                      </a:lnTo>
                      <a:cubicBezTo>
                        <a:pt x="167804" y="59601"/>
                        <a:pt x="166983" y="54387"/>
                        <a:pt x="163260" y="51677"/>
                      </a:cubicBezTo>
                      <a:cubicBezTo>
                        <a:pt x="159537" y="48967"/>
                        <a:pt x="154323" y="49788"/>
                        <a:pt x="151613" y="53510"/>
                      </a:cubicBezTo>
                      <a:lnTo>
                        <a:pt x="87428" y="141771"/>
                      </a:lnTo>
                      <a:lnTo>
                        <a:pt x="16669" y="141771"/>
                      </a:lnTo>
                      <a:lnTo>
                        <a:pt x="16669" y="117945"/>
                      </a:lnTo>
                      <a:cubicBezTo>
                        <a:pt x="16669" y="114737"/>
                        <a:pt x="16825" y="111569"/>
                        <a:pt x="17117" y="108434"/>
                      </a:cubicBezTo>
                      <a:lnTo>
                        <a:pt x="41672" y="108434"/>
                      </a:lnTo>
                      <a:cubicBezTo>
                        <a:pt x="46275" y="108434"/>
                        <a:pt x="50006" y="104702"/>
                        <a:pt x="50006" y="100099"/>
                      </a:cubicBezTo>
                      <a:cubicBezTo>
                        <a:pt x="50006" y="95496"/>
                        <a:pt x="46275" y="91765"/>
                        <a:pt x="41672" y="91765"/>
                      </a:cubicBezTo>
                      <a:lnTo>
                        <a:pt x="20075" y="91765"/>
                      </a:lnTo>
                      <a:cubicBezTo>
                        <a:pt x="30827" y="51281"/>
                        <a:pt x="65914" y="20673"/>
                        <a:pt x="108347" y="17110"/>
                      </a:cubicBezTo>
                      <a:lnTo>
                        <a:pt x="108347" y="41759"/>
                      </a:lnTo>
                      <a:cubicBezTo>
                        <a:pt x="108347" y="46362"/>
                        <a:pt x="112078" y="50093"/>
                        <a:pt x="116681" y="50093"/>
                      </a:cubicBezTo>
                      <a:cubicBezTo>
                        <a:pt x="121284" y="50093"/>
                        <a:pt x="125016" y="46362"/>
                        <a:pt x="125016" y="41759"/>
                      </a:cubicBezTo>
                      <a:lnTo>
                        <a:pt x="125016" y="17099"/>
                      </a:lnTo>
                      <a:cubicBezTo>
                        <a:pt x="167391" y="20665"/>
                        <a:pt x="202895" y="50601"/>
                        <a:pt x="213568" y="91765"/>
                      </a:cubicBezTo>
                      <a:lnTo>
                        <a:pt x="191691" y="91765"/>
                      </a:lnTo>
                      <a:cubicBezTo>
                        <a:pt x="187088" y="91765"/>
                        <a:pt x="183356" y="95496"/>
                        <a:pt x="183356" y="100099"/>
                      </a:cubicBezTo>
                      <a:cubicBezTo>
                        <a:pt x="183356" y="104702"/>
                        <a:pt x="187088" y="108434"/>
                        <a:pt x="191691" y="108434"/>
                      </a:cubicBezTo>
                      <a:lnTo>
                        <a:pt x="216350" y="108434"/>
                      </a:lnTo>
                      <a:cubicBezTo>
                        <a:pt x="216569" y="111194"/>
                        <a:pt x="216694" y="113966"/>
                        <a:pt x="216694" y="116768"/>
                      </a:cubicBezTo>
                      <a:close/>
                    </a:path>
                  </a:pathLst>
                </a:custGeom>
                <a:solidFill>
                  <a:srgbClr val="7C3AED"/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63" name="TextBox 63"/>
              <p:cNvSpPr txBox="1"/>
              <p:nvPr/>
            </p:nvSpPr>
            <p:spPr>
              <a:xfrm>
                <a:off x="6802755" y="532161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指标感知优化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6408628" y="5607749"/>
                <a:ext cx="183383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用分布校准修正 CCC 瓶颈，</a:t>
                </a:r>
                <a:endParaRPr lang="en-US" altLang="zh-CN" sz="105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endParaRPr>
              </a:p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再用独立分类头收 F1/Kappa。</a:t>
                </a: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8991600" y="5010150"/>
              <a:ext cx="2667000" cy="1047750"/>
              <a:chOff x="8991600" y="5010150"/>
              <a:chExt cx="2667000" cy="1047750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8991600" y="5010150"/>
                <a:ext cx="2667000" cy="104775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9525">
                <a:solidFill>
                  <a:srgbClr val="D8E0EA"/>
                </a:solidFill>
              </a:ln>
            </p:spPr>
            <p:txBody>
              <a:bodyPr/>
              <a:lstStyle/>
              <a:p>
                <a:endParaRPr/>
              </a:p>
            </p:txBody>
          </p:sp>
          <p:grpSp>
            <p:nvGrpSpPr>
              <p:cNvPr id="69" name="Group 69"/>
              <p:cNvGrpSpPr/>
              <p:nvPr/>
            </p:nvGrpSpPr>
            <p:grpSpPr>
              <a:xfrm>
                <a:off x="9289256" y="5274469"/>
                <a:ext cx="166688" cy="233362"/>
                <a:chOff x="9289256" y="5274469"/>
                <a:chExt cx="166688" cy="233362"/>
              </a:xfrm>
            </p:grpSpPr>
            <p:sp>
              <p:nvSpPr>
                <p:cNvPr id="67" name="Freeform 67"/>
                <p:cNvSpPr/>
                <p:nvPr/>
              </p:nvSpPr>
              <p:spPr>
                <a:xfrm>
                  <a:off x="9330928" y="5282803"/>
                  <a:ext cx="83344" cy="1500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344" h="150019">
                      <a:moveTo>
                        <a:pt x="83344" y="41672"/>
                      </a:moveTo>
                      <a:lnTo>
                        <a:pt x="83344" y="108347"/>
                      </a:lnTo>
                      <a:cubicBezTo>
                        <a:pt x="83344" y="131362"/>
                        <a:pt x="64687" y="150019"/>
                        <a:pt x="41672" y="150019"/>
                      </a:cubicBezTo>
                      <a:lnTo>
                        <a:pt x="41672" y="150019"/>
                      </a:lnTo>
                      <a:cubicBezTo>
                        <a:pt x="18657" y="150019"/>
                        <a:pt x="0" y="131362"/>
                        <a:pt x="0" y="108347"/>
                      </a:cubicBezTo>
                      <a:lnTo>
                        <a:pt x="0" y="41672"/>
                      </a:lnTo>
                      <a:cubicBezTo>
                        <a:pt x="0" y="18657"/>
                        <a:pt x="18657" y="0"/>
                        <a:pt x="41672" y="0"/>
                      </a:cubicBezTo>
                      <a:lnTo>
                        <a:pt x="41672" y="0"/>
                      </a:lnTo>
                      <a:cubicBezTo>
                        <a:pt x="64687" y="0"/>
                        <a:pt x="83344" y="18657"/>
                        <a:pt x="83344" y="41672"/>
                      </a:cubicBezTo>
                      <a:close/>
                    </a:path>
                  </a:pathLst>
                </a:custGeom>
                <a:solidFill>
                  <a:srgbClr val="F59E0B">
                    <a:alpha val="20000"/>
                  </a:srgbClr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  <p:sp>
              <p:nvSpPr>
                <p:cNvPr id="68" name="Freeform 68"/>
                <p:cNvSpPr/>
                <p:nvPr/>
              </p:nvSpPr>
              <p:spPr>
                <a:xfrm>
                  <a:off x="9289256" y="5274469"/>
                  <a:ext cx="166688" cy="2333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88" h="233362">
                      <a:moveTo>
                        <a:pt x="83344" y="166688"/>
                      </a:moveTo>
                      <a:cubicBezTo>
                        <a:pt x="110950" y="166659"/>
                        <a:pt x="133321" y="144287"/>
                        <a:pt x="133350" y="116681"/>
                      </a:cubicBezTo>
                      <a:lnTo>
                        <a:pt x="133350" y="50006"/>
                      </a:lnTo>
                      <a:cubicBezTo>
                        <a:pt x="133350" y="22389"/>
                        <a:pt x="110961" y="0"/>
                        <a:pt x="83344" y="0"/>
                      </a:cubicBezTo>
                      <a:cubicBezTo>
                        <a:pt x="55726" y="0"/>
                        <a:pt x="33338" y="22389"/>
                        <a:pt x="33338" y="50006"/>
                      </a:cubicBezTo>
                      <a:lnTo>
                        <a:pt x="33338" y="116681"/>
                      </a:lnTo>
                      <a:cubicBezTo>
                        <a:pt x="33366" y="144287"/>
                        <a:pt x="55738" y="166659"/>
                        <a:pt x="83344" y="166688"/>
                      </a:cubicBezTo>
                      <a:close/>
                      <a:moveTo>
                        <a:pt x="50006" y="50006"/>
                      </a:moveTo>
                      <a:cubicBezTo>
                        <a:pt x="50006" y="31594"/>
                        <a:pt x="64932" y="16669"/>
                        <a:pt x="83344" y="16669"/>
                      </a:cubicBezTo>
                      <a:cubicBezTo>
                        <a:pt x="101756" y="16669"/>
                        <a:pt x="116681" y="31594"/>
                        <a:pt x="116681" y="50006"/>
                      </a:cubicBezTo>
                      <a:lnTo>
                        <a:pt x="116681" y="116681"/>
                      </a:lnTo>
                      <a:cubicBezTo>
                        <a:pt x="116681" y="135093"/>
                        <a:pt x="101756" y="150019"/>
                        <a:pt x="83344" y="150019"/>
                      </a:cubicBezTo>
                      <a:cubicBezTo>
                        <a:pt x="64932" y="150019"/>
                        <a:pt x="50006" y="135093"/>
                        <a:pt x="50006" y="116681"/>
                      </a:cubicBezTo>
                      <a:close/>
                      <a:moveTo>
                        <a:pt x="91678" y="199608"/>
                      </a:moveTo>
                      <a:lnTo>
                        <a:pt x="91678" y="225028"/>
                      </a:lnTo>
                      <a:cubicBezTo>
                        <a:pt x="91678" y="229631"/>
                        <a:pt x="87947" y="233362"/>
                        <a:pt x="83344" y="233362"/>
                      </a:cubicBezTo>
                      <a:cubicBezTo>
                        <a:pt x="78741" y="233362"/>
                        <a:pt x="75009" y="229631"/>
                        <a:pt x="75009" y="225028"/>
                      </a:cubicBezTo>
                      <a:lnTo>
                        <a:pt x="75009" y="199608"/>
                      </a:lnTo>
                      <a:cubicBezTo>
                        <a:pt x="32447" y="195277"/>
                        <a:pt x="53" y="159463"/>
                        <a:pt x="0" y="116681"/>
                      </a:cubicBezTo>
                      <a:cubicBezTo>
                        <a:pt x="0" y="112078"/>
                        <a:pt x="3731" y="108347"/>
                        <a:pt x="8334" y="108347"/>
                      </a:cubicBezTo>
                      <a:cubicBezTo>
                        <a:pt x="12937" y="108347"/>
                        <a:pt x="16669" y="112078"/>
                        <a:pt x="16669" y="116681"/>
                      </a:cubicBezTo>
                      <a:cubicBezTo>
                        <a:pt x="16669" y="153505"/>
                        <a:pt x="46520" y="183356"/>
                        <a:pt x="83344" y="183356"/>
                      </a:cubicBezTo>
                      <a:cubicBezTo>
                        <a:pt x="120167" y="183356"/>
                        <a:pt x="150019" y="153505"/>
                        <a:pt x="150019" y="116681"/>
                      </a:cubicBezTo>
                      <a:cubicBezTo>
                        <a:pt x="150019" y="112078"/>
                        <a:pt x="153750" y="108347"/>
                        <a:pt x="158353" y="108347"/>
                      </a:cubicBezTo>
                      <a:cubicBezTo>
                        <a:pt x="162956" y="108347"/>
                        <a:pt x="166688" y="112078"/>
                        <a:pt x="166688" y="116681"/>
                      </a:cubicBezTo>
                      <a:cubicBezTo>
                        <a:pt x="166635" y="159463"/>
                        <a:pt x="134240" y="195277"/>
                        <a:pt x="91678" y="199608"/>
                      </a:cubicBezTo>
                      <a:close/>
                    </a:path>
                  </a:pathLst>
                </a:custGeom>
                <a:solidFill>
                  <a:srgbClr val="F59E0B"/>
                </a:solidFill>
                <a:ln>
                  <a:noFill/>
                </a:ln>
              </p:spPr>
              <p:txBody>
                <a:bodyPr/>
                <a:lstStyle/>
                <a:p>
                  <a:endParaRPr/>
                </a:p>
              </p:txBody>
            </p:sp>
          </p:grpSp>
          <p:sp>
            <p:nvSpPr>
              <p:cNvPr id="70" name="TextBox 70"/>
              <p:cNvSpPr txBox="1"/>
              <p:nvPr/>
            </p:nvSpPr>
            <p:spPr>
              <a:xfrm>
                <a:off x="9622155" y="532161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11827"/>
                    </a:solidFill>
                    <a:latin typeface="Arial"/>
                    <a:ea typeface="Microsoft YaHei"/>
                    <a:cs typeface="Arial"/>
                  </a:rPr>
                  <a:t>语音边界验证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9225915" y="5604243"/>
                <a:ext cx="2333972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声学、嵌入、序列、ASR 多线探索后，</a:t>
                </a:r>
                <a:endParaRPr lang="en-US" altLang="zh-CN" sz="1050" dirty="0">
                  <a:solidFill>
                    <a:srgbClr val="5B6472"/>
                  </a:solidFill>
                  <a:latin typeface="Arial"/>
                  <a:ea typeface="Microsoft YaHei"/>
                  <a:cs typeface="Arial"/>
                </a:endParaRPr>
              </a:p>
              <a:p>
                <a:pPr algn="l"/>
                <a:r>
                  <a:rPr lang="zh-CN" sz="1050" dirty="0">
                    <a:solidFill>
                      <a:srgbClr val="5B6472"/>
                    </a:solidFill>
                    <a:latin typeface="Arial"/>
                    <a:ea typeface="Microsoft YaHei"/>
                    <a:cs typeface="Arial"/>
                  </a:rPr>
                  <a:t>给出不纳入最终模型的证据。</a:t>
                </a:r>
              </a:p>
            </p:txBody>
          </p:sp>
        </p:grpSp>
      </p:grpSp>
      <p:sp>
        <p:nvSpPr>
          <p:cNvPr id="74" name="TextBox 74"/>
          <p:cNvSpPr txBox="1"/>
          <p:nvPr/>
        </p:nvSpPr>
        <p:spPr>
          <a:xfrm>
            <a:off x="521970" y="6436995"/>
            <a:ext cx="3649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94A6"/>
                </a:solidFill>
                <a:latin typeface="Consolas"/>
                <a:ea typeface="Microsoft YaHei"/>
                <a:cs typeface="Consolas"/>
              </a:rPr>
              <a:t>17 / 17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4" grpId="0"/>
      <p:bldP spid="7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9338CA-6A3F-7450-5764-7B5C2DA25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801" y="2857500"/>
            <a:ext cx="8229600" cy="1143000"/>
          </a:xfrm>
        </p:spPr>
        <p:txBody>
          <a:bodyPr>
            <a:normAutofit/>
          </a:bodyPr>
          <a:lstStyle/>
          <a:p>
            <a:r>
              <a:rPr lang="zh-CN" altLang="en-US" sz="6600" b="1" dirty="0">
                <a:latin typeface="黑体" panose="02010609060101010101" pitchFamily="49" charset="-122"/>
                <a:ea typeface="黑体" panose="02010609060101010101" pitchFamily="49" charset="-122"/>
              </a:rPr>
              <a:t>谢谢</a:t>
            </a:r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90EC5579-FB76-8FB6-AAA0-76D97FFD05D7}"/>
              </a:ext>
            </a:extLst>
          </p:cNvPr>
          <p:cNvSpPr txBox="1"/>
          <p:nvPr/>
        </p:nvSpPr>
        <p:spPr>
          <a:xfrm>
            <a:off x="320935" y="5597453"/>
            <a:ext cx="5126403" cy="9233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en-US" sz="20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组员贡献：</a:t>
            </a:r>
            <a:br>
              <a:rPr lang="en-US" altLang="zh-CN" sz="20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</a:br>
            <a:r>
              <a:rPr lang="zh-CN" altLang="en-US" sz="20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张子路（</a:t>
            </a:r>
            <a:r>
              <a:rPr lang="en-US" altLang="zh-CN" sz="20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1/6</a:t>
            </a:r>
            <a:r>
              <a:rPr lang="zh-CN" altLang="en-US" sz="20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） 郭子逸（</a:t>
            </a:r>
            <a:r>
              <a:rPr lang="en-US" altLang="zh-CN" sz="20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1/6</a:t>
            </a:r>
            <a:r>
              <a:rPr lang="zh-CN" altLang="en-US" sz="20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） 龚正硕（</a:t>
            </a:r>
            <a:r>
              <a:rPr lang="en-US" altLang="zh-CN" sz="20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1/6</a:t>
            </a:r>
            <a:r>
              <a:rPr lang="zh-CN" altLang="en-US" sz="20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） </a:t>
            </a:r>
            <a:endParaRPr lang="en-US" altLang="zh-CN" sz="2000" dirty="0">
              <a:solidFill>
                <a:srgbClr val="64748B"/>
              </a:solidFill>
              <a:latin typeface="Arial"/>
              <a:ea typeface="Microsoft YaHei"/>
              <a:cs typeface="Arial"/>
            </a:endParaRPr>
          </a:p>
          <a:p>
            <a:r>
              <a:rPr lang="zh-CN" altLang="en-US" sz="20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丁一鸣（</a:t>
            </a:r>
            <a:r>
              <a:rPr lang="en-US" altLang="zh-CN" sz="20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1/6</a:t>
            </a:r>
            <a:r>
              <a:rPr lang="zh-CN" altLang="en-US" sz="20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） 蒋一鸣（</a:t>
            </a:r>
            <a:r>
              <a:rPr lang="en-US" altLang="zh-CN" sz="20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1/6</a:t>
            </a:r>
            <a:r>
              <a:rPr lang="zh-CN" altLang="en-US" sz="20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） 谈亮（</a:t>
            </a:r>
            <a:r>
              <a:rPr lang="en-US" altLang="zh-CN" sz="20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1/6</a:t>
            </a:r>
            <a:r>
              <a:rPr lang="zh-CN" altLang="en-US" sz="20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） </a:t>
            </a:r>
            <a:endParaRPr lang="en-US" altLang="zh-CN" sz="2000" dirty="0">
              <a:solidFill>
                <a:srgbClr val="64748B"/>
              </a:solidFill>
              <a:latin typeface="Arial"/>
              <a:ea typeface="Microsoft YaHe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6145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3724</Words>
  <Application>Microsoft Office PowerPoint</Application>
  <PresentationFormat>宽屏</PresentationFormat>
  <Paragraphs>486</Paragraphs>
  <Slides>18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黑体</vt:lpstr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谢谢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YiMing Ding</cp:lastModifiedBy>
  <cp:revision>22</cp:revision>
  <dcterms:created xsi:type="dcterms:W3CDTF">2013-01-27T09:14:16Z</dcterms:created>
  <dcterms:modified xsi:type="dcterms:W3CDTF">2026-06-18T04:50:55Z</dcterms:modified>
  <cp:category/>
</cp:coreProperties>
</file>